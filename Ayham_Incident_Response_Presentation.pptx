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b59ccdcba84452" /><Relationship Type="http://schemas.openxmlformats.org/officeDocument/2006/relationships/extended-properties" Target="/docProps/app.xml" Id="Rc65b93bdbee0408b" /><Relationship Type="http://schemas.openxmlformats.org/officeDocument/2006/relationships/officeDocument" Target="/ppt/presentation.xml" Id="R1524eb82fbeb408c" /></Relationships>
</file>

<file path=ppt/presentation.xml><?xml version="1.0" encoding="utf-8"?>
<p:presentation xmlns:p="http://schemas.openxmlformats.org/presentationml/2006/main">
  <p:sldMasterIdLst>
    <p:sldMasterId xmlns:r="http://schemas.openxmlformats.org/officeDocument/2006/relationships" id="2147483648" r:id="Rce95089dc5aa448f"/>
  </p:sldMasterIdLst>
  <p:notesMasterIdLst>
    <p:notesMasterId xmlns:r="http://schemas.openxmlformats.org/officeDocument/2006/relationships" r:id="Rb34fccb550624931"/>
  </p:notesMasterIdLst>
  <p:sldIdLst>
    <p:sldId xmlns:r="http://schemas.openxmlformats.org/officeDocument/2006/relationships" id="256" r:id="R6f7735821b104b01"/>
    <p:sldId xmlns:r="http://schemas.openxmlformats.org/officeDocument/2006/relationships" id="257" r:id="Rac619988afa74d60"/>
    <p:sldId xmlns:r="http://schemas.openxmlformats.org/officeDocument/2006/relationships" id="258" r:id="R1c5a9a70fec14891"/>
    <p:sldId xmlns:r="http://schemas.openxmlformats.org/officeDocument/2006/relationships" id="259" r:id="R5cd213ded3fc477d"/>
    <p:sldId xmlns:r="http://schemas.openxmlformats.org/officeDocument/2006/relationships" id="260" r:id="R92ba0497d6674af9"/>
    <p:sldId xmlns:r="http://schemas.openxmlformats.org/officeDocument/2006/relationships" id="261" r:id="R1617caa6f7944728"/>
    <p:sldId xmlns:r="http://schemas.openxmlformats.org/officeDocument/2006/relationships" id="262" r:id="R29b1783c78f54b06"/>
    <p:sldId xmlns:r="http://schemas.openxmlformats.org/officeDocument/2006/relationships" id="263" r:id="R5f990f6550614fb2"/>
    <p:sldId xmlns:r="http://schemas.openxmlformats.org/officeDocument/2006/relationships" id="264" r:id="R86b0598d913a47af"/>
    <p:sldId xmlns:r="http://schemas.openxmlformats.org/officeDocument/2006/relationships" id="265" r:id="R8488a1370a5344cd"/>
    <p:sldId xmlns:r="http://schemas.openxmlformats.org/officeDocument/2006/relationships" id="266" r:id="R1c5babc03839482b"/>
    <p:sldId xmlns:r="http://schemas.openxmlformats.org/officeDocument/2006/relationships" id="267" r:id="Rfd59e83e5ec44077"/>
    <p:sldId xmlns:r="http://schemas.openxmlformats.org/officeDocument/2006/relationships" id="268" r:id="Ra2021b59453d40ae"/>
    <p:sldId xmlns:r="http://schemas.openxmlformats.org/officeDocument/2006/relationships" id="269" r:id="R52f7bbeafb44452e"/>
    <p:sldId xmlns:r="http://schemas.openxmlformats.org/officeDocument/2006/relationships" id="270" r:id="R7cd964aa6d624d00"/>
    <p:sldId xmlns:r="http://schemas.openxmlformats.org/officeDocument/2006/relationships" id="271" r:id="R784a5b1fe6aa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346b8ae20d54658" /><Relationship Type="http://schemas.openxmlformats.org/officeDocument/2006/relationships/slideMaster" Target="/ppt/slideMasters/slideMaster1.xml" Id="Rce95089dc5aa448f" /><Relationship Type="http://schemas.openxmlformats.org/officeDocument/2006/relationships/notesMaster" Target="/ppt/notesMasters/notesMaster1.xml" Id="Rb34fccb550624931" /><Relationship Type="http://schemas.openxmlformats.org/officeDocument/2006/relationships/presProps" Target="/ppt/presProps.xml" Id="Rb497869e8d78448e" /><Relationship Type="http://schemas.openxmlformats.org/officeDocument/2006/relationships/tableStyles" Target="/ppt/tableStyles.xml" Id="R2e45a6abbca1449c" /><Relationship Type="http://schemas.openxmlformats.org/officeDocument/2006/relationships/slide" Target="/ppt/slides/slide1.xml" Id="R6f7735821b104b01" /><Relationship Type="http://schemas.openxmlformats.org/officeDocument/2006/relationships/slide" Target="/ppt/slides/slide2.xml" Id="Rac619988afa74d60" /><Relationship Type="http://schemas.openxmlformats.org/officeDocument/2006/relationships/slide" Target="/ppt/slides/slide3.xml" Id="R1c5a9a70fec14891" /><Relationship Type="http://schemas.openxmlformats.org/officeDocument/2006/relationships/slide" Target="/ppt/slides/slide4.xml" Id="R5cd213ded3fc477d" /><Relationship Type="http://schemas.openxmlformats.org/officeDocument/2006/relationships/slide" Target="/ppt/slides/slide5.xml" Id="R92ba0497d6674af9" /><Relationship Type="http://schemas.openxmlformats.org/officeDocument/2006/relationships/slide" Target="/ppt/slides/slide6.xml" Id="R1617caa6f7944728" /><Relationship Type="http://schemas.openxmlformats.org/officeDocument/2006/relationships/slide" Target="/ppt/slides/slide7.xml" Id="R29b1783c78f54b06" /><Relationship Type="http://schemas.openxmlformats.org/officeDocument/2006/relationships/slide" Target="/ppt/slides/slide8.xml" Id="R5f990f6550614fb2" /><Relationship Type="http://schemas.openxmlformats.org/officeDocument/2006/relationships/slide" Target="/ppt/slides/slide9.xml" Id="R86b0598d913a47af" /><Relationship Type="http://schemas.openxmlformats.org/officeDocument/2006/relationships/slide" Target="/ppt/slides/slide10.xml" Id="R8488a1370a5344cd" /><Relationship Type="http://schemas.openxmlformats.org/officeDocument/2006/relationships/slide" Target="/ppt/slides/slide11.xml" Id="R1c5babc03839482b" /><Relationship Type="http://schemas.openxmlformats.org/officeDocument/2006/relationships/slide" Target="/ppt/slides/slide12.xml" Id="Rfd59e83e5ec44077" /><Relationship Type="http://schemas.openxmlformats.org/officeDocument/2006/relationships/slide" Target="/ppt/slides/slide13.xml" Id="Ra2021b59453d40ae" /><Relationship Type="http://schemas.openxmlformats.org/officeDocument/2006/relationships/slide" Target="/ppt/slides/slide14.xml" Id="R52f7bbeafb44452e" /><Relationship Type="http://schemas.openxmlformats.org/officeDocument/2006/relationships/slide" Target="/ppt/slides/slide15.xml" Id="R7cd964aa6d624d00" /><Relationship Type="http://schemas.openxmlformats.org/officeDocument/2006/relationships/slide" Target="/ppt/slides/slide16.xml" Id="R784a5b1fe6aa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a0e558d22140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8a542b0781423c" /><Relationship Type="http://schemas.openxmlformats.org/officeDocument/2006/relationships/notesMaster" Target="/ppt/notesMasters/notesMaster1.xml" Id="Ra34f2f14c59241f8" /></Relationships>
</file>

<file path=ppt/notesSlides/_rels/notesSlide2.xml.rels>&#65279;<?xml version="1.0" encoding="utf-8"?><Relationships xmlns="http://schemas.openxmlformats.org/package/2006/relationships"><Relationship Type="http://schemas.openxmlformats.org/officeDocument/2006/relationships/slide" Target="/ppt/slides/slide2.xml" Id="R67c5fa718d7145eb" /><Relationship Type="http://schemas.openxmlformats.org/officeDocument/2006/relationships/notesMaster" Target="/ppt/notesMasters/notesMaster1.xml" Id="R54ab0b1f0ead40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3c1de068a94d68" /><Relationship Type="http://schemas.openxmlformats.org/officeDocument/2006/relationships/notesMaster" Target="/ppt/notesMasters/notesMaster1.xml" Id="Re4fa1960c3b546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d81be305204dab" /><Relationship Type="http://schemas.openxmlformats.org/officeDocument/2006/relationships/notesMaster" Target="/ppt/notesMasters/notesMaster1.xml" Id="R194ee1a925064e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32805df65b461d" /><Relationship Type="http://schemas.openxmlformats.org/officeDocument/2006/relationships/notesMaster" Target="/ppt/notesMasters/notesMaster1.xml" Id="R9222af78cb174e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530cf75c97478c" /><Relationship Type="http://schemas.openxmlformats.org/officeDocument/2006/relationships/notesMaster" Target="/ppt/notesMasters/notesMaster1.xml" Id="R46086c32091948d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d9af9715dc4801" /><Relationship Type="http://schemas.openxmlformats.org/officeDocument/2006/relationships/notesMaster" Target="/ppt/notesMasters/notesMaster1.xml" Id="R7c7a065d0b6147e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24b6b4cd07435d" /><Relationship Type="http://schemas.openxmlformats.org/officeDocument/2006/relationships/notesMaster" Target="/ppt/notesMasters/notesMaster1.xml" Id="R9753c7e0bfcb4ffd"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de9fd1276e490b" /><Relationship Type="http://schemas.openxmlformats.org/officeDocument/2006/relationships/notesMaster" Target="/ppt/notesMasters/notesMaster1.xml" Id="Rde634b7bb11d40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99203587ae4717" /><Relationship Type="http://schemas.openxmlformats.org/officeDocument/2006/relationships/notesMaster" Target="/ppt/notesMasters/notesMaster1.xml" Id="R7664f5172c414d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74d393094a7413f" /><Relationship Type="http://schemas.openxmlformats.org/officeDocument/2006/relationships/notesMaster" Target="/ppt/notesMasters/notesMaster1.xml" Id="Rbfb46017d77a46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b0622d1dc34602" /><Relationship Type="http://schemas.openxmlformats.org/officeDocument/2006/relationships/notesMaster" Target="/ppt/notesMasters/notesMaster1.xml" Id="Ra21810ff96f54c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4b912629e44e19" /><Relationship Type="http://schemas.openxmlformats.org/officeDocument/2006/relationships/notesMaster" Target="/ppt/notesMasters/notesMaster1.xml" Id="R31b27bc6147b4ae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e4d7098bf4e4a3d" /><Relationship Type="http://schemas.openxmlformats.org/officeDocument/2006/relationships/notesMaster" Target="/ppt/notesMasters/notesMaster1.xml" Id="Rfffc7963ca0544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53839479804087" /><Relationship Type="http://schemas.openxmlformats.org/officeDocument/2006/relationships/notesMaster" Target="/ppt/notesMasters/notesMaster1.xml" Id="Rd6da0fbab25348f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52c36a8b4c433f" /><Relationship Type="http://schemas.openxmlformats.org/officeDocument/2006/relationships/notesMaster" Target="/ppt/notesMasters/notesMaster1.xml" Id="R47626bb10ec54d4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This project is an incident response lab on two authorized devices. Ubuntu is the management and analysis platform, and Windows is the monitored endpoint. The goal is not to demonstrate an attack. The goal is to build a safe, documented response cycle that connects ten practical skills in one reproducible case.</ns0:t>
            </ns0:r>
          </ns0:p>
          <ns1:p xmlns:ns1="http://schemas.openxmlformats.org/drawingml/2006/main">
            <ns1:r>
              <ns1:t/>
            </ns1:r>
          </ns1:p>
          <ns2:p xmlns:ns2="http://schemas.openxmlformats.org/drawingml/2006/main">
            <ns2:r>
              <ns2:t>[Sources]</ns2:t>
            </ns2:r>
          </ns2:p>
          <ns3:p xmlns:ns3="http://schemas.openxmlformats.org/drawingml/2006/main">
            <ns3:r>
              <ns3:t>- Local project evidence and finalization output (2026-08-08).</ns3:t>
            </ns3:r>
          </ns3:p>
          <ns4:p xmlns:ns4="http://schemas.openxmlformats.org/drawingml/2006/main">
            <ns4:r>
              <ns4:t>[/Sources]</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scope is defined before the tools. All activity was performed on two personally controlled devices. The external addresses are RFC 5737 documentation ranges, not real targets. The scenario created harmless evidence such as failed logins and a test-file change. Success required ten verified skills, matching SHA-256 hashes, reversible containment, and a final PASS result.</ns0:t>
            </ns0:r>
          </ns0:p>
          <ns1:p xmlns:ns1="http://schemas.openxmlformats.org/drawingml/2006/main">
            <ns1:r>
              <ns1:t/>
            </ns1:r>
          </ns1:p>
          <ns2:p xmlns:ns2="http://schemas.openxmlformats.org/drawingml/2006/main">
            <ns2:r>
              <ns2:t>[Sources]</ns2:t>
            </ns2:r>
          </ns2:p>
          <ns3:p xmlns:ns3="http://schemas.openxmlformats.org/drawingml/2006/main">
            <ns3:r>
              <ns3:t>- RFC 5737: https://www.rfc-editor.org/rfc/rfc5737</ns3:t>
            </ns3:r>
          </ns3:p>
          <ns4:p xmlns:ns4="http://schemas.openxmlformats.org/drawingml/2006/main">
            <ns4:r>
              <ns4:t>- Local safe-simulation scripts and final validation output.</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Windows connects to the Velociraptor service on Ubuntu through TCP 8000. Ubuntu sends collection tasks and receives the results. The management interface on port 8889 is restricted to loopback. Splunk, Timesketch, and Volatility run on Ubuntu, while evidence is stored on a separate partition. This separates the endpoint from the analyst workstation and creates a clearer evidence path.</ns0:t>
            </ns0:r>
          </ns0:p>
          <ns1:p xmlns:ns1="http://schemas.openxmlformats.org/drawingml/2006/main">
            <ns1:r>
              <ns1:t/>
            </ns1:r>
          </ns1:p>
          <ns2:p xmlns:ns2="http://schemas.openxmlformats.org/drawingml/2006/main">
            <ns2:r>
              <ns2:t>[Sources]</ns2:t>
            </ns2:r>
          </ns2:p>
          <ns3:p xmlns:ns3="http://schemas.openxmlformats.org/drawingml/2006/main">
            <ns3:r>
              <ns3:t>- Local network baseline screenshot.</ns3:t>
            </ns3:r>
          </ns3:p>
          <ns4:p xmlns:ns4="http://schemas.openxmlformats.org/drawingml/2006/main">
            <ns4:r>
              <ns4:t>- Velociraptor deployment documentation: https://docs.velociraptor.app/docs/deployment/</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These are the exact skill names found in the pinned repository commit. They were arranged as one lifecycle: collection and logs, containment, memory and disk analysis, IOC handling, timeline reconstruction, and recovery. The value is the integration between the skills, not ten isolated demonstrations.</ns0:t>
            </ns0:r>
          </ns0:p>
          <ns1:p xmlns:ns1="http://schemas.openxmlformats.org/drawingml/2006/main">
            <ns1:r>
              <ns1:t/>
            </ns1:r>
          </ns1:p>
          <ns2:p xmlns:ns2="http://schemas.openxmlformats.org/drawingml/2006/main">
            <ns2:r>
              <ns2:t>[Sources]</ns2:t>
            </ns2:r>
          </ns2:p>
          <ns3:p xmlns:ns3="http://schemas.openxmlformats.org/drawingml/2006/main">
            <ns3:r>
              <ns3:t>- Anthropic-Cybersecurity-Skills commit: https://github.com/mukul975/Anthropic-Cybersecurity-Skills/commit/2fb6a9faff42977f9e64b1f0dcb97bb2a1e67267</ns3:t>
            </ns3:r>
          </ns3:p>
          <ns4:p xmlns:ns4="http://schemas.openxmlformats.org/drawingml/2006/main">
            <ns4:r>
              <ns4:t>- Local selected-skills verification output.</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sequence matters. A baseline is collected before analysis. Volatile evidence is preserved before containment. Recovery is accepted only after backup validation. Every phase produces evidence, timestamps, or hashes that support the next phase. This is what makes the work an integrated incident response workflow.</ns0:t>
            </ns0:r>
          </ns0:p>
          <ns1:p xmlns:ns1="http://schemas.openxmlformats.org/drawingml/2006/main">
            <ns1:r>
              <ns1:t/>
            </ns1:r>
          </ns1:p>
          <ns2:p xmlns:ns2="http://schemas.openxmlformats.org/drawingml/2006/main">
            <ns2:r>
              <ns2:t>[Sources]</ns2:t>
            </ns2:r>
          </ns2:p>
          <ns3:p xmlns:ns3="http://schemas.openxmlformats.org/drawingml/2006/main">
            <ns3:r>
              <ns3:t>- NIST SP 800-61 Rev. 3: https://csrc.nist.gov/pubs/sp/800/61/r3/final</ns3:t>
            </ns3:r>
          </ns3:p>
          <ns4:p xmlns:ns4="http://schemas.openxmlformats.org/drawingml/2006/main">
            <ns4:r>
              <ns4:t>- Local RUN_ME_FIRST.sh workflow and evidence structure.</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investigation was completed manually first: observe the evidence, explain the purpose of each tool, record the input and output, and verify limitations. AI assistance was used only to organize documentation and improve repeatable commands. The analyst verified every claim against screenshots, command results, hashes, and tool output. AI was not treated as a source of truth.</ns0:t>
            </ns0:r>
          </ns0:p>
          <ns1:p xmlns:ns1="http://schemas.openxmlformats.org/drawingml/2006/main">
            <ns1:r>
              <ns1:t/>
            </ns1:r>
          </ns1:p>
          <ns2:p xmlns:ns2="http://schemas.openxmlformats.org/drawingml/2006/main">
            <ns2:r>
              <ns2:t>[Sources]</ns2:t>
            </ns2:r>
          </ns2:p>
          <ns3:p xmlns:ns3="http://schemas.openxmlformats.org/drawingml/2006/main">
            <ns3:r>
              <ns3:t>- Local project workflow, screenshots, and validation records.</ns3:t>
            </ns3:r>
          </ns3:p>
          <ns4:p xmlns:ns4="http://schemas.openxmlformats.org/drawingml/2006/main">
            <ns4:r>
              <ns4:t>- NIST SP 800-86: https://csrc.nist.gov/pubs/sp/800/86/final</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This screen proves that the Windows endpoint is actually connected. The green status, hostname, operating system, agent version, and last IP are visible. Ubuntu can now send centralized collection jobs to the endpoint instead of relying on a copied installation file.</ns0:t>
            </ns0:r>
          </ns0:p>
          <ns1:p xmlns:ns1="http://schemas.openxmlformats.org/drawingml/2006/main">
            <ns1:r>
              <ns1:t/>
            </ns1:r>
          </ns1:p>
          <ns2:p xmlns:ns2="http://schemas.openxmlformats.org/drawingml/2006/main">
            <ns2:r>
              <ns2:t>[Sources]</ns2:t>
            </ns2:r>
          </ns2:p>
          <ns3:p xmlns:ns3="http://schemas.openxmlformats.org/drawingml/2006/main">
            <ns3:r>
              <ns3:t>- Local Velociraptor endpoint screenshot.</ns3:t>
            </ns3:r>
          </ns3:p>
          <ns4:p xmlns:ns4="http://schemas.openxmlformats.org/drawingml/2006/main">
            <ns4:r>
              <ns4:t>- Velociraptor client documentation: https://docs.velociraptor.app/docs/gui/clients/</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Two remote evidence sources were collected: the process tree and the network socket table. The process collection returned 221 rows and Netstat returned 115 rows, for a total of 336 rows. These results are a point-in-time snapshot, so a connection is not automatically suspicious. It must be correlated with the timeline and other evidence.</ns0:t>
            </ns0:r>
          </ns0:p>
          <ns1:p xmlns:ns1="http://schemas.openxmlformats.org/drawingml/2006/main">
            <ns1:r>
              <ns1:t/>
            </ns1:r>
          </ns1:p>
          <ns2:p xmlns:ns2="http://schemas.openxmlformats.org/drawingml/2006/main">
            <ns2:r>
              <ns2:t>[Sources]</ns2:t>
            </ns2:r>
          </ns2:p>
          <ns3:p xmlns:ns3="http://schemas.openxmlformats.org/drawingml/2006/main">
            <ns3:r>
              <ns3:t>- Local Velociraptor process and network collection screenshots.</ns3:t>
            </ns3:r>
          </ns3:p>
          <ns4:p xmlns:ns4="http://schemas.openxmlformats.org/drawingml/2006/main">
            <ns4:r>
              <ns4:t>- Velociraptor artifacts documentation: https://docs.velociraptor.app/docs/artifacts/</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scenario generated harmless evidence only. Volatile evidence was preserved before containment. The nftables rules blocked only two RFC 5737 simulation addresses while keeping loopback, LAN, DNS, Velociraptor, and normal Internet access available. The project rules were then removed and the rollback check passed. Professional containment should be narrow and reversible.</ns0:t>
            </ns0:r>
          </ns0:p>
          <ns1:p xmlns:ns1="http://schemas.openxmlformats.org/drawingml/2006/main">
            <ns1:r>
              <ns1:t/>
            </ns1:r>
          </ns1:p>
          <ns2:p xmlns:ns2="http://schemas.openxmlformats.org/drawingml/2006/main">
            <ns2:r>
              <ns2:t>[Sources]</ns2:t>
            </ns2:r>
          </ns2:p>
          <ns3:p xmlns:ns3="http://schemas.openxmlformats.org/drawingml/2006/main">
            <ns3:r>
              <ns3:t>- RFC 5737: https://www.rfc-editor.org/rfc/rfc5737</ns3:t>
            </ns3:r>
          </ns3:p>
          <ns4:p xmlns:ns4="http://schemas.openxmlformats.org/drawingml/2006/main">
            <ns4:r>
              <ns4:t>- Local safe incident, containment, and rollback output.</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Splunk correlated the simulation log with Linux audit evidence. The SPL query extracted the source IP, counted events, recorded the first and last occurrence, and applied a threshold of five attempts. It identified 12 failed login events from 198.51.100.77. Because this is a safe simulation, the result is a validated detection, not a claim of a real attacker.</ns0:t>
            </ns0:r>
          </ns0:p>
          <ns1:p xmlns:ns1="http://schemas.openxmlformats.org/drawingml/2006/main">
            <ns1:r>
              <ns1:t/>
            </ns1:r>
          </ns1:p>
          <ns2:p xmlns:ns2="http://schemas.openxmlformats.org/drawingml/2006/main">
            <ns2:r>
              <ns2:t>[Sources]</ns2:t>
            </ns2:r>
          </ns2:p>
          <ns3:p xmlns:ns3="http://schemas.openxmlformats.org/drawingml/2006/main">
            <ns3:r>
              <ns3:t>- Local Splunk dashboard and search screenshot.</ns3:t>
            </ns3:r>
          </ns3:p>
          <ns4:p xmlns:ns4="http://schemas.openxmlformats.org/drawingml/2006/main">
            <ns4:r>
              <ns4:t>- Splunk Search Manual: https://help.splunk.com/en/splunk-enterprise/search/search-manual/10.0/search-overview/about-the-search-language</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Timesketch combined evidence from different sources into one chronology. The imported timeline contained 4,210 events. Filtering on tag:safe-simulation isolated 99 scenario events. The sequence shows the start marker, failed logins, a file modification, a benign process, an IOC marker, and the end marker.</ns0:t>
            </ns0:r>
          </ns0:p>
          <ns1:p xmlns:ns1="http://schemas.openxmlformats.org/drawingml/2006/main">
            <ns1:r>
              <ns1:t/>
            </ns1:r>
          </ns1:p>
          <ns2:p xmlns:ns2="http://schemas.openxmlformats.org/drawingml/2006/main">
            <ns2:r>
              <ns2:t>[Sources]</ns2:t>
            </ns2:r>
          </ns2:p>
          <ns3:p xmlns:ns3="http://schemas.openxmlformats.org/drawingml/2006/main">
            <ns3:r>
              <ns3:t>- Local Timesketch timeline screenshot.</ns3:t>
            </ns3:r>
          </ns3:p>
          <ns4:p xmlns:ns4="http://schemas.openxmlformats.org/drawingml/2006/main">
            <ns4:r>
              <ns4:t>- Timesketch CSV import guide: https://timesketch.org/guides/user/import-from-json-csv/</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A signed WinPmem build created a sparse RAW memory image of about 11 GiB. The acquisition took about one minute and nineteen seconds. SHA-256 was calculated on Windows, the image was transferred by SCP, and the hash was calculated again on Ubuntu. The hashes matched. SSH was disabled after the temporary transfer was complete.</ns0:t>
            </ns0:r>
          </ns0:p>
          <ns1:p xmlns:ns1="http://schemas.openxmlformats.org/drawingml/2006/main">
            <ns1:r>
              <ns1:t/>
            </ns1:r>
          </ns1:p>
          <ns2:p xmlns:ns2="http://schemas.openxmlformats.org/drawingml/2006/main">
            <ns2:r>
              <ns2:t>[Sources]</ns2:t>
            </ns2:r>
          </ns2:p>
          <ns3:p xmlns:ns3="http://schemas.openxmlformats.org/drawingml/2006/main">
            <ns3:r>
              <ns3:t>- Local acquisition and transfer-integrity screenshots.</ns3:t>
            </ns3:r>
          </ns3:p>
          <ns4:p xmlns:ns4="http://schemas.openxmlformats.org/drawingml/2006/main">
            <ns4:r>
              <ns4:t>- WinPmem project: https://github.com/Velocidex/WinPmem</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verified memory image was analyzed with Volatility 3. The workflow ran windows.info, pslist, pstree, cmdline, netscan, filescan, and malfind. Every expected output passed the manifest check. A malfind result is only a candidate memory region for analyst review; it is not proof of malware by itself.</ns0:t>
            </ns0:r>
          </ns0:p>
          <ns1:p xmlns:ns1="http://schemas.openxmlformats.org/drawingml/2006/main">
            <ns1:r>
              <ns1:t/>
            </ns1:r>
          </ns1:p>
          <ns2:p xmlns:ns2="http://schemas.openxmlformats.org/drawingml/2006/main">
            <ns2:r>
              <ns2:t>[Sources]</ns2:t>
            </ns2:r>
          </ns2:p>
          <ns3:p xmlns:ns3="http://schemas.openxmlformats.org/drawingml/2006/main">
            <ns3:r>
              <ns3:t>- Local Volatility profile and validation screenshots.</ns3:t>
            </ns3:r>
          </ns3:p>
          <ns4:p xmlns:ns4="http://schemas.openxmlformats.org/drawingml/2006/main">
            <ns4:r>
              <ns4:t>- Volatility 3 documentation: https://volatility3.readthedocs.io/en/latest/</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Disk forensics produced and verified an image, then recovered a deleted test file and validated its content. The IOC register was exported as CSV and STIX 2.1. Recovery testing compared clean and modified copies, detected tampering, and validated an isolated restore. The final PASS result therefore depends on evidence checks, not assumptions.</ns0:t>
            </ns0:r>
          </ns0:p>
          <ns1:p xmlns:ns1="http://schemas.openxmlformats.org/drawingml/2006/main">
            <ns1:r>
              <ns1:t/>
            </ns1:r>
          </ns1:p>
          <ns2:p xmlns:ns2="http://schemas.openxmlformats.org/drawingml/2006/main">
            <ns2:r>
              <ns2:t>[Sources]</ns2:t>
            </ns2:r>
          </ns2:p>
          <ns3:p xmlns:ns3="http://schemas.openxmlformats.org/drawingml/2006/main">
            <ns3:r>
              <ns3:t>- Local disk, IOC, STIX, and recovery outputs.</ns3:t>
            </ns3:r>
          </ns3:p>
          <ns4:p xmlns:ns4="http://schemas.openxmlformats.org/drawingml/2006/main">
            <ns4:r>
              <ns4:t>- OASIS STIX 2.1: https://docs.oasis-open.org/cti/stix/v2.1/os/stix-v2.1-os.html</ns4:t>
            </ns4:r>
          </ns4:p>
          <ns5:p xmlns:ns5="http://schemas.openxmlformats.org/drawingml/2006/main">
            <ns5:r>
              <ns5:t>[/Sources]</ns5:t>
            </ns5:r>
          </ns5: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The project also documents real engineering corrections. Storage pressure was reduced by moving evidence to a dedicated partition. The Python CSV field limit was increased. Splunk health was distinguished from its expected HTTP redirect. Timesketch was recovered by checking Gunicorn and restarting nginx. NTFS was repaired with CHKDSK and safe removal. WinPmem automation was updated to use the correct acquire command. Every correction ended with a measurable check.</ns0:t>
            </ns0:r>
          </ns0:p>
          <ns1:p xmlns:ns1="http://schemas.openxmlformats.org/drawingml/2006/main">
            <ns1:r>
              <ns1:t/>
            </ns1:r>
          </ns1:p>
          <ns2:p xmlns:ns2="http://schemas.openxmlformats.org/drawingml/2006/main">
            <ns2:r>
              <ns2:t>[Sources]</ns2:t>
            </ns2:r>
          </ns2:p>
          <ns3:p xmlns:ns3="http://schemas.openxmlformats.org/drawingml/2006/main">
            <ns3:r>
              <ns3:t>- Local troubleshooting screenshots, terminal output, and project log.</ns3:t>
            </ns3:r>
          </ns3:p>
          <ns4:p xmlns:ns4="http://schemas.openxmlformats.org/drawingml/2006/main">
            <ns4:r>
              <ns4:t>[/Sources]</ns4:t>
            </ns4:r>
          </ns4: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Finalization created an evidence hash manifest, a technical summary, and a submission archive. The final check passed. The project demonstrates preparation, collection, containment, analysis, correlation, and recovery across two authorized devices without unsafe attack activity. The strongest results are evidence integrity, cross-tool correlation, and reproducibility.</ns0:t>
            </ns0:r>
          </ns0:p>
          <ns1:p xmlns:ns1="http://schemas.openxmlformats.org/drawingml/2006/main">
            <ns1:r>
              <ns1:t/>
            </ns1:r>
          </ns1:p>
          <ns2:p xmlns:ns2="http://schemas.openxmlformats.org/drawingml/2006/main">
            <ns2:r>
              <ns2:t>For a live demonstration, show the Windows client in Velociraptor, the process and network collection, the Splunk dashboard, the Timesketch timeline, the matching memory hashes, one Volatility result, and the final PASS output.</ns2:t>
            </ns2:r>
          </ns2:p>
          <ns3:p xmlns:ns3="http://schemas.openxmlformats.org/drawingml/2006/main">
            <ns3:r>
              <ns3:t/>
            </ns3:r>
          </ns3:p>
          <ns4:p xmlns:ns4="http://schemas.openxmlformats.org/drawingml/2006/main">
            <ns4:r>
              <ns4:t>[Sources]</ns4:t>
            </ns4:r>
          </ns4:p>
          <ns5:p xmlns:ns5="http://schemas.openxmlformats.org/drawingml/2006/main">
            <ns5:r>
              <ns5:t>- Local finalization output.</ns5:t>
            </ns5:r>
          </ns5:p>
          <ns6:p xmlns:ns6="http://schemas.openxmlformats.org/drawingml/2006/main">
            <ns6:r>
              <ns6:t>- NIST SP 800-61 Rev. 3: https://csrc.nist.gov/pubs/sp/800/61/r3/final</ns6:t>
            </ns6:r>
          </ns6:p>
          <ns7:p xmlns:ns7="http://schemas.openxmlformats.org/drawingml/2006/main">
            <ns7:r>
              <ns7:t>[/Sources]</ns7:t>
            </ns7:r>
          </ns7: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dbbba5fb4643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b14d0980a04d2e" /><Relationship Type="http://schemas.openxmlformats.org/officeDocument/2006/relationships/slideLayout" Target="/ppt/slideLayouts/slideLayout1.xml" Id="R1ea04a7b5c55449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a04a7b5c55449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2e01529fdd4145" /><Relationship Type="http://schemas.openxmlformats.org/officeDocument/2006/relationships/notesSlide" Target="/ppt/notesSlides/notesSlide1.xml" Id="Rafbe5d9418994c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e0882bc9c14469" /><Relationship Type="http://schemas.openxmlformats.org/officeDocument/2006/relationships/notesSlide" Target="/ppt/notesSlides/notesSlide2.xml" Id="Re7e07bb6aadc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8244ff6ac1d4342" /><Relationship Type="http://schemas.openxmlformats.org/officeDocument/2006/relationships/notesSlide" Target="/ppt/notesSlides/notesSlide3.xml" Id="Rae1f68eb74be4a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34a6b4797e4dac" /><Relationship Type="http://schemas.openxmlformats.org/officeDocument/2006/relationships/notesSlide" Target="/ppt/notesSlides/notesSlide4.xml" Id="Rffbb0c647d75412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1bc4036bf148dd" /><Relationship Type="http://schemas.openxmlformats.org/officeDocument/2006/relationships/notesSlide" Target="/ppt/notesSlides/notesSlide5.xml" Id="R11f3b1d056e947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8f4b5a17fb84059" /><Relationship Type="http://schemas.openxmlformats.org/officeDocument/2006/relationships/notesSlide" Target="/ppt/notesSlides/notesSlide6.xml" Id="R5e5e2dd2a25848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c0d70244ee4287" /><Relationship Type="http://schemas.openxmlformats.org/officeDocument/2006/relationships/image" Target="/ppt/media/image.jpeg" Id="R584c3d98940f43ae" /><Relationship Type="http://schemas.openxmlformats.org/officeDocument/2006/relationships/notesSlide" Target="/ppt/notesSlides/notesSlide7.xml" Id="Rda8d79f2255e4b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134a319763242ec" /><Relationship Type="http://schemas.openxmlformats.org/officeDocument/2006/relationships/image" Target="/ppt/media/image2.jpeg" Id="R93ab34f5f2264dc1" /><Relationship Type="http://schemas.openxmlformats.org/officeDocument/2006/relationships/image" Target="/ppt/media/image3.jpeg" Id="R406d2923b49e45ea" /><Relationship Type="http://schemas.openxmlformats.org/officeDocument/2006/relationships/notesSlide" Target="/ppt/notesSlides/notesSlide8.xml" Id="R44c1ade4c48640a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c1cea2969184dca" /><Relationship Type="http://schemas.openxmlformats.org/officeDocument/2006/relationships/notesSlide" Target="/ppt/notesSlides/notesSlide9.xml" Id="R339075a28bc44c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72e7f078094d5b" /><Relationship Type="http://schemas.openxmlformats.org/officeDocument/2006/relationships/image" Target="/ppt/media/image4.jpeg" Id="R07f7a9863b1440b7" /><Relationship Type="http://schemas.openxmlformats.org/officeDocument/2006/relationships/notesSlide" Target="/ppt/notesSlides/notesSlide10.xml" Id="R5bc7a36242c94b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8bfca5e4d34a7a" /><Relationship Type="http://schemas.openxmlformats.org/officeDocument/2006/relationships/image" Target="/ppt/media/image5.jpeg" Id="R7f28cfd88e2346f4" /><Relationship Type="http://schemas.openxmlformats.org/officeDocument/2006/relationships/notesSlide" Target="/ppt/notesSlides/notesSlide11.xml" Id="R4928be1551d54c9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9484b757a9143bf" /><Relationship Type="http://schemas.openxmlformats.org/officeDocument/2006/relationships/image" Target="/ppt/media/image.png" Id="R2116cfc61a3f4cce" /><Relationship Type="http://schemas.openxmlformats.org/officeDocument/2006/relationships/image" Target="/ppt/media/image6.jpeg" Id="R08d2d2c0bfec42e3" /><Relationship Type="http://schemas.openxmlformats.org/officeDocument/2006/relationships/notesSlide" Target="/ppt/notesSlides/notesSlide12.xml" Id="Rf355c7e462764f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79187b900e84c84" /><Relationship Type="http://schemas.openxmlformats.org/officeDocument/2006/relationships/image" Target="/ppt/media/image7.jpeg" Id="R8ec8635e18604d91" /><Relationship Type="http://schemas.openxmlformats.org/officeDocument/2006/relationships/image" Target="/ppt/media/image8.jpeg" Id="Rcf250929b86244eb" /><Relationship Type="http://schemas.openxmlformats.org/officeDocument/2006/relationships/notesSlide" Target="/ppt/notesSlides/notesSlide13.xml" Id="R6eb8b21e719d46a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0d415da3cb481b" /><Relationship Type="http://schemas.openxmlformats.org/officeDocument/2006/relationships/notesSlide" Target="/ppt/notesSlides/notesSlide14.xml" Id="R9ede1b8689db4e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58be4600e74ab5" /><Relationship Type="http://schemas.openxmlformats.org/officeDocument/2006/relationships/notesSlide" Target="/ppt/notesSlides/notesSlide15.xml" Id="R3b59ab153c754e2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1a837e96ef43ea" /><Relationship Type="http://schemas.openxmlformats.org/officeDocument/2006/relationships/image" Target="/ppt/media/image9.jpeg" Id="Raa85550c60eb4e27" /><Relationship Type="http://schemas.openxmlformats.org/officeDocument/2006/relationships/notesSlide" Target="/ppt/notesSlides/notesSlide16.xml" Id="R9d89aac861f4405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E0C72E1-D722-43D1-A340-5E6FFFF171F0}"/>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3CAE0F8D-8715-409C-9953-3C96A7E830BD}"/>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E269FBED-DA97-4A7D-9D95-225DF9A40DF3}"/>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CDDE859E-302E-4903-AA16-A0F87DD08983}"/>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72AC4F9A-9DFC-4494-8BD4-4A47E0F4EB05}"/>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D3B30799-421C-46F5-A62C-A59D134BACC3}"/>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DCDD85BA-0C80-48DA-92A3-3D01D9DA9BC4}"/>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79DF07C6-6A81-49D1-9E6C-9369851B461B}"/>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D7ECB164-DC9D-4741-8139-AC95DE41C2DD}"/>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571EEA0B-873A-45D0-A2DF-8149B48B7B48}"/>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014C9638-3108-499A-BBC8-D8334F94DA84}"/>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2935EF89-1CC1-4C26-B0C4-4BC4DD94085D}"/>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11433A3A-E39A-4FCD-9772-2F5A31C5A511}"/>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6EA92BAF-1520-48A2-897A-CC01B2519269}"/>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6B45C318-1DBC-4EBA-8C6B-F18749F80C88}"/>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77A09F0A-E3FD-42AC-8819-6CA9D836DC76}"/>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7FCF60A7-FA28-4AB5-BA17-DF706060B19A}"/>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D34FC944-F808-40CE-AFA0-E66BA3E48F35}"/>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326AEC78-3C0F-444B-AE04-134D7BF08E8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0" name="">
            <a:extLst xmlns:a="http://schemas.openxmlformats.org/drawingml/2006/main">
              <a:ext uri="{FF2B5EF4-FFF2-40B4-BE49-F238E27FC236}">
                <a16:creationId xmlns:a16="http://schemas.microsoft.com/office/drawing/2014/main" id="{06B9F859-7D9F-4186-B21C-C7FC893B3E80}"/>
              </a:ext>
            </a:extLst>
          </p:cNvPr>
          <p:cNvSpPr>
            <a:spLocks xmlns:a="http://schemas.openxmlformats.org/drawingml/2006/main" noGrp="1"/>
          </p:cNvSpPr>
          <p:nvPr/>
        </p:nvSpPr>
        <p:spPr>
          <a:xfrm xmlns:a="http://schemas.openxmlformats.org/drawingml/2006/main">
            <a:off x="609600" y="533400"/>
            <a:ext cx="3676650" cy="381000"/>
          </a:xfrm>
          <a:prstGeom xmlns:a="http://schemas.openxmlformats.org/drawingml/2006/main" prst="roundRect">
            <a:avLst>
              <a:gd name="adj" fmla="val 40000"/>
            </a:avLst>
          </a:prstGeom>
          <a:solidFill xmlns:a="http://schemas.openxmlformats.org/drawingml/2006/main">
            <a:srgbClr val="E8EDF2"/>
          </a:solidFill>
          <a:ln xmlns:a="http://schemas.openxmlformats.org/drawingml/2006/main" w="9525">
            <a:solidFill>
              <a:srgbClr val="E8EDF2"/>
            </a:solidFill>
            <a:prstDash val="solid"/>
          </a:ln>
        </p:spPr>
      </p:sp>
      <p:sp>
        <p:nvSpPr>
          <p:cNvPr id="21" name="">
            <a:extLst xmlns:a="http://schemas.openxmlformats.org/drawingml/2006/main">
              <a:ext uri="{FF2B5EF4-FFF2-40B4-BE49-F238E27FC236}">
                <a16:creationId xmlns:a16="http://schemas.microsoft.com/office/drawing/2014/main" id="{A12661D5-5166-4C44-B7FC-C80FDDB46F1F}"/>
              </a:ext>
            </a:extLst>
          </p:cNvPr>
          <p:cNvSpPr>
            <a:spLocks xmlns:a="http://schemas.openxmlformats.org/drawingml/2006/main" noGrp="1"/>
          </p:cNvSpPr>
          <p:nvPr/>
        </p:nvSpPr>
        <p:spPr>
          <a:xfrm xmlns:a="http://schemas.openxmlformats.org/drawingml/2006/main">
            <a:off x="609600" y="533400"/>
            <a:ext cx="3676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SPECIAL TOPICS IN INFORMATION SECURITY</a:t>
            </a:r>
          </a:p>
        </p:txBody>
      </p:sp>
      <p:sp>
        <p:nvSpPr>
          <p:cNvPr id="22" name="">
            <a:extLst xmlns:a="http://schemas.openxmlformats.org/drawingml/2006/main">
              <a:ext uri="{FF2B5EF4-FFF2-40B4-BE49-F238E27FC236}">
                <a16:creationId xmlns:a16="http://schemas.microsoft.com/office/drawing/2014/main" id="{EB0E4C92-105F-47E5-A9DF-74C89854A23D}"/>
              </a:ext>
            </a:extLst>
          </p:cNvPr>
          <p:cNvSpPr>
            <a:spLocks xmlns:a="http://schemas.openxmlformats.org/drawingml/2006/main" noGrp="1"/>
          </p:cNvSpPr>
          <p:nvPr/>
        </p:nvSpPr>
        <p:spPr>
          <a:xfrm xmlns:a="http://schemas.openxmlformats.org/drawingml/2006/main">
            <a:off x="609600" y="1447800"/>
            <a:ext cx="838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0000"/>
              </a:lnSpc>
              <a:buNone/>
              <a:defRPr sz="4800" b="1">
                <a:solidFill>
                  <a:srgbClr val="0B0E14"/>
                </a:solidFill>
                <a:latin typeface="Helvetica Neue"/>
                <a:ea typeface="Helvetica Neue"/>
                <a:cs typeface="Helvetica Neue"/>
              </a:defRPr>
            </a:pPr>
            <a:r>
              <a:rPr sz="4800" b="1">
                <a:solidFill>
                  <a:srgbClr val="0B0E14"/>
                </a:solidFill>
                <a:latin typeface="Helvetica Neue"/>
                <a:ea typeface="Helvetica Neue"/>
                <a:cs typeface="Helvetica Neue"/>
              </a:rPr>
              <a:t>Integrated Two-Device</a:t>
            </a:r>
          </a:p>
          <a:p xmlns:a="http://schemas.openxmlformats.org/drawingml/2006/main">
            <a:pPr>
              <a:lnSpc>
                <a:spcPct val="90000"/>
              </a:lnSpc>
              <a:buNone/>
              <a:defRPr sz="4800" b="1">
                <a:solidFill>
                  <a:srgbClr val="0B0E14"/>
                </a:solidFill>
                <a:latin typeface="Helvetica Neue"/>
                <a:ea typeface="Helvetica Neue"/>
                <a:cs typeface="Helvetica Neue"/>
              </a:defRPr>
            </a:pPr>
            <a:r>
              <a:rPr sz="4800" b="1">
                <a:solidFill>
                  <a:srgbClr val="0B0E14"/>
                </a:solidFill>
                <a:latin typeface="Helvetica Neue"/>
                <a:ea typeface="Helvetica Neue"/>
                <a:cs typeface="Helvetica Neue"/>
              </a:rPr>
              <a:t>Incident Response Lab</a:t>
            </a:r>
          </a:p>
        </p:txBody>
      </p:sp>
      <p:sp>
        <p:nvSpPr>
          <p:cNvPr id="23" name="">
            <a:extLst xmlns:a="http://schemas.openxmlformats.org/drawingml/2006/main">
              <a:ext uri="{FF2B5EF4-FFF2-40B4-BE49-F238E27FC236}">
                <a16:creationId xmlns:a16="http://schemas.microsoft.com/office/drawing/2014/main" id="{89589C1C-74A9-4E79-A95B-191144FE2C36}"/>
              </a:ext>
            </a:extLst>
          </p:cNvPr>
          <p:cNvSpPr>
            <a:spLocks xmlns:a="http://schemas.openxmlformats.org/drawingml/2006/main" noGrp="1"/>
          </p:cNvSpPr>
          <p:nvPr/>
        </p:nvSpPr>
        <p:spPr>
          <a:xfrm xmlns:a="http://schemas.openxmlformats.org/drawingml/2006/main">
            <a:off x="609600" y="3571875"/>
            <a:ext cx="781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025">
                <a:solidFill>
                  <a:srgbClr val="183B66"/>
                </a:solidFill>
                <a:latin typeface="Helvetica Neue"/>
                <a:ea typeface="Helvetica Neue"/>
                <a:cs typeface="Helvetica Neue"/>
              </a:defRPr>
            </a:pPr>
            <a:r>
              <a:rPr sz="2025">
                <a:solidFill>
                  <a:srgbClr val="183B66"/>
                </a:solidFill>
                <a:latin typeface="Helvetica Neue"/>
                <a:ea typeface="Helvetica Neue"/>
                <a:cs typeface="Helvetica Neue"/>
              </a:rPr>
              <a:t>A safe, evidence-driven investigation across Ubuntu and Windows</a:t>
            </a:r>
          </a:p>
        </p:txBody>
      </p:sp>
      <p:sp>
        <p:nvSpPr>
          <p:cNvPr id="24" name="">
            <a:extLst xmlns:a="http://schemas.openxmlformats.org/drawingml/2006/main">
              <a:ext uri="{FF2B5EF4-FFF2-40B4-BE49-F238E27FC236}">
                <a16:creationId xmlns:a16="http://schemas.microsoft.com/office/drawing/2014/main" id="{B3B03D6F-A3A0-4A8E-9C94-F9ED0AF60723}"/>
              </a:ext>
            </a:extLst>
          </p:cNvPr>
          <p:cNvSpPr>
            <a:spLocks xmlns:a="http://schemas.openxmlformats.org/drawingml/2006/main" noGrp="1"/>
          </p:cNvSpPr>
          <p:nvPr/>
        </p:nvSpPr>
        <p:spPr>
          <a:xfrm xmlns:a="http://schemas.openxmlformats.org/drawingml/2006/main">
            <a:off x="609600" y="5219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AYHAM AL-SWAITI</a:t>
            </a:r>
          </a:p>
        </p:txBody>
      </p:sp>
      <p:sp>
        <p:nvSpPr>
          <p:cNvPr id="25" name="">
            <a:extLst xmlns:a="http://schemas.openxmlformats.org/drawingml/2006/main">
              <a:ext uri="{FF2B5EF4-FFF2-40B4-BE49-F238E27FC236}">
                <a16:creationId xmlns:a16="http://schemas.microsoft.com/office/drawing/2014/main" id="{7A729178-37E6-46C2-914F-A196F56AE5DE}"/>
              </a:ext>
            </a:extLst>
          </p:cNvPr>
          <p:cNvSpPr>
            <a:spLocks xmlns:a="http://schemas.openxmlformats.org/drawingml/2006/main" noGrp="1"/>
          </p:cNvSpPr>
          <p:nvPr/>
        </p:nvSpPr>
        <p:spPr>
          <a:xfrm xmlns:a="http://schemas.openxmlformats.org/drawingml/2006/main">
            <a:off x="609600" y="5619750"/>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Student ID 12116003  ·  August 2026</a:t>
            </a:r>
          </a:p>
        </p:txBody>
      </p:sp>
      <p:sp>
        <p:nvSpPr>
          <p:cNvPr id="26" name="">
            <a:extLst xmlns:a="http://schemas.openxmlformats.org/drawingml/2006/main">
              <a:ext uri="{FF2B5EF4-FFF2-40B4-BE49-F238E27FC236}">
                <a16:creationId xmlns:a16="http://schemas.microsoft.com/office/drawing/2014/main" id="{CEEF363D-F374-4083-831F-3B07818DCC20}"/>
              </a:ext>
            </a:extLst>
          </p:cNvPr>
          <p:cNvSpPr>
            <a:spLocks xmlns:a="http://schemas.openxmlformats.org/drawingml/2006/main" noGrp="1"/>
          </p:cNvSpPr>
          <p:nvPr/>
        </p:nvSpPr>
        <p:spPr>
          <a:xfrm xmlns:a="http://schemas.openxmlformats.org/drawingml/2006/main">
            <a:off x="9086850" y="1466850"/>
            <a:ext cx="234315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C4C07DE1-F8F8-4DC4-9E22-E2BE67BE9A25}"/>
              </a:ext>
            </a:extLst>
          </p:cNvPr>
          <p:cNvSpPr>
            <a:spLocks xmlns:a="http://schemas.openxmlformats.org/drawingml/2006/main" noGrp="1"/>
          </p:cNvSpPr>
          <p:nvPr/>
        </p:nvSpPr>
        <p:spPr>
          <a:xfrm xmlns:a="http://schemas.openxmlformats.org/drawingml/2006/main">
            <a:off x="9086850" y="1466850"/>
            <a:ext cx="76200" cy="128587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8" name="">
            <a:extLst xmlns:a="http://schemas.openxmlformats.org/drawingml/2006/main">
              <a:ext uri="{FF2B5EF4-FFF2-40B4-BE49-F238E27FC236}">
                <a16:creationId xmlns:a16="http://schemas.microsoft.com/office/drawing/2014/main" id="{B2389ABA-F79E-40D8-8B44-CAEC48E53D33}"/>
              </a:ext>
            </a:extLst>
          </p:cNvPr>
          <p:cNvSpPr>
            <a:spLocks xmlns:a="http://schemas.openxmlformats.org/drawingml/2006/main" noGrp="1"/>
          </p:cNvSpPr>
          <p:nvPr/>
        </p:nvSpPr>
        <p:spPr>
          <a:xfrm xmlns:a="http://schemas.openxmlformats.org/drawingml/2006/main">
            <a:off x="9315450" y="1609725"/>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10</a:t>
            </a:r>
          </a:p>
        </p:txBody>
      </p:sp>
      <p:sp>
        <p:nvSpPr>
          <p:cNvPr id="29" name="">
            <a:extLst xmlns:a="http://schemas.openxmlformats.org/drawingml/2006/main">
              <a:ext uri="{FF2B5EF4-FFF2-40B4-BE49-F238E27FC236}">
                <a16:creationId xmlns:a16="http://schemas.microsoft.com/office/drawing/2014/main" id="{E3745B4A-96A4-4C63-8886-8C1A30680A25}"/>
              </a:ext>
            </a:extLst>
          </p:cNvPr>
          <p:cNvSpPr>
            <a:spLocks xmlns:a="http://schemas.openxmlformats.org/drawingml/2006/main" noGrp="1"/>
          </p:cNvSpPr>
          <p:nvPr/>
        </p:nvSpPr>
        <p:spPr>
          <a:xfrm xmlns:a="http://schemas.openxmlformats.org/drawingml/2006/main">
            <a:off x="9315450" y="2019300"/>
            <a:ext cx="1981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Cybersecurity skills integrated into one reproducible IR workflow</a:t>
            </a:r>
          </a:p>
        </p:txBody>
      </p:sp>
      <p:sp>
        <p:nvSpPr>
          <p:cNvPr id="30" name="">
            <a:extLst xmlns:a="http://schemas.openxmlformats.org/drawingml/2006/main">
              <a:ext uri="{FF2B5EF4-FFF2-40B4-BE49-F238E27FC236}">
                <a16:creationId xmlns:a16="http://schemas.microsoft.com/office/drawing/2014/main" id="{F7B45C4E-7C3C-4679-9020-7A02DE4A1966}"/>
              </a:ext>
            </a:extLst>
          </p:cNvPr>
          <p:cNvSpPr>
            <a:spLocks xmlns:a="http://schemas.openxmlformats.org/drawingml/2006/main" noGrp="1"/>
          </p:cNvSpPr>
          <p:nvPr/>
        </p:nvSpPr>
        <p:spPr>
          <a:xfrm xmlns:a="http://schemas.openxmlformats.org/drawingml/2006/main">
            <a:off x="9086850" y="3009900"/>
            <a:ext cx="234315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D71B14FA-6CCA-43F4-AD11-F03F2CC7A3EA}"/>
              </a:ext>
            </a:extLst>
          </p:cNvPr>
          <p:cNvSpPr>
            <a:spLocks xmlns:a="http://schemas.openxmlformats.org/drawingml/2006/main" noGrp="1"/>
          </p:cNvSpPr>
          <p:nvPr/>
        </p:nvSpPr>
        <p:spPr>
          <a:xfrm xmlns:a="http://schemas.openxmlformats.org/drawingml/2006/main">
            <a:off x="9086850" y="3009900"/>
            <a:ext cx="76200" cy="1285875"/>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32" name="">
            <a:extLst xmlns:a="http://schemas.openxmlformats.org/drawingml/2006/main">
              <a:ext uri="{FF2B5EF4-FFF2-40B4-BE49-F238E27FC236}">
                <a16:creationId xmlns:a16="http://schemas.microsoft.com/office/drawing/2014/main" id="{7CCF3174-96D5-4BCB-BDF6-E519B7FB1A58}"/>
              </a:ext>
            </a:extLst>
          </p:cNvPr>
          <p:cNvSpPr>
            <a:spLocks xmlns:a="http://schemas.openxmlformats.org/drawingml/2006/main" noGrp="1"/>
          </p:cNvSpPr>
          <p:nvPr/>
        </p:nvSpPr>
        <p:spPr>
          <a:xfrm xmlns:a="http://schemas.openxmlformats.org/drawingml/2006/main">
            <a:off x="9315450" y="3152775"/>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2</a:t>
            </a:r>
          </a:p>
        </p:txBody>
      </p:sp>
      <p:sp>
        <p:nvSpPr>
          <p:cNvPr id="33" name="">
            <a:extLst xmlns:a="http://schemas.openxmlformats.org/drawingml/2006/main">
              <a:ext uri="{FF2B5EF4-FFF2-40B4-BE49-F238E27FC236}">
                <a16:creationId xmlns:a16="http://schemas.microsoft.com/office/drawing/2014/main" id="{9F4B847F-2235-4CA8-A2E3-D544F780E517}"/>
              </a:ext>
            </a:extLst>
          </p:cNvPr>
          <p:cNvSpPr>
            <a:spLocks xmlns:a="http://schemas.openxmlformats.org/drawingml/2006/main" noGrp="1"/>
          </p:cNvSpPr>
          <p:nvPr/>
        </p:nvSpPr>
        <p:spPr>
          <a:xfrm xmlns:a="http://schemas.openxmlformats.org/drawingml/2006/main">
            <a:off x="9315450" y="3562350"/>
            <a:ext cx="1981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Authorized endpoints: Ubuntu analyst/server + Windows 11 endpoint</a:t>
            </a:r>
          </a:p>
        </p:txBody>
      </p:sp>
      <p:sp>
        <p:nvSpPr>
          <p:cNvPr id="34" name="">
            <a:extLst xmlns:a="http://schemas.openxmlformats.org/drawingml/2006/main">
              <a:ext uri="{FF2B5EF4-FFF2-40B4-BE49-F238E27FC236}">
                <a16:creationId xmlns:a16="http://schemas.microsoft.com/office/drawing/2014/main" id="{FF399F8F-6982-4080-9602-98C617562FAD}"/>
              </a:ext>
            </a:extLst>
          </p:cNvPr>
          <p:cNvSpPr>
            <a:spLocks xmlns:a="http://schemas.openxmlformats.org/drawingml/2006/main" noGrp="1"/>
          </p:cNvSpPr>
          <p:nvPr/>
        </p:nvSpPr>
        <p:spPr>
          <a:xfrm xmlns:a="http://schemas.openxmlformats.org/drawingml/2006/main">
            <a:off x="9086850" y="4552950"/>
            <a:ext cx="2343150" cy="1285875"/>
          </a:xfrm>
          <a:prstGeom xmlns:a="http://schemas.openxmlformats.org/drawingml/2006/main" prst="roundRect">
            <a:avLst>
              <a:gd name="adj" fmla="val 11852"/>
            </a:avLst>
          </a:prstGeom>
          <a:solidFill xmlns:a="http://schemas.openxmlformats.org/drawingml/2006/main">
            <a:srgbClr val="FFFFFF"/>
          </a:solidFill>
          <a:ln xmlns:a="http://schemas.openxmlformats.org/drawingml/2006/main" w="9525">
            <a:solidFill>
              <a:srgbClr val="B8BCC4"/>
            </a:solidFill>
            <a:prstDash val="solid"/>
          </a:ln>
        </p:spPr>
      </p:sp>
      <p:sp>
        <p:nvSpPr>
          <p:cNvPr id="35" name="">
            <a:extLst xmlns:a="http://schemas.openxmlformats.org/drawingml/2006/main">
              <a:ext uri="{FF2B5EF4-FFF2-40B4-BE49-F238E27FC236}">
                <a16:creationId xmlns:a16="http://schemas.microsoft.com/office/drawing/2014/main" id="{348BD587-CE70-4FF2-AB1F-8B263CDCCF53}"/>
              </a:ext>
            </a:extLst>
          </p:cNvPr>
          <p:cNvSpPr>
            <a:spLocks xmlns:a="http://schemas.openxmlformats.org/drawingml/2006/main" noGrp="1"/>
          </p:cNvSpPr>
          <p:nvPr/>
        </p:nvSpPr>
        <p:spPr>
          <a:xfrm xmlns:a="http://schemas.openxmlformats.org/drawingml/2006/main">
            <a:off x="9086850" y="4552950"/>
            <a:ext cx="76200" cy="1285875"/>
          </a:xfrm>
          <a:prstGeom xmlns:a="http://schemas.openxmlformats.org/drawingml/2006/main" prst="rect">
            <a:avLst/>
          </a:prstGeom>
          <a:solidFill xmlns:a="http://schemas.openxmlformats.org/drawingml/2006/main">
            <a:srgbClr val="167C5A"/>
          </a:solidFill>
          <a:ln xmlns:a="http://schemas.openxmlformats.org/drawingml/2006/main" w="0">
            <a:solidFill>
              <a:srgbClr val="167C5A"/>
            </a:solidFill>
            <a:prstDash val="solid"/>
          </a:ln>
        </p:spPr>
      </p:sp>
      <p:sp>
        <p:nvSpPr>
          <p:cNvPr id="36" name="">
            <a:extLst xmlns:a="http://schemas.openxmlformats.org/drawingml/2006/main">
              <a:ext uri="{FF2B5EF4-FFF2-40B4-BE49-F238E27FC236}">
                <a16:creationId xmlns:a16="http://schemas.microsoft.com/office/drawing/2014/main" id="{8058423A-3B58-4A90-A885-DBFC4A553704}"/>
              </a:ext>
            </a:extLst>
          </p:cNvPr>
          <p:cNvSpPr>
            <a:spLocks xmlns:a="http://schemas.openxmlformats.org/drawingml/2006/main" noGrp="1"/>
          </p:cNvSpPr>
          <p:nvPr/>
        </p:nvSpPr>
        <p:spPr>
          <a:xfrm xmlns:a="http://schemas.openxmlformats.org/drawingml/2006/main">
            <a:off x="9315450" y="4695825"/>
            <a:ext cx="1981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PASS</a:t>
            </a:r>
          </a:p>
        </p:txBody>
      </p:sp>
      <p:sp>
        <p:nvSpPr>
          <p:cNvPr id="37" name="">
            <a:extLst xmlns:a="http://schemas.openxmlformats.org/drawingml/2006/main">
              <a:ext uri="{FF2B5EF4-FFF2-40B4-BE49-F238E27FC236}">
                <a16:creationId xmlns:a16="http://schemas.microsoft.com/office/drawing/2014/main" id="{CF378966-DFCD-4325-A8F0-DC3EB82E0DC0}"/>
              </a:ext>
            </a:extLst>
          </p:cNvPr>
          <p:cNvSpPr>
            <a:spLocks xmlns:a="http://schemas.openxmlformats.org/drawingml/2006/main" noGrp="1"/>
          </p:cNvSpPr>
          <p:nvPr/>
        </p:nvSpPr>
        <p:spPr>
          <a:xfrm xmlns:a="http://schemas.openxmlformats.org/drawingml/2006/main">
            <a:off x="9315450" y="5105400"/>
            <a:ext cx="19812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Final evidence validation and submission package</a:t>
            </a:r>
          </a:p>
        </p:txBody>
      </p:sp>
    </p:spTree>
    <p:extLst>
      <p:ext uri="{BB962C8B-B14F-4D97-AF65-F5344CB8AC3E}">
        <p14:creationId xmlns:p14="http://schemas.microsoft.com/office/powerpoint/2010/main" val="9477745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13C742-65E0-4213-8BC2-D07A205A4FE5}"/>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45A82951-5F62-4234-AE16-46E3234FA3D3}"/>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Objective, boundaries, and success criteria</a:t>
            </a:r>
          </a:p>
        </p:txBody>
      </p:sp>
      <p:sp>
        <p:nvSpPr>
          <p:cNvPr id="3" name="">
            <a:extLst xmlns:a="http://schemas.openxmlformats.org/drawingml/2006/main">
              <a:ext uri="{FF2B5EF4-FFF2-40B4-BE49-F238E27FC236}">
                <a16:creationId xmlns:a16="http://schemas.microsoft.com/office/drawing/2014/main" id="{4B7E9DC6-95E4-48EC-AD4B-EB2612A91B03}"/>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09F4A246-20A0-4D70-AE0C-4B9995E984B9}"/>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0FB4076D-E119-4B04-B2F7-6CFCE3FFF90D}"/>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8921482D-1782-415B-ACC7-B7BF8CE05B57}"/>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5B2DDFE-7B1B-4114-89AB-18C8F71B5525}"/>
              </a:ext>
            </a:extLst>
          </p:cNvPr>
          <p:cNvSpPr>
            <a:spLocks xmlns:a="http://schemas.openxmlformats.org/drawingml/2006/main" noGrp="1"/>
          </p:cNvSpPr>
          <p:nvPr/>
        </p:nvSpPr>
        <p:spPr>
          <a:xfrm xmlns:a="http://schemas.openxmlformats.org/drawingml/2006/main">
            <a:off x="457200" y="1657350"/>
            <a:ext cx="3524250" cy="4248150"/>
          </a:xfrm>
          <a:prstGeom xmlns:a="http://schemas.openxmlformats.org/drawingml/2006/main" prst="roundRect">
            <a:avLst>
              <a:gd name="adj" fmla="val 4865"/>
            </a:avLst>
          </a:prstGeom>
          <a:solidFill xmlns:a="http://schemas.openxmlformats.org/drawingml/2006/main">
            <a:srgbClr val="F4F6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84530680-6BC4-40D2-AC17-6C6444CB0379}"/>
              </a:ext>
            </a:extLst>
          </p:cNvPr>
          <p:cNvSpPr>
            <a:spLocks xmlns:a="http://schemas.openxmlformats.org/drawingml/2006/main" noGrp="1"/>
          </p:cNvSpPr>
          <p:nvPr/>
        </p:nvSpPr>
        <p:spPr>
          <a:xfrm xmlns:a="http://schemas.openxmlformats.org/drawingml/2006/main">
            <a:off x="723900" y="1943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THE QUESTION</a:t>
            </a:r>
          </a:p>
        </p:txBody>
      </p:sp>
      <p:sp>
        <p:nvSpPr>
          <p:cNvPr id="9" name="">
            <a:extLst xmlns:a="http://schemas.openxmlformats.org/drawingml/2006/main">
              <a:ext uri="{FF2B5EF4-FFF2-40B4-BE49-F238E27FC236}">
                <a16:creationId xmlns:a16="http://schemas.microsoft.com/office/drawing/2014/main" id="{9D1CF184-86D4-4980-BF47-77EECC33EDEB}"/>
              </a:ext>
            </a:extLst>
          </p:cNvPr>
          <p:cNvSpPr>
            <a:spLocks xmlns:a="http://schemas.openxmlformats.org/drawingml/2006/main" noGrp="1"/>
          </p:cNvSpPr>
          <p:nvPr/>
        </p:nvSpPr>
        <p:spPr>
          <a:xfrm xmlns:a="http://schemas.openxmlformats.org/drawingml/2006/main">
            <a:off x="723900" y="2400300"/>
            <a:ext cx="29718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46"/>
          </a:bodyPr>
          <a:lstStyle xmlns:a="http://schemas.openxmlformats.org/drawingml/2006/main"/>
          <a:p xmlns:a="http://schemas.openxmlformats.org/drawingml/2006/main">
            <a:pPr>
              <a:lnSpc>
                <a:spcPct val="102000"/>
              </a:lnSpc>
              <a:buNone/>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Can a small home lab perform a professional, end-to-end incident response workflow without unsafe attack activity?</a:t>
            </a:r>
          </a:p>
        </p:txBody>
      </p:sp>
      <p:sp>
        <p:nvSpPr>
          <p:cNvPr id="10" name="">
            <a:extLst xmlns:a="http://schemas.openxmlformats.org/drawingml/2006/main">
              <a:ext uri="{FF2B5EF4-FFF2-40B4-BE49-F238E27FC236}">
                <a16:creationId xmlns:a16="http://schemas.microsoft.com/office/drawing/2014/main" id="{628EC836-C5F3-4EDD-BD2B-FF72E0A46968}"/>
              </a:ext>
            </a:extLst>
          </p:cNvPr>
          <p:cNvSpPr>
            <a:spLocks xmlns:a="http://schemas.openxmlformats.org/drawingml/2006/main" noGrp="1"/>
          </p:cNvSpPr>
          <p:nvPr/>
        </p:nvSpPr>
        <p:spPr>
          <a:xfrm xmlns:a="http://schemas.openxmlformats.org/drawingml/2006/main">
            <a:off x="723900" y="4762500"/>
            <a:ext cx="29718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350">
                <a:solidFill>
                  <a:srgbClr val="183B66"/>
                </a:solidFill>
                <a:latin typeface="Helvetica Neue"/>
                <a:ea typeface="Helvetica Neue"/>
                <a:cs typeface="Helvetica Neue"/>
              </a:defRPr>
            </a:pPr>
            <a:r>
              <a:rPr sz="1350">
                <a:solidFill>
                  <a:srgbClr val="183B66"/>
                </a:solidFill>
                <a:latin typeface="Helvetica Neue"/>
                <a:ea typeface="Helvetica Neue"/>
                <a:cs typeface="Helvetica Neue"/>
              </a:rPr>
              <a:t>Answer: yes—when collection, analysis, containment, recovery, and evidence integrity are designed as one controlled process.</a:t>
            </a:r>
          </a:p>
        </p:txBody>
      </p:sp>
      <p:sp>
        <p:nvSpPr>
          <p:cNvPr id="11" name="">
            <a:extLst xmlns:a="http://schemas.openxmlformats.org/drawingml/2006/main">
              <a:ext uri="{FF2B5EF4-FFF2-40B4-BE49-F238E27FC236}">
                <a16:creationId xmlns:a16="http://schemas.microsoft.com/office/drawing/2014/main" id="{AE9D60DB-BD48-4202-A877-1C18D482F84D}"/>
              </a:ext>
            </a:extLst>
          </p:cNvPr>
          <p:cNvSpPr>
            <a:spLocks xmlns:a="http://schemas.openxmlformats.org/drawingml/2006/main" noGrp="1"/>
          </p:cNvSpPr>
          <p:nvPr/>
        </p:nvSpPr>
        <p:spPr>
          <a:xfrm xmlns:a="http://schemas.openxmlformats.org/drawingml/2006/main">
            <a:off x="4400550" y="1752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167C5A"/>
                </a:solidFill>
                <a:latin typeface="Helvetica Neue"/>
                <a:ea typeface="Helvetica Neue"/>
                <a:cs typeface="Helvetica Neue"/>
              </a:defRPr>
            </a:pPr>
            <a:r>
              <a:rPr sz="1200" b="1">
                <a:solidFill>
                  <a:srgbClr val="167C5A"/>
                </a:solidFill>
                <a:latin typeface="Helvetica Neue"/>
                <a:ea typeface="Helvetica Neue"/>
                <a:cs typeface="Helvetica Neue"/>
              </a:rPr>
              <a:t>AUTHORIZED &amp; SAFE</a:t>
            </a:r>
          </a:p>
        </p:txBody>
      </p:sp>
      <p:sp>
        <p:nvSpPr>
          <p:cNvPr id="12" name="">
            <a:extLst xmlns:a="http://schemas.openxmlformats.org/drawingml/2006/main">
              <a:ext uri="{FF2B5EF4-FFF2-40B4-BE49-F238E27FC236}">
                <a16:creationId xmlns:a16="http://schemas.microsoft.com/office/drawing/2014/main" id="{86F417B7-183F-4AD0-BDEB-34C8509B977A}"/>
              </a:ext>
            </a:extLst>
          </p:cNvPr>
          <p:cNvSpPr>
            <a:spLocks xmlns:a="http://schemas.openxmlformats.org/drawingml/2006/main" noGrp="1"/>
          </p:cNvSpPr>
          <p:nvPr/>
        </p:nvSpPr>
        <p:spPr>
          <a:xfrm xmlns:a="http://schemas.openxmlformats.org/drawingml/2006/main">
            <a:off x="4400550" y="2171700"/>
            <a:ext cx="70294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b="1">
                <a:solidFill>
                  <a:srgbClr val="0B0E14"/>
                </a:solidFill>
                <a:latin typeface="Helvetica Neue"/>
                <a:ea typeface="Helvetica Neue"/>
                <a:cs typeface="Helvetica Neue"/>
              </a:rPr>
              <a:t>Two personally controlled devices</a:t>
            </a:r>
            <a:r>
              <a:rPr sz="1575">
                <a:solidFill>
                  <a:srgbClr val="0B0E14"/>
                </a:solidFill>
                <a:latin typeface="Helvetica Neue"/>
                <a:ea typeface="Helvetica Neue"/>
                <a:cs typeface="Helvetica Neue"/>
              </a:rPr>
              <a:t> on one local network</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RFC 5737 documentation addresses only: </a:t>
            </a:r>
            <a:r>
              <a:rPr sz="1575" b="1">
                <a:solidFill>
                  <a:srgbClr val="0B0E14"/>
                </a:solidFill>
                <a:latin typeface="Helvetica Neue"/>
                <a:ea typeface="Helvetica Neue"/>
                <a:cs typeface="Helvetica Neue"/>
              </a:rPr>
              <a:t>198.51.100.77</a:t>
            </a:r>
            <a:r>
              <a:rPr sz="1575">
                <a:solidFill>
                  <a:srgbClr val="0B0E14"/>
                </a:solidFill>
                <a:latin typeface="Helvetica Neue"/>
                <a:ea typeface="Helvetica Neue"/>
                <a:cs typeface="Helvetica Neue"/>
              </a:rPr>
              <a:t> and </a:t>
            </a:r>
            <a:r>
              <a:rPr sz="1575" b="1">
                <a:solidFill>
                  <a:srgbClr val="0B0E14"/>
                </a:solidFill>
                <a:latin typeface="Helvetica Neue"/>
                <a:ea typeface="Helvetica Neue"/>
                <a:cs typeface="Helvetica Neue"/>
              </a:rPr>
              <a:t>203.0.113.50</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Benign process, file, login, and loopback events—</a:t>
            </a:r>
            <a:r>
              <a:rPr sz="1575" b="1">
                <a:solidFill>
                  <a:srgbClr val="0B0E14"/>
                </a:solidFill>
                <a:latin typeface="Helvetica Neue"/>
                <a:ea typeface="Helvetica Neue"/>
                <a:cs typeface="Helvetica Neue"/>
              </a:rPr>
              <a:t>no exploit or malware</a:t>
            </a:r>
          </a:p>
        </p:txBody>
      </p:sp>
      <p:sp>
        <p:nvSpPr>
          <p:cNvPr id="13" name="">
            <a:extLst xmlns:a="http://schemas.openxmlformats.org/drawingml/2006/main">
              <a:ext uri="{FF2B5EF4-FFF2-40B4-BE49-F238E27FC236}">
                <a16:creationId xmlns:a16="http://schemas.microsoft.com/office/drawing/2014/main" id="{FF29BC61-CE5E-4BD4-8AF1-7559888C4B2A}"/>
              </a:ext>
            </a:extLst>
          </p:cNvPr>
          <p:cNvSpPr>
            <a:spLocks xmlns:a="http://schemas.openxmlformats.org/drawingml/2006/main" noGrp="1"/>
          </p:cNvSpPr>
          <p:nvPr/>
        </p:nvSpPr>
        <p:spPr>
          <a:xfrm xmlns:a="http://schemas.openxmlformats.org/drawingml/2006/main">
            <a:off x="4400550" y="4057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SUCCESS GATES</a:t>
            </a:r>
          </a:p>
        </p:txBody>
      </p:sp>
      <p:sp>
        <p:nvSpPr>
          <p:cNvPr id="14" name="">
            <a:extLst xmlns:a="http://schemas.openxmlformats.org/drawingml/2006/main">
              <a:ext uri="{FF2B5EF4-FFF2-40B4-BE49-F238E27FC236}">
                <a16:creationId xmlns:a16="http://schemas.microsoft.com/office/drawing/2014/main" id="{83BD0202-237D-42A6-B335-F68B4CFA3D0C}"/>
              </a:ext>
            </a:extLst>
          </p:cNvPr>
          <p:cNvSpPr>
            <a:spLocks xmlns:a="http://schemas.openxmlformats.org/drawingml/2006/main" noGrp="1"/>
          </p:cNvSpPr>
          <p:nvPr/>
        </p:nvSpPr>
        <p:spPr>
          <a:xfrm xmlns:a="http://schemas.openxmlformats.org/drawingml/2006/main">
            <a:off x="4400550" y="4438650"/>
            <a:ext cx="70294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10/10 selected skills verified from the pinned repository commit</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Remote endpoint evidence collected and correlated</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Containment is narrow, reversible, and validated</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SHA-256 integrity and final evidence archive both pass</a:t>
            </a:r>
          </a:p>
        </p:txBody>
      </p:sp>
    </p:spTree>
    <p:extLst>
      <p:ext uri="{BB962C8B-B14F-4D97-AF65-F5344CB8AC3E}">
        <p14:creationId xmlns:p14="http://schemas.microsoft.com/office/powerpoint/2010/main" val="15604016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97EE0D56-2A57-46FE-9CFE-8202977E928F}"/>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F1E6EBBF-CC06-45B9-978F-41744A7A519B}"/>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B5533A4A-3DA2-48AB-B292-E0A7BE497699}"/>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54AB6A01-147F-41BD-A4F2-8CFE8B525F3A}"/>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C70C1496-57C3-47D0-B1E1-5F6041D9CAB9}"/>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0059B2D1-F9A5-471F-B66B-C868A89AEF18}"/>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A3A2C941-4204-4299-BB51-FB3E4BFF766A}"/>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F97E9A76-3740-47D1-9534-809323633E6B}"/>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884E5F70-9E1F-40EB-ADE1-E0A36F00CE99}"/>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C2FADED5-7FA7-44E5-A388-1C8B1646634C}"/>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6F10965E-2628-4EA9-ADD3-A05AF1E4B3EA}"/>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4B7B6854-7BC2-49E1-A11A-8D71AEE540A4}"/>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EAC83AC9-9D6E-4AA8-A6D4-07A08D793687}"/>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EF4215A9-5B25-4261-A311-72A7F2461CF5}"/>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C60C3ED3-8D3F-4C5E-92AD-45FCDDCF35D8}"/>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057A6774-14F6-4E3E-9C25-B7218DF1703D}"/>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6153BD7A-F609-45AF-8C01-BDFB53C07A61}"/>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F30011BD-6390-4C4A-9096-C512A6292542}"/>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5A7C1EF0-46E9-4A7F-B7FA-26B5D4AE31CB}"/>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58BCCBD0-9376-40D8-8419-6BFCD5D145A7}"/>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Two-device architecture and trust boundaries</a:t>
            </a:r>
          </a:p>
        </p:txBody>
      </p:sp>
      <p:sp>
        <p:nvSpPr>
          <p:cNvPr id="21" name="">
            <a:extLst xmlns:a="http://schemas.openxmlformats.org/drawingml/2006/main">
              <a:ext uri="{FF2B5EF4-FFF2-40B4-BE49-F238E27FC236}">
                <a16:creationId xmlns:a16="http://schemas.microsoft.com/office/drawing/2014/main" id="{2C6C9CD7-93AF-486A-A2CC-0E31AFDE67F5}"/>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03</a:t>
            </a:r>
          </a:p>
        </p:txBody>
      </p:sp>
      <p:sp>
        <p:nvSpPr>
          <p:cNvPr id="22" name="">
            <a:extLst xmlns:a="http://schemas.openxmlformats.org/drawingml/2006/main">
              <a:ext uri="{FF2B5EF4-FFF2-40B4-BE49-F238E27FC236}">
                <a16:creationId xmlns:a16="http://schemas.microsoft.com/office/drawing/2014/main" id="{E3D3BD21-81EF-41EB-A48A-53964502CAE1}"/>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035594F5-3006-495E-B91E-71C863333809}"/>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24" name="">
            <a:extLst xmlns:a="http://schemas.openxmlformats.org/drawingml/2006/main">
              <a:ext uri="{FF2B5EF4-FFF2-40B4-BE49-F238E27FC236}">
                <a16:creationId xmlns:a16="http://schemas.microsoft.com/office/drawing/2014/main" id="{A1356F7D-EDA1-4B82-9A62-ACBCBFAD797D}"/>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85FE0029-D24E-4AB3-8951-C9EDAE05847B}"/>
              </a:ext>
            </a:extLst>
          </p:cNvPr>
          <p:cNvSpPr>
            <a:spLocks xmlns:a="http://schemas.openxmlformats.org/drawingml/2006/main" noGrp="1"/>
          </p:cNvSpPr>
          <p:nvPr/>
        </p:nvSpPr>
        <p:spPr>
          <a:xfrm xmlns:a="http://schemas.openxmlformats.org/drawingml/2006/main">
            <a:off x="571500" y="1809750"/>
            <a:ext cx="3714750" cy="3429000"/>
          </a:xfrm>
          <a:prstGeom xmlns:a="http://schemas.openxmlformats.org/drawingml/2006/main" prst="roundRect">
            <a:avLst>
              <a:gd name="adj" fmla="val 6111"/>
            </a:avLst>
          </a:prstGeom>
          <a:solidFill xmlns:a="http://schemas.openxmlformats.org/drawingml/2006/main">
            <a:srgbClr val="F4F6F8"/>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C8E3B8E6-2A84-4E93-A66C-1C261AF3BBCC}"/>
              </a:ext>
            </a:extLst>
          </p:cNvPr>
          <p:cNvSpPr>
            <a:spLocks xmlns:a="http://schemas.openxmlformats.org/drawingml/2006/main" noGrp="1"/>
          </p:cNvSpPr>
          <p:nvPr/>
        </p:nvSpPr>
        <p:spPr>
          <a:xfrm xmlns:a="http://schemas.openxmlformats.org/drawingml/2006/main">
            <a:off x="876300" y="2076450"/>
            <a:ext cx="1809750" cy="361950"/>
          </a:xfrm>
          <a:prstGeom xmlns:a="http://schemas.openxmlformats.org/drawingml/2006/main" prst="roundRect">
            <a:avLst>
              <a:gd name="adj" fmla="val 42105"/>
            </a:avLst>
          </a:prstGeom>
          <a:solidFill xmlns:a="http://schemas.openxmlformats.org/drawingml/2006/main">
            <a:srgbClr val="DDF5EB"/>
          </a:solidFill>
          <a:ln xmlns:a="http://schemas.openxmlformats.org/drawingml/2006/main" w="9525">
            <a:solidFill>
              <a:srgbClr val="DDF5EB"/>
            </a:solidFill>
            <a:prstDash val="solid"/>
          </a:ln>
        </p:spPr>
      </p:sp>
      <p:sp>
        <p:nvSpPr>
          <p:cNvPr id="27" name="">
            <a:extLst xmlns:a="http://schemas.openxmlformats.org/drawingml/2006/main">
              <a:ext uri="{FF2B5EF4-FFF2-40B4-BE49-F238E27FC236}">
                <a16:creationId xmlns:a16="http://schemas.microsoft.com/office/drawing/2014/main" id="{B8F8D0B3-96F7-4A00-808F-799FD05EA6D3}"/>
              </a:ext>
            </a:extLst>
          </p:cNvPr>
          <p:cNvSpPr>
            <a:spLocks xmlns:a="http://schemas.openxmlformats.org/drawingml/2006/main" noGrp="1"/>
          </p:cNvSpPr>
          <p:nvPr/>
        </p:nvSpPr>
        <p:spPr>
          <a:xfrm xmlns:a="http://schemas.openxmlformats.org/drawingml/2006/main">
            <a:off x="876300" y="2076450"/>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ANALYST / SERVER</a:t>
            </a:r>
          </a:p>
        </p:txBody>
      </p:sp>
      <p:sp>
        <p:nvSpPr>
          <p:cNvPr id="28" name="">
            <a:extLst xmlns:a="http://schemas.openxmlformats.org/drawingml/2006/main">
              <a:ext uri="{FF2B5EF4-FFF2-40B4-BE49-F238E27FC236}">
                <a16:creationId xmlns:a16="http://schemas.microsoft.com/office/drawing/2014/main" id="{17DC644B-D905-492B-B4E3-1BBA51C09D9A}"/>
              </a:ext>
            </a:extLst>
          </p:cNvPr>
          <p:cNvSpPr>
            <a:spLocks xmlns:a="http://schemas.openxmlformats.org/drawingml/2006/main" noGrp="1"/>
          </p:cNvSpPr>
          <p:nvPr/>
        </p:nvSpPr>
        <p:spPr>
          <a:xfrm xmlns:a="http://schemas.openxmlformats.org/drawingml/2006/main">
            <a:off x="876300" y="2705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325" b="1">
                <a:solidFill>
                  <a:srgbClr val="0B0E14"/>
                </a:solidFill>
                <a:latin typeface="Helvetica Neue"/>
                <a:ea typeface="Helvetica Neue"/>
                <a:cs typeface="Helvetica Neue"/>
              </a:defRPr>
            </a:pPr>
            <a:r>
              <a:rPr sz="2325" b="1">
                <a:solidFill>
                  <a:srgbClr val="0B0E14"/>
                </a:solidFill>
                <a:latin typeface="Helvetica Neue"/>
                <a:ea typeface="Helvetica Neue"/>
                <a:cs typeface="Helvetica Neue"/>
              </a:rPr>
              <a:t>Ubuntu 26.04 LTS</a:t>
            </a:r>
          </a:p>
        </p:txBody>
      </p:sp>
      <p:sp>
        <p:nvSpPr>
          <p:cNvPr id="29" name="">
            <a:extLst xmlns:a="http://schemas.openxmlformats.org/drawingml/2006/main">
              <a:ext uri="{FF2B5EF4-FFF2-40B4-BE49-F238E27FC236}">
                <a16:creationId xmlns:a16="http://schemas.microsoft.com/office/drawing/2014/main" id="{33FBB07F-0539-4187-AD80-EAC616CF13D4}"/>
              </a:ext>
            </a:extLst>
          </p:cNvPr>
          <p:cNvSpPr>
            <a:spLocks xmlns:a="http://schemas.openxmlformats.org/drawingml/2006/main" noGrp="1"/>
          </p:cNvSpPr>
          <p:nvPr/>
        </p:nvSpPr>
        <p:spPr>
          <a:xfrm xmlns:a="http://schemas.openxmlformats.org/drawingml/2006/main">
            <a:off x="876300" y="32004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192.168.1.31</a:t>
            </a:r>
          </a:p>
        </p:txBody>
      </p:sp>
      <p:sp>
        <p:nvSpPr>
          <p:cNvPr id="30" name="">
            <a:extLst xmlns:a="http://schemas.openxmlformats.org/drawingml/2006/main">
              <a:ext uri="{FF2B5EF4-FFF2-40B4-BE49-F238E27FC236}">
                <a16:creationId xmlns:a16="http://schemas.microsoft.com/office/drawing/2014/main" id="{8A585E3D-1D5E-457D-A9E2-7496A92961E9}"/>
              </a:ext>
            </a:extLst>
          </p:cNvPr>
          <p:cNvSpPr>
            <a:spLocks xmlns:a="http://schemas.openxmlformats.org/drawingml/2006/main" noGrp="1"/>
          </p:cNvSpPr>
          <p:nvPr/>
        </p:nvSpPr>
        <p:spPr>
          <a:xfrm xmlns:a="http://schemas.openxmlformats.org/drawingml/2006/main">
            <a:off x="876300" y="3733800"/>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2783"/>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Velociraptor server + local GUI</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Splunk and Timesketch containers</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Volatility 3 analysis</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Dedicated NTFS evidence partition</a:t>
            </a:r>
          </a:p>
        </p:txBody>
      </p:sp>
      <p:sp>
        <p:nvSpPr>
          <p:cNvPr id="31" name="">
            <a:extLst xmlns:a="http://schemas.openxmlformats.org/drawingml/2006/main">
              <a:ext uri="{FF2B5EF4-FFF2-40B4-BE49-F238E27FC236}">
                <a16:creationId xmlns:a16="http://schemas.microsoft.com/office/drawing/2014/main" id="{021B0643-89CF-4AAC-B51E-BF672EF2D808}"/>
              </a:ext>
            </a:extLst>
          </p:cNvPr>
          <p:cNvSpPr>
            <a:spLocks xmlns:a="http://schemas.openxmlformats.org/drawingml/2006/main" noGrp="1"/>
          </p:cNvSpPr>
          <p:nvPr/>
        </p:nvSpPr>
        <p:spPr>
          <a:xfrm xmlns:a="http://schemas.openxmlformats.org/drawingml/2006/main">
            <a:off x="7905750" y="1809750"/>
            <a:ext cx="3714750" cy="3429000"/>
          </a:xfrm>
          <a:prstGeom xmlns:a="http://schemas.openxmlformats.org/drawingml/2006/main" prst="roundRect">
            <a:avLst>
              <a:gd name="adj" fmla="val 6111"/>
            </a:avLst>
          </a:prstGeom>
          <a:solidFill xmlns:a="http://schemas.openxmlformats.org/drawingml/2006/main">
            <a:srgbClr val="F4F6F8"/>
          </a:solidFill>
          <a:ln xmlns:a="http://schemas.openxmlformats.org/drawingml/2006/main" w="9525">
            <a:solidFill>
              <a:srgbClr val="B8BCC4"/>
            </a:solidFill>
            <a:prstDash val="solid"/>
          </a:ln>
        </p:spPr>
      </p:sp>
      <p:sp>
        <p:nvSpPr>
          <p:cNvPr id="32" name="">
            <a:extLst xmlns:a="http://schemas.openxmlformats.org/drawingml/2006/main">
              <a:ext uri="{FF2B5EF4-FFF2-40B4-BE49-F238E27FC236}">
                <a16:creationId xmlns:a16="http://schemas.microsoft.com/office/drawing/2014/main" id="{2207E457-9B8B-42F5-9531-1B7DF0399400}"/>
              </a:ext>
            </a:extLst>
          </p:cNvPr>
          <p:cNvSpPr>
            <a:spLocks xmlns:a="http://schemas.openxmlformats.org/drawingml/2006/main" noGrp="1"/>
          </p:cNvSpPr>
          <p:nvPr/>
        </p:nvSpPr>
        <p:spPr>
          <a:xfrm xmlns:a="http://schemas.openxmlformats.org/drawingml/2006/main">
            <a:off x="8210550" y="2076450"/>
            <a:ext cx="2000250" cy="361950"/>
          </a:xfrm>
          <a:prstGeom xmlns:a="http://schemas.openxmlformats.org/drawingml/2006/main" prst="roundRect">
            <a:avLst>
              <a:gd name="adj" fmla="val 42105"/>
            </a:avLst>
          </a:prstGeom>
          <a:solidFill xmlns:a="http://schemas.openxmlformats.org/drawingml/2006/main">
            <a:srgbClr val="FFF0D6"/>
          </a:solidFill>
          <a:ln xmlns:a="http://schemas.openxmlformats.org/drawingml/2006/main" w="9525">
            <a:solidFill>
              <a:srgbClr val="FFF0D6"/>
            </a:solidFill>
            <a:prstDash val="solid"/>
          </a:ln>
        </p:spPr>
      </p:sp>
      <p:sp>
        <p:nvSpPr>
          <p:cNvPr id="33" name="">
            <a:extLst xmlns:a="http://schemas.openxmlformats.org/drawingml/2006/main">
              <a:ext uri="{FF2B5EF4-FFF2-40B4-BE49-F238E27FC236}">
                <a16:creationId xmlns:a16="http://schemas.microsoft.com/office/drawing/2014/main" id="{64AF13C1-4960-40CD-9B1E-C3C02A0B5C22}"/>
              </a:ext>
            </a:extLst>
          </p:cNvPr>
          <p:cNvSpPr>
            <a:spLocks xmlns:a="http://schemas.openxmlformats.org/drawingml/2006/main" noGrp="1"/>
          </p:cNvSpPr>
          <p:nvPr/>
        </p:nvSpPr>
        <p:spPr>
          <a:xfrm xmlns:a="http://schemas.openxmlformats.org/drawingml/2006/main">
            <a:off x="8210550" y="2076450"/>
            <a:ext cx="200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D97706"/>
                </a:solidFill>
                <a:latin typeface="Helvetica Neue"/>
                <a:ea typeface="Helvetica Neue"/>
                <a:cs typeface="Helvetica Neue"/>
              </a:defRPr>
            </a:pPr>
            <a:r>
              <a:rPr sz="1125" b="1">
                <a:solidFill>
                  <a:srgbClr val="D97706"/>
                </a:solidFill>
                <a:latin typeface="Helvetica Neue"/>
                <a:ea typeface="Helvetica Neue"/>
                <a:cs typeface="Helvetica Neue"/>
              </a:rPr>
              <a:t>MONITORED ENDPOINT</a:t>
            </a:r>
          </a:p>
        </p:txBody>
      </p:sp>
      <p:sp>
        <p:nvSpPr>
          <p:cNvPr id="34" name="">
            <a:extLst xmlns:a="http://schemas.openxmlformats.org/drawingml/2006/main">
              <a:ext uri="{FF2B5EF4-FFF2-40B4-BE49-F238E27FC236}">
                <a16:creationId xmlns:a16="http://schemas.microsoft.com/office/drawing/2014/main" id="{A7ACEDAE-71C0-40F9-9D26-548651716611}"/>
              </a:ext>
            </a:extLst>
          </p:cNvPr>
          <p:cNvSpPr>
            <a:spLocks xmlns:a="http://schemas.openxmlformats.org/drawingml/2006/main" noGrp="1"/>
          </p:cNvSpPr>
          <p:nvPr/>
        </p:nvSpPr>
        <p:spPr>
          <a:xfrm xmlns:a="http://schemas.openxmlformats.org/drawingml/2006/main">
            <a:off x="8210550" y="270510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175" b="1">
                <a:solidFill>
                  <a:srgbClr val="0B0E14"/>
                </a:solidFill>
                <a:latin typeface="Helvetica Neue"/>
                <a:ea typeface="Helvetica Neue"/>
                <a:cs typeface="Helvetica Neue"/>
              </a:defRPr>
            </a:pPr>
            <a:r>
              <a:rPr sz="2175" b="1">
                <a:solidFill>
                  <a:srgbClr val="0B0E14"/>
                </a:solidFill>
                <a:latin typeface="Helvetica Neue"/>
                <a:ea typeface="Helvetica Neue"/>
                <a:cs typeface="Helvetica Neue"/>
              </a:rPr>
              <a:t>Windows 11 Pro 25H2</a:t>
            </a:r>
          </a:p>
        </p:txBody>
      </p:sp>
      <p:sp>
        <p:nvSpPr>
          <p:cNvPr id="35" name="">
            <a:extLst xmlns:a="http://schemas.openxmlformats.org/drawingml/2006/main">
              <a:ext uri="{FF2B5EF4-FFF2-40B4-BE49-F238E27FC236}">
                <a16:creationId xmlns:a16="http://schemas.microsoft.com/office/drawing/2014/main" id="{0844603F-A9DD-4C44-8CD4-5C508F05CC2E}"/>
              </a:ext>
            </a:extLst>
          </p:cNvPr>
          <p:cNvSpPr>
            <a:spLocks xmlns:a="http://schemas.openxmlformats.org/drawingml/2006/main" noGrp="1"/>
          </p:cNvSpPr>
          <p:nvPr/>
        </p:nvSpPr>
        <p:spPr>
          <a:xfrm xmlns:a="http://schemas.openxmlformats.org/drawingml/2006/main">
            <a:off x="8210550" y="32004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192.168.1.128</a:t>
            </a:r>
          </a:p>
        </p:txBody>
      </p:sp>
      <p:sp>
        <p:nvSpPr>
          <p:cNvPr id="36" name="">
            <a:extLst xmlns:a="http://schemas.openxmlformats.org/drawingml/2006/main">
              <a:ext uri="{FF2B5EF4-FFF2-40B4-BE49-F238E27FC236}">
                <a16:creationId xmlns:a16="http://schemas.microsoft.com/office/drawing/2014/main" id="{4A09FA10-44DB-4A0D-99B9-027B3AD402A1}"/>
              </a:ext>
            </a:extLst>
          </p:cNvPr>
          <p:cNvSpPr>
            <a:spLocks xmlns:a="http://schemas.openxmlformats.org/drawingml/2006/main" noGrp="1"/>
          </p:cNvSpPr>
          <p:nvPr/>
        </p:nvSpPr>
        <p:spPr>
          <a:xfrm xmlns:a="http://schemas.openxmlformats.org/drawingml/2006/main">
            <a:off x="8210550" y="3733800"/>
            <a:ext cx="2952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6355"/>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Velociraptor 0.77.1 client</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Safe simulation + volatile collection</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WinPmem memory acquisition</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PowerShell response automation</a:t>
            </a:r>
          </a:p>
        </p:txBody>
      </p:sp>
      <p:sp>
        <p:nvSpPr>
          <p:cNvPr id="37" name="">
            <a:extLst xmlns:a="http://schemas.openxmlformats.org/drawingml/2006/main">
              <a:ext uri="{FF2B5EF4-FFF2-40B4-BE49-F238E27FC236}">
                <a16:creationId xmlns:a16="http://schemas.microsoft.com/office/drawing/2014/main" id="{26369BDB-E48E-410F-A698-59F26B021F4C}"/>
              </a:ext>
            </a:extLst>
          </p:cNvPr>
          <p:cNvSpPr>
            <a:spLocks xmlns:a="http://schemas.openxmlformats.org/drawingml/2006/main" noGrp="1"/>
          </p:cNvSpPr>
          <p:nvPr/>
        </p:nvSpPr>
        <p:spPr>
          <a:xfrm xmlns:a="http://schemas.openxmlformats.org/drawingml/2006/main">
            <a:off x="4629150" y="2571750"/>
            <a:ext cx="2914650" cy="685800"/>
          </a:xfrm>
          <a:prstGeom xmlns:a="http://schemas.openxmlformats.org/drawingml/2006/main" prst="rightArrow">
            <a:avLst/>
          </a:prstGeom>
          <a:solidFill xmlns:a="http://schemas.openxmlformats.org/drawingml/2006/main">
            <a:srgbClr val="3D8DFF"/>
          </a:solidFill>
          <a:ln xmlns:a="http://schemas.openxmlformats.org/drawingml/2006/main" w="0">
            <a:solidFill>
              <a:srgbClr val="3D8DFF"/>
            </a:solidFill>
            <a:prstDash val="solid"/>
          </a:ln>
        </p:spPr>
      </p:sp>
      <p:sp>
        <p:nvSpPr>
          <p:cNvPr id="38" name="">
            <a:extLst xmlns:a="http://schemas.openxmlformats.org/drawingml/2006/main">
              <a:ext uri="{FF2B5EF4-FFF2-40B4-BE49-F238E27FC236}">
                <a16:creationId xmlns:a16="http://schemas.microsoft.com/office/drawing/2014/main" id="{5DF67549-7FB3-4287-AC37-DDCF0D9565B5}"/>
              </a:ext>
            </a:extLst>
          </p:cNvPr>
          <p:cNvSpPr>
            <a:spLocks xmlns:a="http://schemas.openxmlformats.org/drawingml/2006/main" noGrp="1"/>
          </p:cNvSpPr>
          <p:nvPr/>
        </p:nvSpPr>
        <p:spPr>
          <a:xfrm xmlns:a="http://schemas.openxmlformats.org/drawingml/2006/main">
            <a:off x="4667250" y="27241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TLS CLIENT CHANNEL · TCP 8000</a:t>
            </a:r>
          </a:p>
        </p:txBody>
      </p:sp>
      <p:sp>
        <p:nvSpPr>
          <p:cNvPr id="39" name="">
            <a:extLst xmlns:a="http://schemas.openxmlformats.org/drawingml/2006/main">
              <a:ext uri="{FF2B5EF4-FFF2-40B4-BE49-F238E27FC236}">
                <a16:creationId xmlns:a16="http://schemas.microsoft.com/office/drawing/2014/main" id="{7D7E5B92-86B0-4B4B-94F2-7C8AA567AF24}"/>
              </a:ext>
            </a:extLst>
          </p:cNvPr>
          <p:cNvSpPr>
            <a:spLocks xmlns:a="http://schemas.openxmlformats.org/drawingml/2006/main" noGrp="1"/>
          </p:cNvSpPr>
          <p:nvPr/>
        </p:nvSpPr>
        <p:spPr>
          <a:xfrm xmlns:a="http://schemas.openxmlformats.org/drawingml/2006/main">
            <a:off x="4629150" y="3733800"/>
            <a:ext cx="2914650" cy="685800"/>
          </a:xfrm>
          <a:prstGeom xmlns:a="http://schemas.openxmlformats.org/drawingml/2006/main" prst="leftArrow">
            <a:avLst/>
          </a:prstGeom>
          <a:solidFill xmlns:a="http://schemas.openxmlformats.org/drawingml/2006/main">
            <a:srgbClr val="6DCBF4"/>
          </a:solidFill>
          <a:ln xmlns:a="http://schemas.openxmlformats.org/drawingml/2006/main" w="0">
            <a:solidFill>
              <a:srgbClr val="6DCBF4"/>
            </a:solidFill>
            <a:prstDash val="solid"/>
          </a:ln>
        </p:spPr>
      </p:sp>
      <p:sp>
        <p:nvSpPr>
          <p:cNvPr id="40" name="">
            <a:extLst xmlns:a="http://schemas.openxmlformats.org/drawingml/2006/main">
              <a:ext uri="{FF2B5EF4-FFF2-40B4-BE49-F238E27FC236}">
                <a16:creationId xmlns:a16="http://schemas.microsoft.com/office/drawing/2014/main" id="{B3F10743-AE8A-44AE-B05A-A21CE9D23343}"/>
              </a:ext>
            </a:extLst>
          </p:cNvPr>
          <p:cNvSpPr>
            <a:spLocks xmlns:a="http://schemas.openxmlformats.org/drawingml/2006/main" noGrp="1"/>
          </p:cNvSpPr>
          <p:nvPr/>
        </p:nvSpPr>
        <p:spPr>
          <a:xfrm xmlns:a="http://schemas.openxmlformats.org/drawingml/2006/main">
            <a:off x="4667250" y="3886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B66"/>
                </a:solidFill>
                <a:latin typeface="Helvetica Neue"/>
                <a:ea typeface="Helvetica Neue"/>
                <a:cs typeface="Helvetica Neue"/>
              </a:defRPr>
            </a:pPr>
            <a:r>
              <a:rPr sz="1200" b="1">
                <a:solidFill>
                  <a:srgbClr val="183B66"/>
                </a:solidFill>
                <a:latin typeface="Helvetica Neue"/>
                <a:ea typeface="Helvetica Neue"/>
                <a:cs typeface="Helvetica Neue"/>
              </a:rPr>
              <a:t>COLLECTION TASKS + RESULTS</a:t>
            </a:r>
          </a:p>
        </p:txBody>
      </p:sp>
      <p:sp>
        <p:nvSpPr>
          <p:cNvPr id="41" name="">
            <a:extLst xmlns:a="http://schemas.openxmlformats.org/drawingml/2006/main">
              <a:ext uri="{FF2B5EF4-FFF2-40B4-BE49-F238E27FC236}">
                <a16:creationId xmlns:a16="http://schemas.microsoft.com/office/drawing/2014/main" id="{FA0E6103-68B4-4E1C-8CDA-5E7B36B37E2C}"/>
              </a:ext>
            </a:extLst>
          </p:cNvPr>
          <p:cNvSpPr>
            <a:spLocks xmlns:a="http://schemas.openxmlformats.org/drawingml/2006/main" noGrp="1"/>
          </p:cNvSpPr>
          <p:nvPr/>
        </p:nvSpPr>
        <p:spPr>
          <a:xfrm xmlns:a="http://schemas.openxmlformats.org/drawingml/2006/main">
            <a:off x="4791075" y="4800600"/>
            <a:ext cx="2571750" cy="361950"/>
          </a:xfrm>
          <a:prstGeom xmlns:a="http://schemas.openxmlformats.org/drawingml/2006/main" prst="roundRect">
            <a:avLst>
              <a:gd name="adj" fmla="val 42105"/>
            </a:avLst>
          </a:prstGeom>
          <a:solidFill xmlns:a="http://schemas.openxmlformats.org/drawingml/2006/main">
            <a:srgbClr val="E8EDF2"/>
          </a:solidFill>
          <a:ln xmlns:a="http://schemas.openxmlformats.org/drawingml/2006/main" w="9525">
            <a:solidFill>
              <a:srgbClr val="E8EDF2"/>
            </a:solidFill>
            <a:prstDash val="solid"/>
          </a:ln>
        </p:spPr>
      </p:sp>
      <p:sp>
        <p:nvSpPr>
          <p:cNvPr id="42" name="">
            <a:extLst xmlns:a="http://schemas.openxmlformats.org/drawingml/2006/main">
              <a:ext uri="{FF2B5EF4-FFF2-40B4-BE49-F238E27FC236}">
                <a16:creationId xmlns:a16="http://schemas.microsoft.com/office/drawing/2014/main" id="{DC183510-E9B5-4F23-8784-A42AEE4E8615}"/>
              </a:ext>
            </a:extLst>
          </p:cNvPr>
          <p:cNvSpPr>
            <a:spLocks xmlns:a="http://schemas.openxmlformats.org/drawingml/2006/main" noGrp="1"/>
          </p:cNvSpPr>
          <p:nvPr/>
        </p:nvSpPr>
        <p:spPr>
          <a:xfrm xmlns:a="http://schemas.openxmlformats.org/drawingml/2006/main">
            <a:off x="4791075" y="48006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GUI 127.0.0.1:8889</a:t>
            </a:r>
          </a:p>
        </p:txBody>
      </p:sp>
      <p:sp>
        <p:nvSpPr>
          <p:cNvPr id="43" name="">
            <a:extLst xmlns:a="http://schemas.openxmlformats.org/drawingml/2006/main">
              <a:ext uri="{FF2B5EF4-FFF2-40B4-BE49-F238E27FC236}">
                <a16:creationId xmlns:a16="http://schemas.microsoft.com/office/drawing/2014/main" id="{3890E640-1966-43C6-B565-4BBC7F168D04}"/>
              </a:ext>
            </a:extLst>
          </p:cNvPr>
          <p:cNvSpPr>
            <a:spLocks xmlns:a="http://schemas.openxmlformats.org/drawingml/2006/main" noGrp="1"/>
          </p:cNvSpPr>
          <p:nvPr/>
        </p:nvSpPr>
        <p:spPr>
          <a:xfrm xmlns:a="http://schemas.openxmlformats.org/drawingml/2006/main">
            <a:off x="2286000" y="563880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183B66"/>
                </a:solidFill>
                <a:latin typeface="Helvetica Neue"/>
                <a:ea typeface="Helvetica Neue"/>
                <a:cs typeface="Helvetica Neue"/>
              </a:defRPr>
            </a:pPr>
            <a:r>
              <a:rPr sz="1275" b="1">
                <a:solidFill>
                  <a:srgbClr val="183B66"/>
                </a:solidFill>
                <a:latin typeface="Helvetica Neue"/>
                <a:ea typeface="Helvetica Neue"/>
                <a:cs typeface="Helvetica Neue"/>
              </a:rPr>
              <a:t>Evidence at rest: /mnt/ir-evidence/incident-response-project</a:t>
            </a:r>
          </a:p>
        </p:txBody>
      </p:sp>
    </p:spTree>
    <p:extLst>
      <p:ext uri="{BB962C8B-B14F-4D97-AF65-F5344CB8AC3E}">
        <p14:creationId xmlns:p14="http://schemas.microsoft.com/office/powerpoint/2010/main" val="4780673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A2AB579-A7C3-4646-B9F4-00E458774783}"/>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8F6560F0-73E3-45ED-B7B7-EFEC922FBFDD}"/>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Ten skills selected from the pinned catalog</a:t>
            </a:r>
          </a:p>
        </p:txBody>
      </p:sp>
      <p:sp>
        <p:nvSpPr>
          <p:cNvPr id="3" name="">
            <a:extLst xmlns:a="http://schemas.openxmlformats.org/drawingml/2006/main">
              <a:ext uri="{FF2B5EF4-FFF2-40B4-BE49-F238E27FC236}">
                <a16:creationId xmlns:a16="http://schemas.microsoft.com/office/drawing/2014/main" id="{D2A73C56-DA01-4F2B-9A30-8D1654E23969}"/>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DCAC849D-84C0-4930-B33C-56D139DA54B5}"/>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5C7CE125-04DE-472C-A08F-4B11AFCCEA76}"/>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Repository commit 2fb6a9faff42977f9e64b1f0dcb97bb2a1e67267</a:t>
            </a:r>
          </a:p>
        </p:txBody>
      </p:sp>
      <p:sp>
        <p:nvSpPr>
          <p:cNvPr id="6" name="">
            <a:extLst xmlns:a="http://schemas.openxmlformats.org/drawingml/2006/main">
              <a:ext uri="{FF2B5EF4-FFF2-40B4-BE49-F238E27FC236}">
                <a16:creationId xmlns:a16="http://schemas.microsoft.com/office/drawing/2014/main" id="{381C55FB-97CA-44B2-8FC1-8E3B8A3B8081}"/>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FCCD6AFC-1884-47C8-88A4-072A693494E4}"/>
              </a:ext>
            </a:extLst>
          </p:cNvPr>
          <p:cNvSpPr>
            <a:spLocks xmlns:a="http://schemas.openxmlformats.org/drawingml/2006/main" noGrp="1"/>
          </p:cNvSpPr>
          <p:nvPr/>
        </p:nvSpPr>
        <p:spPr>
          <a:xfrm xmlns:a="http://schemas.openxmlformats.org/drawingml/2006/main">
            <a:off x="457200" y="16573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7EBE351B-FB48-4781-B042-937267FB8BB1}"/>
              </a:ext>
            </a:extLst>
          </p:cNvPr>
          <p:cNvSpPr>
            <a:spLocks xmlns:a="http://schemas.openxmlformats.org/drawingml/2006/main" noGrp="1"/>
          </p:cNvSpPr>
          <p:nvPr/>
        </p:nvSpPr>
        <p:spPr>
          <a:xfrm xmlns:a="http://schemas.openxmlformats.org/drawingml/2006/main">
            <a:off x="609600" y="18192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E2C0CBAA-469C-4FFB-88F6-759C0BCF28B8}"/>
              </a:ext>
            </a:extLst>
          </p:cNvPr>
          <p:cNvSpPr>
            <a:spLocks xmlns:a="http://schemas.openxmlformats.org/drawingml/2006/main" noGrp="1"/>
          </p:cNvSpPr>
          <p:nvPr/>
        </p:nvSpPr>
        <p:spPr>
          <a:xfrm xmlns:a="http://schemas.openxmlformats.org/drawingml/2006/main">
            <a:off x="609600" y="18192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9B59BA92-2E2E-474A-AAD1-FE946F6BBC43}"/>
              </a:ext>
            </a:extLst>
          </p:cNvPr>
          <p:cNvSpPr>
            <a:spLocks xmlns:a="http://schemas.openxmlformats.org/drawingml/2006/main" noGrp="1"/>
          </p:cNvSpPr>
          <p:nvPr/>
        </p:nvSpPr>
        <p:spPr>
          <a:xfrm xmlns:a="http://schemas.openxmlformats.org/drawingml/2006/main">
            <a:off x="1295400" y="18288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implementing-velociraptor-for-ir-collection</a:t>
            </a:r>
          </a:p>
        </p:txBody>
      </p:sp>
      <p:sp>
        <p:nvSpPr>
          <p:cNvPr id="11" name="">
            <a:extLst xmlns:a="http://schemas.openxmlformats.org/drawingml/2006/main">
              <a:ext uri="{FF2B5EF4-FFF2-40B4-BE49-F238E27FC236}">
                <a16:creationId xmlns:a16="http://schemas.microsoft.com/office/drawing/2014/main" id="{4A3DA98A-A21F-468B-868A-CFD0642A659A}"/>
              </a:ext>
            </a:extLst>
          </p:cNvPr>
          <p:cNvSpPr>
            <a:spLocks xmlns:a="http://schemas.openxmlformats.org/drawingml/2006/main" noGrp="1"/>
          </p:cNvSpPr>
          <p:nvPr/>
        </p:nvSpPr>
        <p:spPr>
          <a:xfrm xmlns:a="http://schemas.openxmlformats.org/drawingml/2006/main">
            <a:off x="457200" y="2533650"/>
            <a:ext cx="52578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4D861FC1-EAE8-417C-A33D-82A82ACCB529}"/>
              </a:ext>
            </a:extLst>
          </p:cNvPr>
          <p:cNvSpPr>
            <a:spLocks xmlns:a="http://schemas.openxmlformats.org/drawingml/2006/main" noGrp="1"/>
          </p:cNvSpPr>
          <p:nvPr/>
        </p:nvSpPr>
        <p:spPr>
          <a:xfrm xmlns:a="http://schemas.openxmlformats.org/drawingml/2006/main">
            <a:off x="609600" y="26955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A97B8012-9BAB-4FFD-A0D4-6946857670F4}"/>
              </a:ext>
            </a:extLst>
          </p:cNvPr>
          <p:cNvSpPr>
            <a:spLocks xmlns:a="http://schemas.openxmlformats.org/drawingml/2006/main" noGrp="1"/>
          </p:cNvSpPr>
          <p:nvPr/>
        </p:nvSpPr>
        <p:spPr>
          <a:xfrm xmlns:a="http://schemas.openxmlformats.org/drawingml/2006/main">
            <a:off x="609600" y="26955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02</a:t>
            </a:r>
          </a:p>
        </p:txBody>
      </p:sp>
      <p:sp>
        <p:nvSpPr>
          <p:cNvPr id="14" name="">
            <a:extLst xmlns:a="http://schemas.openxmlformats.org/drawingml/2006/main">
              <a:ext uri="{FF2B5EF4-FFF2-40B4-BE49-F238E27FC236}">
                <a16:creationId xmlns:a16="http://schemas.microsoft.com/office/drawing/2014/main" id="{9D6EF7B6-F48A-4B8E-9E61-145F215E80C3}"/>
              </a:ext>
            </a:extLst>
          </p:cNvPr>
          <p:cNvSpPr>
            <a:spLocks xmlns:a="http://schemas.openxmlformats.org/drawingml/2006/main" noGrp="1"/>
          </p:cNvSpPr>
          <p:nvPr/>
        </p:nvSpPr>
        <p:spPr>
          <a:xfrm xmlns:a="http://schemas.openxmlformats.org/drawingml/2006/main">
            <a:off x="1295400" y="27051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analyzing-security-logs-with-splunk</a:t>
            </a:r>
          </a:p>
        </p:txBody>
      </p:sp>
      <p:sp>
        <p:nvSpPr>
          <p:cNvPr id="15" name="">
            <a:extLst xmlns:a="http://schemas.openxmlformats.org/drawingml/2006/main">
              <a:ext uri="{FF2B5EF4-FFF2-40B4-BE49-F238E27FC236}">
                <a16:creationId xmlns:a16="http://schemas.microsoft.com/office/drawing/2014/main" id="{AF8374A8-F627-41A4-B0DE-920E252A27D1}"/>
              </a:ext>
            </a:extLst>
          </p:cNvPr>
          <p:cNvSpPr>
            <a:spLocks xmlns:a="http://schemas.openxmlformats.org/drawingml/2006/main" noGrp="1"/>
          </p:cNvSpPr>
          <p:nvPr/>
        </p:nvSpPr>
        <p:spPr>
          <a:xfrm xmlns:a="http://schemas.openxmlformats.org/drawingml/2006/main">
            <a:off x="457200" y="34099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2AB0CF30-81EC-479C-AAA2-E6A6CAC1CD55}"/>
              </a:ext>
            </a:extLst>
          </p:cNvPr>
          <p:cNvSpPr>
            <a:spLocks xmlns:a="http://schemas.openxmlformats.org/drawingml/2006/main" noGrp="1"/>
          </p:cNvSpPr>
          <p:nvPr/>
        </p:nvSpPr>
        <p:spPr>
          <a:xfrm xmlns:a="http://schemas.openxmlformats.org/drawingml/2006/main">
            <a:off x="609600" y="35718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17" name="">
            <a:extLst xmlns:a="http://schemas.openxmlformats.org/drawingml/2006/main">
              <a:ext uri="{FF2B5EF4-FFF2-40B4-BE49-F238E27FC236}">
                <a16:creationId xmlns:a16="http://schemas.microsoft.com/office/drawing/2014/main" id="{73D80522-631D-45B4-9D05-54B84865B7B0}"/>
              </a:ext>
            </a:extLst>
          </p:cNvPr>
          <p:cNvSpPr>
            <a:spLocks xmlns:a="http://schemas.openxmlformats.org/drawingml/2006/main" noGrp="1"/>
          </p:cNvSpPr>
          <p:nvPr/>
        </p:nvSpPr>
        <p:spPr>
          <a:xfrm xmlns:a="http://schemas.openxmlformats.org/drawingml/2006/main">
            <a:off x="609600" y="35718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03</a:t>
            </a:r>
          </a:p>
        </p:txBody>
      </p:sp>
      <p:sp>
        <p:nvSpPr>
          <p:cNvPr id="18" name="">
            <a:extLst xmlns:a="http://schemas.openxmlformats.org/drawingml/2006/main">
              <a:ext uri="{FF2B5EF4-FFF2-40B4-BE49-F238E27FC236}">
                <a16:creationId xmlns:a16="http://schemas.microsoft.com/office/drawing/2014/main" id="{A8BDA106-F391-43BF-803F-651B61AB4BF9}"/>
              </a:ext>
            </a:extLst>
          </p:cNvPr>
          <p:cNvSpPr>
            <a:spLocks xmlns:a="http://schemas.openxmlformats.org/drawingml/2006/main" noGrp="1"/>
          </p:cNvSpPr>
          <p:nvPr/>
        </p:nvSpPr>
        <p:spPr>
          <a:xfrm xmlns:a="http://schemas.openxmlformats.org/drawingml/2006/main">
            <a:off x="1295400" y="35814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analyzing-linux-audit-logs-for-intrusion</a:t>
            </a:r>
          </a:p>
        </p:txBody>
      </p:sp>
      <p:sp>
        <p:nvSpPr>
          <p:cNvPr id="19" name="">
            <a:extLst xmlns:a="http://schemas.openxmlformats.org/drawingml/2006/main">
              <a:ext uri="{FF2B5EF4-FFF2-40B4-BE49-F238E27FC236}">
                <a16:creationId xmlns:a16="http://schemas.microsoft.com/office/drawing/2014/main" id="{955B338B-4B55-4806-909D-EE6816475EA2}"/>
              </a:ext>
            </a:extLst>
          </p:cNvPr>
          <p:cNvSpPr>
            <a:spLocks xmlns:a="http://schemas.openxmlformats.org/drawingml/2006/main" noGrp="1"/>
          </p:cNvSpPr>
          <p:nvPr/>
        </p:nvSpPr>
        <p:spPr>
          <a:xfrm xmlns:a="http://schemas.openxmlformats.org/drawingml/2006/main">
            <a:off x="457200" y="4286250"/>
            <a:ext cx="52578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8F5E9B38-ADE9-4D62-9E96-F2CA2FDE7E92}"/>
              </a:ext>
            </a:extLst>
          </p:cNvPr>
          <p:cNvSpPr>
            <a:spLocks xmlns:a="http://schemas.openxmlformats.org/drawingml/2006/main" noGrp="1"/>
          </p:cNvSpPr>
          <p:nvPr/>
        </p:nvSpPr>
        <p:spPr>
          <a:xfrm xmlns:a="http://schemas.openxmlformats.org/drawingml/2006/main">
            <a:off x="609600" y="44481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21" name="">
            <a:extLst xmlns:a="http://schemas.openxmlformats.org/drawingml/2006/main">
              <a:ext uri="{FF2B5EF4-FFF2-40B4-BE49-F238E27FC236}">
                <a16:creationId xmlns:a16="http://schemas.microsoft.com/office/drawing/2014/main" id="{0B4BB6E0-2493-46AF-9DCD-507A8E5A167A}"/>
              </a:ext>
            </a:extLst>
          </p:cNvPr>
          <p:cNvSpPr>
            <a:spLocks xmlns:a="http://schemas.openxmlformats.org/drawingml/2006/main" noGrp="1"/>
          </p:cNvSpPr>
          <p:nvPr/>
        </p:nvSpPr>
        <p:spPr>
          <a:xfrm xmlns:a="http://schemas.openxmlformats.org/drawingml/2006/main">
            <a:off x="609600" y="44481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04</a:t>
            </a:r>
          </a:p>
        </p:txBody>
      </p:sp>
      <p:sp>
        <p:nvSpPr>
          <p:cNvPr id="22" name="">
            <a:extLst xmlns:a="http://schemas.openxmlformats.org/drawingml/2006/main">
              <a:ext uri="{FF2B5EF4-FFF2-40B4-BE49-F238E27FC236}">
                <a16:creationId xmlns:a16="http://schemas.microsoft.com/office/drawing/2014/main" id="{AF9EBCD9-C304-47E6-AD71-907322C0E4FB}"/>
              </a:ext>
            </a:extLst>
          </p:cNvPr>
          <p:cNvSpPr>
            <a:spLocks xmlns:a="http://schemas.openxmlformats.org/drawingml/2006/main" noGrp="1"/>
          </p:cNvSpPr>
          <p:nvPr/>
        </p:nvSpPr>
        <p:spPr>
          <a:xfrm xmlns:a="http://schemas.openxmlformats.org/drawingml/2006/main">
            <a:off x="1295400" y="44577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914"/>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collecting-volatile-evidence-from-compromised-host</a:t>
            </a:r>
          </a:p>
        </p:txBody>
      </p:sp>
      <p:sp>
        <p:nvSpPr>
          <p:cNvPr id="23" name="">
            <a:extLst xmlns:a="http://schemas.openxmlformats.org/drawingml/2006/main">
              <a:ext uri="{FF2B5EF4-FFF2-40B4-BE49-F238E27FC236}">
                <a16:creationId xmlns:a16="http://schemas.microsoft.com/office/drawing/2014/main" id="{46643286-85F0-4476-8287-653BF895E84D}"/>
              </a:ext>
            </a:extLst>
          </p:cNvPr>
          <p:cNvSpPr>
            <a:spLocks xmlns:a="http://schemas.openxmlformats.org/drawingml/2006/main" noGrp="1"/>
          </p:cNvSpPr>
          <p:nvPr/>
        </p:nvSpPr>
        <p:spPr>
          <a:xfrm xmlns:a="http://schemas.openxmlformats.org/drawingml/2006/main">
            <a:off x="457200" y="51625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A53D3284-8053-49CC-8102-27F181C883A3}"/>
              </a:ext>
            </a:extLst>
          </p:cNvPr>
          <p:cNvSpPr>
            <a:spLocks xmlns:a="http://schemas.openxmlformats.org/drawingml/2006/main" noGrp="1"/>
          </p:cNvSpPr>
          <p:nvPr/>
        </p:nvSpPr>
        <p:spPr>
          <a:xfrm xmlns:a="http://schemas.openxmlformats.org/drawingml/2006/main">
            <a:off x="609600" y="53244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25" name="">
            <a:extLst xmlns:a="http://schemas.openxmlformats.org/drawingml/2006/main">
              <a:ext uri="{FF2B5EF4-FFF2-40B4-BE49-F238E27FC236}">
                <a16:creationId xmlns:a16="http://schemas.microsoft.com/office/drawing/2014/main" id="{FEEBAC80-A91E-40D9-87FE-872CE172FFC1}"/>
              </a:ext>
            </a:extLst>
          </p:cNvPr>
          <p:cNvSpPr>
            <a:spLocks xmlns:a="http://schemas.openxmlformats.org/drawingml/2006/main" noGrp="1"/>
          </p:cNvSpPr>
          <p:nvPr/>
        </p:nvSpPr>
        <p:spPr>
          <a:xfrm xmlns:a="http://schemas.openxmlformats.org/drawingml/2006/main">
            <a:off x="609600" y="53244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05</a:t>
            </a:r>
          </a:p>
        </p:txBody>
      </p:sp>
      <p:sp>
        <p:nvSpPr>
          <p:cNvPr id="26" name="">
            <a:extLst xmlns:a="http://schemas.openxmlformats.org/drawingml/2006/main">
              <a:ext uri="{FF2B5EF4-FFF2-40B4-BE49-F238E27FC236}">
                <a16:creationId xmlns:a16="http://schemas.microsoft.com/office/drawing/2014/main" id="{1B5281A5-E68A-4118-95F8-C1C26D9984D5}"/>
              </a:ext>
            </a:extLst>
          </p:cNvPr>
          <p:cNvSpPr>
            <a:spLocks xmlns:a="http://schemas.openxmlformats.org/drawingml/2006/main" noGrp="1"/>
          </p:cNvSpPr>
          <p:nvPr/>
        </p:nvSpPr>
        <p:spPr>
          <a:xfrm xmlns:a="http://schemas.openxmlformats.org/drawingml/2006/main">
            <a:off x="1295400" y="53340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containing-active-breach</a:t>
            </a:r>
          </a:p>
        </p:txBody>
      </p:sp>
      <p:sp>
        <p:nvSpPr>
          <p:cNvPr id="27" name="">
            <a:extLst xmlns:a="http://schemas.openxmlformats.org/drawingml/2006/main">
              <a:ext uri="{FF2B5EF4-FFF2-40B4-BE49-F238E27FC236}">
                <a16:creationId xmlns:a16="http://schemas.microsoft.com/office/drawing/2014/main" id="{10E63BC9-D721-4556-8EEF-D88E639405DE}"/>
              </a:ext>
            </a:extLst>
          </p:cNvPr>
          <p:cNvSpPr>
            <a:spLocks xmlns:a="http://schemas.openxmlformats.org/drawingml/2006/main" noGrp="1"/>
          </p:cNvSpPr>
          <p:nvPr/>
        </p:nvSpPr>
        <p:spPr>
          <a:xfrm xmlns:a="http://schemas.openxmlformats.org/drawingml/2006/main">
            <a:off x="6019800" y="16573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28" name="">
            <a:extLst xmlns:a="http://schemas.openxmlformats.org/drawingml/2006/main">
              <a:ext uri="{FF2B5EF4-FFF2-40B4-BE49-F238E27FC236}">
                <a16:creationId xmlns:a16="http://schemas.microsoft.com/office/drawing/2014/main" id="{A3890F9C-C355-41F4-B346-D4ECFF37A505}"/>
              </a:ext>
            </a:extLst>
          </p:cNvPr>
          <p:cNvSpPr>
            <a:spLocks xmlns:a="http://schemas.openxmlformats.org/drawingml/2006/main" noGrp="1"/>
          </p:cNvSpPr>
          <p:nvPr/>
        </p:nvSpPr>
        <p:spPr>
          <a:xfrm xmlns:a="http://schemas.openxmlformats.org/drawingml/2006/main">
            <a:off x="6172200" y="18192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29" name="">
            <a:extLst xmlns:a="http://schemas.openxmlformats.org/drawingml/2006/main">
              <a:ext uri="{FF2B5EF4-FFF2-40B4-BE49-F238E27FC236}">
                <a16:creationId xmlns:a16="http://schemas.microsoft.com/office/drawing/2014/main" id="{720C9D86-B2AC-448D-B7F6-CC8721C28069}"/>
              </a:ext>
            </a:extLst>
          </p:cNvPr>
          <p:cNvSpPr>
            <a:spLocks xmlns:a="http://schemas.openxmlformats.org/drawingml/2006/main" noGrp="1"/>
          </p:cNvSpPr>
          <p:nvPr/>
        </p:nvSpPr>
        <p:spPr>
          <a:xfrm xmlns:a="http://schemas.openxmlformats.org/drawingml/2006/main">
            <a:off x="6172200" y="18192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06</a:t>
            </a:r>
          </a:p>
        </p:txBody>
      </p:sp>
      <p:sp>
        <p:nvSpPr>
          <p:cNvPr id="30" name="">
            <a:extLst xmlns:a="http://schemas.openxmlformats.org/drawingml/2006/main">
              <a:ext uri="{FF2B5EF4-FFF2-40B4-BE49-F238E27FC236}">
                <a16:creationId xmlns:a16="http://schemas.microsoft.com/office/drawing/2014/main" id="{7A483B58-AA0D-4412-BFE2-E2C4AF1D565B}"/>
              </a:ext>
            </a:extLst>
          </p:cNvPr>
          <p:cNvSpPr>
            <a:spLocks xmlns:a="http://schemas.openxmlformats.org/drawingml/2006/main" noGrp="1"/>
          </p:cNvSpPr>
          <p:nvPr/>
        </p:nvSpPr>
        <p:spPr>
          <a:xfrm xmlns:a="http://schemas.openxmlformats.org/drawingml/2006/main">
            <a:off x="6858000" y="18288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conducting-memory-forensics-with-volatility</a:t>
            </a:r>
          </a:p>
        </p:txBody>
      </p:sp>
      <p:sp>
        <p:nvSpPr>
          <p:cNvPr id="31" name="">
            <a:extLst xmlns:a="http://schemas.openxmlformats.org/drawingml/2006/main">
              <a:ext uri="{FF2B5EF4-FFF2-40B4-BE49-F238E27FC236}">
                <a16:creationId xmlns:a16="http://schemas.microsoft.com/office/drawing/2014/main" id="{95A4406E-4690-4038-9A69-507BE088E0D4}"/>
              </a:ext>
            </a:extLst>
          </p:cNvPr>
          <p:cNvSpPr>
            <a:spLocks xmlns:a="http://schemas.openxmlformats.org/drawingml/2006/main" noGrp="1"/>
          </p:cNvSpPr>
          <p:nvPr/>
        </p:nvSpPr>
        <p:spPr>
          <a:xfrm xmlns:a="http://schemas.openxmlformats.org/drawingml/2006/main">
            <a:off x="6019800" y="2533650"/>
            <a:ext cx="52578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B8BCC4"/>
            </a:solidFill>
            <a:prstDash val="solid"/>
          </a:ln>
        </p:spPr>
      </p:sp>
      <p:sp>
        <p:nvSpPr>
          <p:cNvPr id="32" name="">
            <a:extLst xmlns:a="http://schemas.openxmlformats.org/drawingml/2006/main">
              <a:ext uri="{FF2B5EF4-FFF2-40B4-BE49-F238E27FC236}">
                <a16:creationId xmlns:a16="http://schemas.microsoft.com/office/drawing/2014/main" id="{BF1C97EC-DD33-464A-A62B-D330033901DC}"/>
              </a:ext>
            </a:extLst>
          </p:cNvPr>
          <p:cNvSpPr>
            <a:spLocks xmlns:a="http://schemas.openxmlformats.org/drawingml/2006/main" noGrp="1"/>
          </p:cNvSpPr>
          <p:nvPr/>
        </p:nvSpPr>
        <p:spPr>
          <a:xfrm xmlns:a="http://schemas.openxmlformats.org/drawingml/2006/main">
            <a:off x="6172200" y="26955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33" name="">
            <a:extLst xmlns:a="http://schemas.openxmlformats.org/drawingml/2006/main">
              <a:ext uri="{FF2B5EF4-FFF2-40B4-BE49-F238E27FC236}">
                <a16:creationId xmlns:a16="http://schemas.microsoft.com/office/drawing/2014/main" id="{CC96792A-1FAD-4A61-9D62-6AF4C54F0AE0}"/>
              </a:ext>
            </a:extLst>
          </p:cNvPr>
          <p:cNvSpPr>
            <a:spLocks xmlns:a="http://schemas.openxmlformats.org/drawingml/2006/main" noGrp="1"/>
          </p:cNvSpPr>
          <p:nvPr/>
        </p:nvSpPr>
        <p:spPr>
          <a:xfrm xmlns:a="http://schemas.openxmlformats.org/drawingml/2006/main">
            <a:off x="6172200" y="26955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07</a:t>
            </a:r>
          </a:p>
        </p:txBody>
      </p:sp>
      <p:sp>
        <p:nvSpPr>
          <p:cNvPr id="34" name="">
            <a:extLst xmlns:a="http://schemas.openxmlformats.org/drawingml/2006/main">
              <a:ext uri="{FF2B5EF4-FFF2-40B4-BE49-F238E27FC236}">
                <a16:creationId xmlns:a16="http://schemas.microsoft.com/office/drawing/2014/main" id="{89C5E059-15D2-430F-BFC7-263B18B55604}"/>
              </a:ext>
            </a:extLst>
          </p:cNvPr>
          <p:cNvSpPr>
            <a:spLocks xmlns:a="http://schemas.openxmlformats.org/drawingml/2006/main" noGrp="1"/>
          </p:cNvSpPr>
          <p:nvPr/>
        </p:nvSpPr>
        <p:spPr>
          <a:xfrm xmlns:a="http://schemas.openxmlformats.org/drawingml/2006/main">
            <a:off x="6858000" y="27051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performing-disk-forensics-investigation</a:t>
            </a:r>
          </a:p>
        </p:txBody>
      </p:sp>
      <p:sp>
        <p:nvSpPr>
          <p:cNvPr id="35" name="">
            <a:extLst xmlns:a="http://schemas.openxmlformats.org/drawingml/2006/main">
              <a:ext uri="{FF2B5EF4-FFF2-40B4-BE49-F238E27FC236}">
                <a16:creationId xmlns:a16="http://schemas.microsoft.com/office/drawing/2014/main" id="{41A3B294-59E6-4CDE-9208-F9DE3BA06974}"/>
              </a:ext>
            </a:extLst>
          </p:cNvPr>
          <p:cNvSpPr>
            <a:spLocks xmlns:a="http://schemas.openxmlformats.org/drawingml/2006/main" noGrp="1"/>
          </p:cNvSpPr>
          <p:nvPr/>
        </p:nvSpPr>
        <p:spPr>
          <a:xfrm xmlns:a="http://schemas.openxmlformats.org/drawingml/2006/main">
            <a:off x="6019800" y="34099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36" name="">
            <a:extLst xmlns:a="http://schemas.openxmlformats.org/drawingml/2006/main">
              <a:ext uri="{FF2B5EF4-FFF2-40B4-BE49-F238E27FC236}">
                <a16:creationId xmlns:a16="http://schemas.microsoft.com/office/drawing/2014/main" id="{CE37D589-33B0-4EF6-9C08-AAFE2E85BCE4}"/>
              </a:ext>
            </a:extLst>
          </p:cNvPr>
          <p:cNvSpPr>
            <a:spLocks xmlns:a="http://schemas.openxmlformats.org/drawingml/2006/main" noGrp="1"/>
          </p:cNvSpPr>
          <p:nvPr/>
        </p:nvSpPr>
        <p:spPr>
          <a:xfrm xmlns:a="http://schemas.openxmlformats.org/drawingml/2006/main">
            <a:off x="6172200" y="35718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37" name="">
            <a:extLst xmlns:a="http://schemas.openxmlformats.org/drawingml/2006/main">
              <a:ext uri="{FF2B5EF4-FFF2-40B4-BE49-F238E27FC236}">
                <a16:creationId xmlns:a16="http://schemas.microsoft.com/office/drawing/2014/main" id="{0D86A90F-1B7B-4275-A37B-56EA4AE080FD}"/>
              </a:ext>
            </a:extLst>
          </p:cNvPr>
          <p:cNvSpPr>
            <a:spLocks xmlns:a="http://schemas.openxmlformats.org/drawingml/2006/main" noGrp="1"/>
          </p:cNvSpPr>
          <p:nvPr/>
        </p:nvSpPr>
        <p:spPr>
          <a:xfrm xmlns:a="http://schemas.openxmlformats.org/drawingml/2006/main">
            <a:off x="6172200" y="35718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08</a:t>
            </a:r>
          </a:p>
        </p:txBody>
      </p:sp>
      <p:sp>
        <p:nvSpPr>
          <p:cNvPr id="38" name="">
            <a:extLst xmlns:a="http://schemas.openxmlformats.org/drawingml/2006/main">
              <a:ext uri="{FF2B5EF4-FFF2-40B4-BE49-F238E27FC236}">
                <a16:creationId xmlns:a16="http://schemas.microsoft.com/office/drawing/2014/main" id="{20D02DCB-78F1-4DFD-9970-D2CD81B3B2CD}"/>
              </a:ext>
            </a:extLst>
          </p:cNvPr>
          <p:cNvSpPr>
            <a:spLocks xmlns:a="http://schemas.openxmlformats.org/drawingml/2006/main" noGrp="1"/>
          </p:cNvSpPr>
          <p:nvPr/>
        </p:nvSpPr>
        <p:spPr>
          <a:xfrm xmlns:a="http://schemas.openxmlformats.org/drawingml/2006/main">
            <a:off x="6858000" y="35814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collecting-indicators-of-compromise</a:t>
            </a:r>
          </a:p>
        </p:txBody>
      </p:sp>
      <p:sp>
        <p:nvSpPr>
          <p:cNvPr id="39" name="">
            <a:extLst xmlns:a="http://schemas.openxmlformats.org/drawingml/2006/main">
              <a:ext uri="{FF2B5EF4-FFF2-40B4-BE49-F238E27FC236}">
                <a16:creationId xmlns:a16="http://schemas.microsoft.com/office/drawing/2014/main" id="{4D4E040F-C5D6-4323-901F-65A6DF9A2198}"/>
              </a:ext>
            </a:extLst>
          </p:cNvPr>
          <p:cNvSpPr>
            <a:spLocks xmlns:a="http://schemas.openxmlformats.org/drawingml/2006/main" noGrp="1"/>
          </p:cNvSpPr>
          <p:nvPr/>
        </p:nvSpPr>
        <p:spPr>
          <a:xfrm xmlns:a="http://schemas.openxmlformats.org/drawingml/2006/main">
            <a:off x="6019800" y="4286250"/>
            <a:ext cx="5257800" cy="685800"/>
          </a:xfrm>
          <a:prstGeom xmlns:a="http://schemas.openxmlformats.org/drawingml/2006/main" prst="roundRect">
            <a:avLst>
              <a:gd name="adj" fmla="val 19444"/>
            </a:avLst>
          </a:prstGeom>
          <a:solidFill xmlns:a="http://schemas.openxmlformats.org/drawingml/2006/main">
            <a:srgbClr val="FFFFFF"/>
          </a:solidFill>
          <a:ln xmlns:a="http://schemas.openxmlformats.org/drawingml/2006/main" w="9525">
            <a:solidFill>
              <a:srgbClr val="B8BCC4"/>
            </a:solidFill>
            <a:prstDash val="solid"/>
          </a:ln>
        </p:spPr>
      </p:sp>
      <p:sp>
        <p:nvSpPr>
          <p:cNvPr id="40" name="">
            <a:extLst xmlns:a="http://schemas.openxmlformats.org/drawingml/2006/main">
              <a:ext uri="{FF2B5EF4-FFF2-40B4-BE49-F238E27FC236}">
                <a16:creationId xmlns:a16="http://schemas.microsoft.com/office/drawing/2014/main" id="{2F47383B-1537-465E-8AF0-7E923CAE2C2F}"/>
              </a:ext>
            </a:extLst>
          </p:cNvPr>
          <p:cNvSpPr>
            <a:spLocks xmlns:a="http://schemas.openxmlformats.org/drawingml/2006/main" noGrp="1"/>
          </p:cNvSpPr>
          <p:nvPr/>
        </p:nvSpPr>
        <p:spPr>
          <a:xfrm xmlns:a="http://schemas.openxmlformats.org/drawingml/2006/main">
            <a:off x="6172200" y="44481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41" name="">
            <a:extLst xmlns:a="http://schemas.openxmlformats.org/drawingml/2006/main">
              <a:ext uri="{FF2B5EF4-FFF2-40B4-BE49-F238E27FC236}">
                <a16:creationId xmlns:a16="http://schemas.microsoft.com/office/drawing/2014/main" id="{7CC6CD34-FFDF-4321-91E4-01971063300B}"/>
              </a:ext>
            </a:extLst>
          </p:cNvPr>
          <p:cNvSpPr>
            <a:spLocks xmlns:a="http://schemas.openxmlformats.org/drawingml/2006/main" noGrp="1"/>
          </p:cNvSpPr>
          <p:nvPr/>
        </p:nvSpPr>
        <p:spPr>
          <a:xfrm xmlns:a="http://schemas.openxmlformats.org/drawingml/2006/main">
            <a:off x="6172200" y="44481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09</a:t>
            </a:r>
          </a:p>
        </p:txBody>
      </p:sp>
      <p:sp>
        <p:nvSpPr>
          <p:cNvPr id="42" name="">
            <a:extLst xmlns:a="http://schemas.openxmlformats.org/drawingml/2006/main">
              <a:ext uri="{FF2B5EF4-FFF2-40B4-BE49-F238E27FC236}">
                <a16:creationId xmlns:a16="http://schemas.microsoft.com/office/drawing/2014/main" id="{A3106614-6E57-4A2F-B031-5D584EC4AA49}"/>
              </a:ext>
            </a:extLst>
          </p:cNvPr>
          <p:cNvSpPr>
            <a:spLocks xmlns:a="http://schemas.openxmlformats.org/drawingml/2006/main" noGrp="1"/>
          </p:cNvSpPr>
          <p:nvPr/>
        </p:nvSpPr>
        <p:spPr>
          <a:xfrm xmlns:a="http://schemas.openxmlformats.org/drawingml/2006/main">
            <a:off x="6858000" y="44577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building-incident-timeline-with-timesketch</a:t>
            </a:r>
          </a:p>
        </p:txBody>
      </p:sp>
      <p:sp>
        <p:nvSpPr>
          <p:cNvPr id="43" name="">
            <a:extLst xmlns:a="http://schemas.openxmlformats.org/drawingml/2006/main">
              <a:ext uri="{FF2B5EF4-FFF2-40B4-BE49-F238E27FC236}">
                <a16:creationId xmlns:a16="http://schemas.microsoft.com/office/drawing/2014/main" id="{2BCD3BF3-17C3-4B39-B214-CDABA060DCD4}"/>
              </a:ext>
            </a:extLst>
          </p:cNvPr>
          <p:cNvSpPr>
            <a:spLocks xmlns:a="http://schemas.openxmlformats.org/drawingml/2006/main" noGrp="1"/>
          </p:cNvSpPr>
          <p:nvPr/>
        </p:nvSpPr>
        <p:spPr>
          <a:xfrm xmlns:a="http://schemas.openxmlformats.org/drawingml/2006/main">
            <a:off x="6019800" y="5162550"/>
            <a:ext cx="5257800" cy="685800"/>
          </a:xfrm>
          <a:prstGeom xmlns:a="http://schemas.openxmlformats.org/drawingml/2006/main" prst="roundRect">
            <a:avLst>
              <a:gd name="adj" fmla="val 19444"/>
            </a:avLst>
          </a:prstGeom>
          <a:solidFill xmlns:a="http://schemas.openxmlformats.org/drawingml/2006/main">
            <a:srgbClr val="F4F6F8"/>
          </a:solidFill>
          <a:ln xmlns:a="http://schemas.openxmlformats.org/drawingml/2006/main" w="9525">
            <a:solidFill>
              <a:srgbClr val="B8BCC4"/>
            </a:solidFill>
            <a:prstDash val="solid"/>
          </a:ln>
        </p:spPr>
      </p:sp>
      <p:sp>
        <p:nvSpPr>
          <p:cNvPr id="44" name="">
            <a:extLst xmlns:a="http://schemas.openxmlformats.org/drawingml/2006/main">
              <a:ext uri="{FF2B5EF4-FFF2-40B4-BE49-F238E27FC236}">
                <a16:creationId xmlns:a16="http://schemas.microsoft.com/office/drawing/2014/main" id="{ACA79D0B-56CA-4977-800E-F24504C40C18}"/>
              </a:ext>
            </a:extLst>
          </p:cNvPr>
          <p:cNvSpPr>
            <a:spLocks xmlns:a="http://schemas.openxmlformats.org/drawingml/2006/main" noGrp="1"/>
          </p:cNvSpPr>
          <p:nvPr/>
        </p:nvSpPr>
        <p:spPr>
          <a:xfrm xmlns:a="http://schemas.openxmlformats.org/drawingml/2006/main">
            <a:off x="6172200" y="5324475"/>
            <a:ext cx="495300" cy="361950"/>
          </a:xfrm>
          <a:prstGeom xmlns:a="http://schemas.openxmlformats.org/drawingml/2006/main" prst="roundRect">
            <a:avLst>
              <a:gd name="adj" fmla="val 42105"/>
            </a:avLst>
          </a:prstGeom>
          <a:solidFill xmlns:a="http://schemas.openxmlformats.org/drawingml/2006/main">
            <a:srgbClr val="3D8DFF"/>
          </a:solidFill>
          <a:ln xmlns:a="http://schemas.openxmlformats.org/drawingml/2006/main" w="9525">
            <a:solidFill>
              <a:srgbClr val="3D8DFF"/>
            </a:solidFill>
            <a:prstDash val="solid"/>
          </a:ln>
        </p:spPr>
      </p:sp>
      <p:sp>
        <p:nvSpPr>
          <p:cNvPr id="45" name="">
            <a:extLst xmlns:a="http://schemas.openxmlformats.org/drawingml/2006/main">
              <a:ext uri="{FF2B5EF4-FFF2-40B4-BE49-F238E27FC236}">
                <a16:creationId xmlns:a16="http://schemas.microsoft.com/office/drawing/2014/main" id="{4F4CD655-23F5-46D5-84D4-DC2E8CB121EE}"/>
              </a:ext>
            </a:extLst>
          </p:cNvPr>
          <p:cNvSpPr>
            <a:spLocks xmlns:a="http://schemas.openxmlformats.org/drawingml/2006/main" noGrp="1"/>
          </p:cNvSpPr>
          <p:nvPr/>
        </p:nvSpPr>
        <p:spPr>
          <a:xfrm xmlns:a="http://schemas.openxmlformats.org/drawingml/2006/main">
            <a:off x="6172200" y="5324475"/>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10</a:t>
            </a:r>
          </a:p>
        </p:txBody>
      </p:sp>
      <p:sp>
        <p:nvSpPr>
          <p:cNvPr id="46" name="">
            <a:extLst xmlns:a="http://schemas.openxmlformats.org/drawingml/2006/main">
              <a:ext uri="{FF2B5EF4-FFF2-40B4-BE49-F238E27FC236}">
                <a16:creationId xmlns:a16="http://schemas.microsoft.com/office/drawing/2014/main" id="{B5C26C72-E796-4C09-83D2-7181DAEA57F1}"/>
              </a:ext>
            </a:extLst>
          </p:cNvPr>
          <p:cNvSpPr>
            <a:spLocks xmlns:a="http://schemas.openxmlformats.org/drawingml/2006/main" noGrp="1"/>
          </p:cNvSpPr>
          <p:nvPr/>
        </p:nvSpPr>
        <p:spPr>
          <a:xfrm xmlns:a="http://schemas.openxmlformats.org/drawingml/2006/main">
            <a:off x="6858000" y="533400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0B0E14"/>
                </a:solidFill>
                <a:latin typeface="Helvetica Neue"/>
                <a:ea typeface="Helvetica Neue"/>
                <a:cs typeface="Helvetica Neue"/>
              </a:defRPr>
            </a:pPr>
            <a:r>
              <a:rPr sz="1350" b="1">
                <a:solidFill>
                  <a:srgbClr val="0B0E14"/>
                </a:solidFill>
                <a:latin typeface="Helvetica Neue"/>
                <a:ea typeface="Helvetica Neue"/>
                <a:cs typeface="Helvetica Neue"/>
              </a:rPr>
              <a:t>validating-backup-integrity-for-recovery</a:t>
            </a:r>
          </a:p>
        </p:txBody>
      </p:sp>
      <p:sp>
        <p:nvSpPr>
          <p:cNvPr id="47" name="">
            <a:extLst xmlns:a="http://schemas.openxmlformats.org/drawingml/2006/main">
              <a:ext uri="{FF2B5EF4-FFF2-40B4-BE49-F238E27FC236}">
                <a16:creationId xmlns:a16="http://schemas.microsoft.com/office/drawing/2014/main" id="{7B8B9EAC-CE59-4C33-9E9A-C82700D852C5}"/>
              </a:ext>
            </a:extLst>
          </p:cNvPr>
          <p:cNvSpPr>
            <a:spLocks xmlns:a="http://schemas.openxmlformats.org/drawingml/2006/main" noGrp="1"/>
          </p:cNvSpPr>
          <p:nvPr/>
        </p:nvSpPr>
        <p:spPr>
          <a:xfrm xmlns:a="http://schemas.openxmlformats.org/drawingml/2006/main">
            <a:off x="4495800" y="6076950"/>
            <a:ext cx="3200400" cy="342900"/>
          </a:xfrm>
          <a:prstGeom xmlns:a="http://schemas.openxmlformats.org/drawingml/2006/main" prst="roundRect">
            <a:avLst>
              <a:gd name="adj" fmla="val 44444"/>
            </a:avLst>
          </a:prstGeom>
          <a:solidFill xmlns:a="http://schemas.openxmlformats.org/drawingml/2006/main">
            <a:srgbClr val="DDF5EB"/>
          </a:solidFill>
          <a:ln xmlns:a="http://schemas.openxmlformats.org/drawingml/2006/main" w="9525">
            <a:solidFill>
              <a:srgbClr val="DDF5EB"/>
            </a:solidFill>
            <a:prstDash val="solid"/>
          </a:ln>
        </p:spPr>
      </p:sp>
      <p:sp>
        <p:nvSpPr>
          <p:cNvPr id="48" name="">
            <a:extLst xmlns:a="http://schemas.openxmlformats.org/drawingml/2006/main">
              <a:ext uri="{FF2B5EF4-FFF2-40B4-BE49-F238E27FC236}">
                <a16:creationId xmlns:a16="http://schemas.microsoft.com/office/drawing/2014/main" id="{BEF9A67B-79AE-4854-A69B-69D15DC9417B}"/>
              </a:ext>
            </a:extLst>
          </p:cNvPr>
          <p:cNvSpPr>
            <a:spLocks xmlns:a="http://schemas.openxmlformats.org/drawingml/2006/main" noGrp="1"/>
          </p:cNvSpPr>
          <p:nvPr/>
        </p:nvSpPr>
        <p:spPr>
          <a:xfrm xmlns:a="http://schemas.openxmlformats.org/drawingml/2006/main">
            <a:off x="4495800" y="607695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10 / 10 VERIFIED ON UBUNTU</a:t>
            </a:r>
          </a:p>
        </p:txBody>
      </p:sp>
    </p:spTree>
    <p:extLst>
      <p:ext uri="{BB962C8B-B14F-4D97-AF65-F5344CB8AC3E}">
        <p14:creationId xmlns:p14="http://schemas.microsoft.com/office/powerpoint/2010/main" val="21057790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 name="">
            <a:extLst xmlns:a="http://schemas.openxmlformats.org/drawingml/2006/main">
              <a:ext uri="{FF2B5EF4-FFF2-40B4-BE49-F238E27FC236}">
                <a16:creationId xmlns:a16="http://schemas.microsoft.com/office/drawing/2014/main" id="{7FE1DD80-CD84-4975-82B6-5108A33264DB}"/>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435013FF-7D8C-48AC-81A1-EA4549138882}"/>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5AAD883B-A3EB-4E17-9D6B-ECD6B61B20F7}"/>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68CBD1CA-21CD-40F3-A1A3-B22D6EAD86AF}"/>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BDCC9CF4-D91E-47D2-B5B7-DE56BC79CD3A}"/>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BE8B229C-BE87-453C-9F07-990F50B2EDC9}"/>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71824606-F722-4C91-ADB0-CB517879A5D2}"/>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8093D557-CD09-4C5F-A4B1-D8A077F798B2}"/>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336EA657-5EBB-4245-B008-EA75521CD745}"/>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476471DF-61F4-40D2-BB9D-148297FDB8E6}"/>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EBE823F8-2083-4BD5-8D80-64871F7C249A}"/>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CC0F6FE7-414D-4CC6-A820-9068C0F74CEB}"/>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CC5BF5DE-0F09-49C2-AF93-79DDD23875A3}"/>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7AB9951E-567C-4BF9-B323-ED1DC587A4C2}"/>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8A7FB8F0-D4C5-4BAB-81FF-6BECFB153EDA}"/>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F7341AB3-DE52-4594-888B-92FD6F14D0C5}"/>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5BC5475B-466C-4820-B507-03D0D34E28D0}"/>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8467691D-5E5F-4811-994A-071B413AD150}"/>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A19FDCCC-2024-4748-890E-4D295DCE98C6}"/>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AC810948-5DFC-4546-99E1-899A8FF4018C}"/>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One workflow, not ten disconnected demonstrations</a:t>
            </a:r>
          </a:p>
        </p:txBody>
      </p:sp>
      <p:sp>
        <p:nvSpPr>
          <p:cNvPr id="21" name="">
            <a:extLst xmlns:a="http://schemas.openxmlformats.org/drawingml/2006/main">
              <a:ext uri="{FF2B5EF4-FFF2-40B4-BE49-F238E27FC236}">
                <a16:creationId xmlns:a16="http://schemas.microsoft.com/office/drawing/2014/main" id="{3FC9FFC4-B00B-4210-BCA7-1E1C41D77277}"/>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05</a:t>
            </a:r>
          </a:p>
        </p:txBody>
      </p:sp>
      <p:sp>
        <p:nvSpPr>
          <p:cNvPr id="22" name="">
            <a:extLst xmlns:a="http://schemas.openxmlformats.org/drawingml/2006/main">
              <a:ext uri="{FF2B5EF4-FFF2-40B4-BE49-F238E27FC236}">
                <a16:creationId xmlns:a16="http://schemas.microsoft.com/office/drawing/2014/main" id="{6574227A-232A-4B2E-9D3C-388FADCDC177}"/>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27CC3703-0006-4B94-9809-C0983F3F1B2C}"/>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24" name="">
            <a:extLst xmlns:a="http://schemas.openxmlformats.org/drawingml/2006/main">
              <a:ext uri="{FF2B5EF4-FFF2-40B4-BE49-F238E27FC236}">
                <a16:creationId xmlns:a16="http://schemas.microsoft.com/office/drawing/2014/main" id="{0D1A7BBC-A713-4FDB-9E7E-C144847FAD84}"/>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7153903F-F344-47EB-BC90-5AD85DC8AF89}"/>
              </a:ext>
            </a:extLst>
          </p:cNvPr>
          <p:cNvSpPr>
            <a:spLocks xmlns:a="http://schemas.openxmlformats.org/drawingml/2006/main" noGrp="1"/>
          </p:cNvSpPr>
          <p:nvPr/>
        </p:nvSpPr>
        <p:spPr>
          <a:xfrm xmlns:a="http://schemas.openxmlformats.org/drawingml/2006/main">
            <a:off x="457200" y="180975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D92AD584-FFF1-48F3-BF5E-335F99EE2F63}"/>
              </a:ext>
            </a:extLst>
          </p:cNvPr>
          <p:cNvSpPr>
            <a:spLocks xmlns:a="http://schemas.openxmlformats.org/drawingml/2006/main" noGrp="1"/>
          </p:cNvSpPr>
          <p:nvPr/>
        </p:nvSpPr>
        <p:spPr>
          <a:xfrm xmlns:a="http://schemas.openxmlformats.org/drawingml/2006/main">
            <a:off x="647700" y="2000250"/>
            <a:ext cx="457200" cy="38100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27" name="">
            <a:extLst xmlns:a="http://schemas.openxmlformats.org/drawingml/2006/main">
              <a:ext uri="{FF2B5EF4-FFF2-40B4-BE49-F238E27FC236}">
                <a16:creationId xmlns:a16="http://schemas.microsoft.com/office/drawing/2014/main" id="{853C75CF-3306-4A84-80C2-9199C2BCF20C}"/>
              </a:ext>
            </a:extLst>
          </p:cNvPr>
          <p:cNvSpPr>
            <a:spLocks xmlns:a="http://schemas.openxmlformats.org/drawingml/2006/main" noGrp="1"/>
          </p:cNvSpPr>
          <p:nvPr/>
        </p:nvSpPr>
        <p:spPr>
          <a:xfrm xmlns:a="http://schemas.openxmlformats.org/drawingml/2006/main">
            <a:off x="647700" y="2000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1</a:t>
            </a:r>
          </a:p>
        </p:txBody>
      </p:sp>
      <p:sp>
        <p:nvSpPr>
          <p:cNvPr id="28" name="">
            <a:extLst xmlns:a="http://schemas.openxmlformats.org/drawingml/2006/main">
              <a:ext uri="{FF2B5EF4-FFF2-40B4-BE49-F238E27FC236}">
                <a16:creationId xmlns:a16="http://schemas.microsoft.com/office/drawing/2014/main" id="{F31911C1-6FDC-472E-86D6-710479E9FA89}"/>
              </a:ext>
            </a:extLst>
          </p:cNvPr>
          <p:cNvSpPr>
            <a:spLocks xmlns:a="http://schemas.openxmlformats.org/drawingml/2006/main" noGrp="1"/>
          </p:cNvSpPr>
          <p:nvPr/>
        </p:nvSpPr>
        <p:spPr>
          <a:xfrm xmlns:a="http://schemas.openxmlformats.org/drawingml/2006/main">
            <a:off x="1295400" y="2019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PREPARE</a:t>
            </a:r>
          </a:p>
        </p:txBody>
      </p:sp>
      <p:sp>
        <p:nvSpPr>
          <p:cNvPr id="29" name="">
            <a:extLst xmlns:a="http://schemas.openxmlformats.org/drawingml/2006/main">
              <a:ext uri="{FF2B5EF4-FFF2-40B4-BE49-F238E27FC236}">
                <a16:creationId xmlns:a16="http://schemas.microsoft.com/office/drawing/2014/main" id="{01239995-4C60-4035-9ABE-2040F62D7998}"/>
              </a:ext>
            </a:extLst>
          </p:cNvPr>
          <p:cNvSpPr>
            <a:spLocks xmlns:a="http://schemas.openxmlformats.org/drawingml/2006/main" noGrp="1"/>
          </p:cNvSpPr>
          <p:nvPr/>
        </p:nvSpPr>
        <p:spPr>
          <a:xfrm xmlns:a="http://schemas.openxmlformats.org/drawingml/2006/main">
            <a:off x="685800" y="25908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Baseline, time sync, evidence storage</a:t>
            </a:r>
          </a:p>
        </p:txBody>
      </p:sp>
      <p:sp>
        <p:nvSpPr>
          <p:cNvPr id="30" name="">
            <a:extLst xmlns:a="http://schemas.openxmlformats.org/drawingml/2006/main">
              <a:ext uri="{FF2B5EF4-FFF2-40B4-BE49-F238E27FC236}">
                <a16:creationId xmlns:a16="http://schemas.microsoft.com/office/drawing/2014/main" id="{66CB33A1-6F18-4CA9-87FB-A82EE89FB355}"/>
              </a:ext>
            </a:extLst>
          </p:cNvPr>
          <p:cNvSpPr>
            <a:spLocks xmlns:a="http://schemas.openxmlformats.org/drawingml/2006/main" noGrp="1"/>
          </p:cNvSpPr>
          <p:nvPr/>
        </p:nvSpPr>
        <p:spPr>
          <a:xfrm xmlns:a="http://schemas.openxmlformats.org/drawingml/2006/main">
            <a:off x="3790950" y="2352675"/>
            <a:ext cx="361950" cy="4000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31" name="">
            <a:extLst xmlns:a="http://schemas.openxmlformats.org/drawingml/2006/main">
              <a:ext uri="{FF2B5EF4-FFF2-40B4-BE49-F238E27FC236}">
                <a16:creationId xmlns:a16="http://schemas.microsoft.com/office/drawing/2014/main" id="{3A89F0CD-3554-41B2-9BB3-A047EB17F96A}"/>
              </a:ext>
            </a:extLst>
          </p:cNvPr>
          <p:cNvSpPr>
            <a:spLocks xmlns:a="http://schemas.openxmlformats.org/drawingml/2006/main" noGrp="1"/>
          </p:cNvSpPr>
          <p:nvPr/>
        </p:nvSpPr>
        <p:spPr>
          <a:xfrm xmlns:a="http://schemas.openxmlformats.org/drawingml/2006/main">
            <a:off x="4267200" y="180975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32" name="">
            <a:extLst xmlns:a="http://schemas.openxmlformats.org/drawingml/2006/main">
              <a:ext uri="{FF2B5EF4-FFF2-40B4-BE49-F238E27FC236}">
                <a16:creationId xmlns:a16="http://schemas.microsoft.com/office/drawing/2014/main" id="{E5DD22D3-DC0D-44BB-A119-F2CC921F3C7E}"/>
              </a:ext>
            </a:extLst>
          </p:cNvPr>
          <p:cNvSpPr>
            <a:spLocks xmlns:a="http://schemas.openxmlformats.org/drawingml/2006/main" noGrp="1"/>
          </p:cNvSpPr>
          <p:nvPr/>
        </p:nvSpPr>
        <p:spPr>
          <a:xfrm xmlns:a="http://schemas.openxmlformats.org/drawingml/2006/main">
            <a:off x="4457700" y="2000250"/>
            <a:ext cx="457200" cy="38100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33" name="">
            <a:extLst xmlns:a="http://schemas.openxmlformats.org/drawingml/2006/main">
              <a:ext uri="{FF2B5EF4-FFF2-40B4-BE49-F238E27FC236}">
                <a16:creationId xmlns:a16="http://schemas.microsoft.com/office/drawing/2014/main" id="{82D8FA1F-C4A4-42AA-9C89-9600FDB51216}"/>
              </a:ext>
            </a:extLst>
          </p:cNvPr>
          <p:cNvSpPr>
            <a:spLocks xmlns:a="http://schemas.openxmlformats.org/drawingml/2006/main" noGrp="1"/>
          </p:cNvSpPr>
          <p:nvPr/>
        </p:nvSpPr>
        <p:spPr>
          <a:xfrm xmlns:a="http://schemas.openxmlformats.org/drawingml/2006/main">
            <a:off x="4457700" y="2000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2</a:t>
            </a:r>
          </a:p>
        </p:txBody>
      </p:sp>
      <p:sp>
        <p:nvSpPr>
          <p:cNvPr id="34" name="">
            <a:extLst xmlns:a="http://schemas.openxmlformats.org/drawingml/2006/main">
              <a:ext uri="{FF2B5EF4-FFF2-40B4-BE49-F238E27FC236}">
                <a16:creationId xmlns:a16="http://schemas.microsoft.com/office/drawing/2014/main" id="{5E6E6A44-96C9-463F-9339-985C851CD98B}"/>
              </a:ext>
            </a:extLst>
          </p:cNvPr>
          <p:cNvSpPr>
            <a:spLocks xmlns:a="http://schemas.openxmlformats.org/drawingml/2006/main" noGrp="1"/>
          </p:cNvSpPr>
          <p:nvPr/>
        </p:nvSpPr>
        <p:spPr>
          <a:xfrm xmlns:a="http://schemas.openxmlformats.org/drawingml/2006/main">
            <a:off x="5105400" y="2019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COLLECT</a:t>
            </a:r>
          </a:p>
        </p:txBody>
      </p:sp>
      <p:sp>
        <p:nvSpPr>
          <p:cNvPr id="35" name="">
            <a:extLst xmlns:a="http://schemas.openxmlformats.org/drawingml/2006/main">
              <a:ext uri="{FF2B5EF4-FFF2-40B4-BE49-F238E27FC236}">
                <a16:creationId xmlns:a16="http://schemas.microsoft.com/office/drawing/2014/main" id="{22A75DCE-FC88-47A7-BFB9-BF8BF1D74057}"/>
              </a:ext>
            </a:extLst>
          </p:cNvPr>
          <p:cNvSpPr>
            <a:spLocks xmlns:a="http://schemas.openxmlformats.org/drawingml/2006/main" noGrp="1"/>
          </p:cNvSpPr>
          <p:nvPr/>
        </p:nvSpPr>
        <p:spPr>
          <a:xfrm xmlns:a="http://schemas.openxmlformats.org/drawingml/2006/main">
            <a:off x="4495800" y="25908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Velociraptor, auditd, volatile data</a:t>
            </a:r>
          </a:p>
        </p:txBody>
      </p:sp>
      <p:sp>
        <p:nvSpPr>
          <p:cNvPr id="36" name="">
            <a:extLst xmlns:a="http://schemas.openxmlformats.org/drawingml/2006/main">
              <a:ext uri="{FF2B5EF4-FFF2-40B4-BE49-F238E27FC236}">
                <a16:creationId xmlns:a16="http://schemas.microsoft.com/office/drawing/2014/main" id="{6E4C533A-FDC2-4923-B052-5E59CC185173}"/>
              </a:ext>
            </a:extLst>
          </p:cNvPr>
          <p:cNvSpPr>
            <a:spLocks xmlns:a="http://schemas.openxmlformats.org/drawingml/2006/main" noGrp="1"/>
          </p:cNvSpPr>
          <p:nvPr/>
        </p:nvSpPr>
        <p:spPr>
          <a:xfrm xmlns:a="http://schemas.openxmlformats.org/drawingml/2006/main">
            <a:off x="7600950" y="2352675"/>
            <a:ext cx="361950" cy="4000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37" name="">
            <a:extLst xmlns:a="http://schemas.openxmlformats.org/drawingml/2006/main">
              <a:ext uri="{FF2B5EF4-FFF2-40B4-BE49-F238E27FC236}">
                <a16:creationId xmlns:a16="http://schemas.microsoft.com/office/drawing/2014/main" id="{ECE9D0FE-EC2B-4D31-AAB9-F1E18D0617DE}"/>
              </a:ext>
            </a:extLst>
          </p:cNvPr>
          <p:cNvSpPr>
            <a:spLocks xmlns:a="http://schemas.openxmlformats.org/drawingml/2006/main" noGrp="1"/>
          </p:cNvSpPr>
          <p:nvPr/>
        </p:nvSpPr>
        <p:spPr>
          <a:xfrm xmlns:a="http://schemas.openxmlformats.org/drawingml/2006/main">
            <a:off x="8077200" y="180975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38" name="">
            <a:extLst xmlns:a="http://schemas.openxmlformats.org/drawingml/2006/main">
              <a:ext uri="{FF2B5EF4-FFF2-40B4-BE49-F238E27FC236}">
                <a16:creationId xmlns:a16="http://schemas.microsoft.com/office/drawing/2014/main" id="{E58338BA-35BA-4D90-B614-2F51EEDBBF03}"/>
              </a:ext>
            </a:extLst>
          </p:cNvPr>
          <p:cNvSpPr>
            <a:spLocks xmlns:a="http://schemas.openxmlformats.org/drawingml/2006/main" noGrp="1"/>
          </p:cNvSpPr>
          <p:nvPr/>
        </p:nvSpPr>
        <p:spPr>
          <a:xfrm xmlns:a="http://schemas.openxmlformats.org/drawingml/2006/main">
            <a:off x="8267700" y="2000250"/>
            <a:ext cx="457200" cy="381000"/>
          </a:xfrm>
          <a:prstGeom xmlns:a="http://schemas.openxmlformats.org/drawingml/2006/main" prst="roundRect">
            <a:avLst>
              <a:gd name="adj" fmla="val 40000"/>
            </a:avLst>
          </a:prstGeom>
          <a:solidFill xmlns:a="http://schemas.openxmlformats.org/drawingml/2006/main">
            <a:srgbClr val="3D8DFF"/>
          </a:solidFill>
          <a:ln xmlns:a="http://schemas.openxmlformats.org/drawingml/2006/main" w="9525">
            <a:solidFill>
              <a:srgbClr val="3D8DFF"/>
            </a:solidFill>
            <a:prstDash val="solid"/>
          </a:ln>
        </p:spPr>
      </p:sp>
      <p:sp>
        <p:nvSpPr>
          <p:cNvPr id="39" name="">
            <a:extLst xmlns:a="http://schemas.openxmlformats.org/drawingml/2006/main">
              <a:ext uri="{FF2B5EF4-FFF2-40B4-BE49-F238E27FC236}">
                <a16:creationId xmlns:a16="http://schemas.microsoft.com/office/drawing/2014/main" id="{18CCBFE5-BEEF-4967-AE64-7C4C2E775793}"/>
              </a:ext>
            </a:extLst>
          </p:cNvPr>
          <p:cNvSpPr>
            <a:spLocks xmlns:a="http://schemas.openxmlformats.org/drawingml/2006/main" noGrp="1"/>
          </p:cNvSpPr>
          <p:nvPr/>
        </p:nvSpPr>
        <p:spPr>
          <a:xfrm xmlns:a="http://schemas.openxmlformats.org/drawingml/2006/main">
            <a:off x="8267700" y="200025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3</a:t>
            </a:r>
          </a:p>
        </p:txBody>
      </p:sp>
      <p:sp>
        <p:nvSpPr>
          <p:cNvPr id="40" name="">
            <a:extLst xmlns:a="http://schemas.openxmlformats.org/drawingml/2006/main">
              <a:ext uri="{FF2B5EF4-FFF2-40B4-BE49-F238E27FC236}">
                <a16:creationId xmlns:a16="http://schemas.microsoft.com/office/drawing/2014/main" id="{3287ACE6-3693-45B2-8BB8-5C8F306BB83C}"/>
              </a:ext>
            </a:extLst>
          </p:cNvPr>
          <p:cNvSpPr>
            <a:spLocks xmlns:a="http://schemas.openxmlformats.org/drawingml/2006/main" noGrp="1"/>
          </p:cNvSpPr>
          <p:nvPr/>
        </p:nvSpPr>
        <p:spPr>
          <a:xfrm xmlns:a="http://schemas.openxmlformats.org/drawingml/2006/main">
            <a:off x="8915400" y="2019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CORRELATE</a:t>
            </a:r>
          </a:p>
        </p:txBody>
      </p:sp>
      <p:sp>
        <p:nvSpPr>
          <p:cNvPr id="41" name="">
            <a:extLst xmlns:a="http://schemas.openxmlformats.org/drawingml/2006/main">
              <a:ext uri="{FF2B5EF4-FFF2-40B4-BE49-F238E27FC236}">
                <a16:creationId xmlns:a16="http://schemas.microsoft.com/office/drawing/2014/main" id="{B69BB868-D1D9-4027-8D78-DEF7122BC1B1}"/>
              </a:ext>
            </a:extLst>
          </p:cNvPr>
          <p:cNvSpPr>
            <a:spLocks xmlns:a="http://schemas.openxmlformats.org/drawingml/2006/main" noGrp="1"/>
          </p:cNvSpPr>
          <p:nvPr/>
        </p:nvSpPr>
        <p:spPr>
          <a:xfrm xmlns:a="http://schemas.openxmlformats.org/drawingml/2006/main">
            <a:off x="8305800" y="259080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Splunk queries and IOC register</a:t>
            </a:r>
          </a:p>
        </p:txBody>
      </p:sp>
      <p:sp>
        <p:nvSpPr>
          <p:cNvPr id="42" name="">
            <a:extLst xmlns:a="http://schemas.openxmlformats.org/drawingml/2006/main">
              <a:ext uri="{FF2B5EF4-FFF2-40B4-BE49-F238E27FC236}">
                <a16:creationId xmlns:a16="http://schemas.microsoft.com/office/drawing/2014/main" id="{9D90DE56-E194-4193-AEE0-6B97D8D035A2}"/>
              </a:ext>
            </a:extLst>
          </p:cNvPr>
          <p:cNvSpPr>
            <a:spLocks xmlns:a="http://schemas.openxmlformats.org/drawingml/2006/main" noGrp="1"/>
          </p:cNvSpPr>
          <p:nvPr/>
        </p:nvSpPr>
        <p:spPr>
          <a:xfrm xmlns:a="http://schemas.openxmlformats.org/drawingml/2006/main">
            <a:off x="457200" y="384810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43" name="">
            <a:extLst xmlns:a="http://schemas.openxmlformats.org/drawingml/2006/main">
              <a:ext uri="{FF2B5EF4-FFF2-40B4-BE49-F238E27FC236}">
                <a16:creationId xmlns:a16="http://schemas.microsoft.com/office/drawing/2014/main" id="{3EBEE76B-0F42-4F44-9BD4-983639685889}"/>
              </a:ext>
            </a:extLst>
          </p:cNvPr>
          <p:cNvSpPr>
            <a:spLocks xmlns:a="http://schemas.openxmlformats.org/drawingml/2006/main" noGrp="1"/>
          </p:cNvSpPr>
          <p:nvPr/>
        </p:nvSpPr>
        <p:spPr>
          <a:xfrm xmlns:a="http://schemas.openxmlformats.org/drawingml/2006/main">
            <a:off x="647700" y="4038600"/>
            <a:ext cx="457200" cy="381000"/>
          </a:xfrm>
          <a:prstGeom xmlns:a="http://schemas.openxmlformats.org/drawingml/2006/main" prst="roundRect">
            <a:avLst>
              <a:gd name="adj" fmla="val 40000"/>
            </a:avLst>
          </a:prstGeom>
          <a:solidFill xmlns:a="http://schemas.openxmlformats.org/drawingml/2006/main">
            <a:srgbClr val="183B66"/>
          </a:solidFill>
          <a:ln xmlns:a="http://schemas.openxmlformats.org/drawingml/2006/main" w="9525">
            <a:solidFill>
              <a:srgbClr val="183B66"/>
            </a:solidFill>
            <a:prstDash val="solid"/>
          </a:ln>
        </p:spPr>
      </p:sp>
      <p:sp>
        <p:nvSpPr>
          <p:cNvPr id="44" name="">
            <a:extLst xmlns:a="http://schemas.openxmlformats.org/drawingml/2006/main">
              <a:ext uri="{FF2B5EF4-FFF2-40B4-BE49-F238E27FC236}">
                <a16:creationId xmlns:a16="http://schemas.microsoft.com/office/drawing/2014/main" id="{5557707F-4752-4BFD-A01D-9BD0F94E8D3C}"/>
              </a:ext>
            </a:extLst>
          </p:cNvPr>
          <p:cNvSpPr>
            <a:spLocks xmlns:a="http://schemas.openxmlformats.org/drawingml/2006/main" noGrp="1"/>
          </p:cNvSpPr>
          <p:nvPr/>
        </p:nvSpPr>
        <p:spPr>
          <a:xfrm xmlns:a="http://schemas.openxmlformats.org/drawingml/2006/main">
            <a:off x="647700" y="403860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4</a:t>
            </a:r>
          </a:p>
        </p:txBody>
      </p:sp>
      <p:sp>
        <p:nvSpPr>
          <p:cNvPr id="45" name="">
            <a:extLst xmlns:a="http://schemas.openxmlformats.org/drawingml/2006/main">
              <a:ext uri="{FF2B5EF4-FFF2-40B4-BE49-F238E27FC236}">
                <a16:creationId xmlns:a16="http://schemas.microsoft.com/office/drawing/2014/main" id="{065096A8-7A7A-4613-B513-7DB7ACE2C709}"/>
              </a:ext>
            </a:extLst>
          </p:cNvPr>
          <p:cNvSpPr>
            <a:spLocks xmlns:a="http://schemas.openxmlformats.org/drawingml/2006/main" noGrp="1"/>
          </p:cNvSpPr>
          <p:nvPr/>
        </p:nvSpPr>
        <p:spPr>
          <a:xfrm xmlns:a="http://schemas.openxmlformats.org/drawingml/2006/main">
            <a:off x="1295400" y="4057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CONTAIN</a:t>
            </a:r>
          </a:p>
        </p:txBody>
      </p:sp>
      <p:sp>
        <p:nvSpPr>
          <p:cNvPr id="46" name="">
            <a:extLst xmlns:a="http://schemas.openxmlformats.org/drawingml/2006/main">
              <a:ext uri="{FF2B5EF4-FFF2-40B4-BE49-F238E27FC236}">
                <a16:creationId xmlns:a16="http://schemas.microsoft.com/office/drawing/2014/main" id="{4C63AD6A-4E84-4BF8-B57D-672A59B49094}"/>
              </a:ext>
            </a:extLst>
          </p:cNvPr>
          <p:cNvSpPr>
            <a:spLocks xmlns:a="http://schemas.openxmlformats.org/drawingml/2006/main" noGrp="1"/>
          </p:cNvSpPr>
          <p:nvPr/>
        </p:nvSpPr>
        <p:spPr>
          <a:xfrm xmlns:a="http://schemas.openxmlformats.org/drawingml/2006/main">
            <a:off x="685800" y="462915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Narrow RFC 5737 rules + rollback</a:t>
            </a:r>
          </a:p>
        </p:txBody>
      </p:sp>
      <p:sp>
        <p:nvSpPr>
          <p:cNvPr id="47" name="">
            <a:extLst xmlns:a="http://schemas.openxmlformats.org/drawingml/2006/main">
              <a:ext uri="{FF2B5EF4-FFF2-40B4-BE49-F238E27FC236}">
                <a16:creationId xmlns:a16="http://schemas.microsoft.com/office/drawing/2014/main" id="{75572DAC-3446-4B9F-8AFF-5CFAE791C652}"/>
              </a:ext>
            </a:extLst>
          </p:cNvPr>
          <p:cNvSpPr>
            <a:spLocks xmlns:a="http://schemas.openxmlformats.org/drawingml/2006/main" noGrp="1"/>
          </p:cNvSpPr>
          <p:nvPr/>
        </p:nvSpPr>
        <p:spPr>
          <a:xfrm xmlns:a="http://schemas.openxmlformats.org/drawingml/2006/main">
            <a:off x="3790950" y="4391025"/>
            <a:ext cx="361950" cy="4000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48" name="">
            <a:extLst xmlns:a="http://schemas.openxmlformats.org/drawingml/2006/main">
              <a:ext uri="{FF2B5EF4-FFF2-40B4-BE49-F238E27FC236}">
                <a16:creationId xmlns:a16="http://schemas.microsoft.com/office/drawing/2014/main" id="{A4B6ED5C-0F62-44E2-9B12-C95897DA8888}"/>
              </a:ext>
            </a:extLst>
          </p:cNvPr>
          <p:cNvSpPr>
            <a:spLocks xmlns:a="http://schemas.openxmlformats.org/drawingml/2006/main" noGrp="1"/>
          </p:cNvSpPr>
          <p:nvPr/>
        </p:nvSpPr>
        <p:spPr>
          <a:xfrm xmlns:a="http://schemas.openxmlformats.org/drawingml/2006/main">
            <a:off x="4267200" y="384810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49" name="">
            <a:extLst xmlns:a="http://schemas.openxmlformats.org/drawingml/2006/main">
              <a:ext uri="{FF2B5EF4-FFF2-40B4-BE49-F238E27FC236}">
                <a16:creationId xmlns:a16="http://schemas.microsoft.com/office/drawing/2014/main" id="{3F0009C9-2A3F-497A-8B90-13368C3D2832}"/>
              </a:ext>
            </a:extLst>
          </p:cNvPr>
          <p:cNvSpPr>
            <a:spLocks xmlns:a="http://schemas.openxmlformats.org/drawingml/2006/main" noGrp="1"/>
          </p:cNvSpPr>
          <p:nvPr/>
        </p:nvSpPr>
        <p:spPr>
          <a:xfrm xmlns:a="http://schemas.openxmlformats.org/drawingml/2006/main">
            <a:off x="4457700" y="4038600"/>
            <a:ext cx="457200" cy="381000"/>
          </a:xfrm>
          <a:prstGeom xmlns:a="http://schemas.openxmlformats.org/drawingml/2006/main" prst="roundRect">
            <a:avLst>
              <a:gd name="adj" fmla="val 40000"/>
            </a:avLst>
          </a:prstGeom>
          <a:solidFill xmlns:a="http://schemas.openxmlformats.org/drawingml/2006/main">
            <a:srgbClr val="183B66"/>
          </a:solidFill>
          <a:ln xmlns:a="http://schemas.openxmlformats.org/drawingml/2006/main" w="9525">
            <a:solidFill>
              <a:srgbClr val="183B66"/>
            </a:solidFill>
            <a:prstDash val="solid"/>
          </a:ln>
        </p:spPr>
      </p:sp>
      <p:sp>
        <p:nvSpPr>
          <p:cNvPr id="50" name="">
            <a:extLst xmlns:a="http://schemas.openxmlformats.org/drawingml/2006/main">
              <a:ext uri="{FF2B5EF4-FFF2-40B4-BE49-F238E27FC236}">
                <a16:creationId xmlns:a16="http://schemas.microsoft.com/office/drawing/2014/main" id="{1899C22F-41F9-4264-A354-84E39B6AFA1C}"/>
              </a:ext>
            </a:extLst>
          </p:cNvPr>
          <p:cNvSpPr>
            <a:spLocks xmlns:a="http://schemas.openxmlformats.org/drawingml/2006/main" noGrp="1"/>
          </p:cNvSpPr>
          <p:nvPr/>
        </p:nvSpPr>
        <p:spPr>
          <a:xfrm xmlns:a="http://schemas.openxmlformats.org/drawingml/2006/main">
            <a:off x="4457700" y="403860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5</a:t>
            </a:r>
          </a:p>
        </p:txBody>
      </p:sp>
      <p:sp>
        <p:nvSpPr>
          <p:cNvPr id="51" name="">
            <a:extLst xmlns:a="http://schemas.openxmlformats.org/drawingml/2006/main">
              <a:ext uri="{FF2B5EF4-FFF2-40B4-BE49-F238E27FC236}">
                <a16:creationId xmlns:a16="http://schemas.microsoft.com/office/drawing/2014/main" id="{345DA8CC-2C43-4E01-B94C-9AC3E60CBD3A}"/>
              </a:ext>
            </a:extLst>
          </p:cNvPr>
          <p:cNvSpPr>
            <a:spLocks xmlns:a="http://schemas.openxmlformats.org/drawingml/2006/main" noGrp="1"/>
          </p:cNvSpPr>
          <p:nvPr/>
        </p:nvSpPr>
        <p:spPr>
          <a:xfrm xmlns:a="http://schemas.openxmlformats.org/drawingml/2006/main">
            <a:off x="5105400" y="4057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ANALYZE</a:t>
            </a:r>
          </a:p>
        </p:txBody>
      </p:sp>
      <p:sp>
        <p:nvSpPr>
          <p:cNvPr id="52" name="">
            <a:extLst xmlns:a="http://schemas.openxmlformats.org/drawingml/2006/main">
              <a:ext uri="{FF2B5EF4-FFF2-40B4-BE49-F238E27FC236}">
                <a16:creationId xmlns:a16="http://schemas.microsoft.com/office/drawing/2014/main" id="{B60824BA-9AD1-46D1-8447-E3A5ECA98B00}"/>
              </a:ext>
            </a:extLst>
          </p:cNvPr>
          <p:cNvSpPr>
            <a:spLocks xmlns:a="http://schemas.openxmlformats.org/drawingml/2006/main" noGrp="1"/>
          </p:cNvSpPr>
          <p:nvPr/>
        </p:nvSpPr>
        <p:spPr>
          <a:xfrm xmlns:a="http://schemas.openxmlformats.org/drawingml/2006/main">
            <a:off x="4495800" y="462915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Timeline, memory, disk forensics</a:t>
            </a:r>
          </a:p>
        </p:txBody>
      </p:sp>
      <p:sp>
        <p:nvSpPr>
          <p:cNvPr id="53" name="">
            <a:extLst xmlns:a="http://schemas.openxmlformats.org/drawingml/2006/main">
              <a:ext uri="{FF2B5EF4-FFF2-40B4-BE49-F238E27FC236}">
                <a16:creationId xmlns:a16="http://schemas.microsoft.com/office/drawing/2014/main" id="{FFAD4418-CEC0-40DF-896D-BB3E21B4C79A}"/>
              </a:ext>
            </a:extLst>
          </p:cNvPr>
          <p:cNvSpPr>
            <a:spLocks xmlns:a="http://schemas.openxmlformats.org/drawingml/2006/main" noGrp="1"/>
          </p:cNvSpPr>
          <p:nvPr/>
        </p:nvSpPr>
        <p:spPr>
          <a:xfrm xmlns:a="http://schemas.openxmlformats.org/drawingml/2006/main">
            <a:off x="7600950" y="4391025"/>
            <a:ext cx="361950" cy="40005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54" name="">
            <a:extLst xmlns:a="http://schemas.openxmlformats.org/drawingml/2006/main">
              <a:ext uri="{FF2B5EF4-FFF2-40B4-BE49-F238E27FC236}">
                <a16:creationId xmlns:a16="http://schemas.microsoft.com/office/drawing/2014/main" id="{4849FCA4-5DC3-4838-BBD4-F32D284898C3}"/>
              </a:ext>
            </a:extLst>
          </p:cNvPr>
          <p:cNvSpPr>
            <a:spLocks xmlns:a="http://schemas.openxmlformats.org/drawingml/2006/main" noGrp="1"/>
          </p:cNvSpPr>
          <p:nvPr/>
        </p:nvSpPr>
        <p:spPr>
          <a:xfrm xmlns:a="http://schemas.openxmlformats.org/drawingml/2006/main">
            <a:off x="8077200" y="3848100"/>
            <a:ext cx="3276600" cy="1504950"/>
          </a:xfrm>
          <a:prstGeom xmlns:a="http://schemas.openxmlformats.org/drawingml/2006/main" prst="roundRect">
            <a:avLst>
              <a:gd name="adj" fmla="val 11392"/>
            </a:avLst>
          </a:prstGeom>
          <a:solidFill xmlns:a="http://schemas.openxmlformats.org/drawingml/2006/main">
            <a:srgbClr val="FFFFFF"/>
          </a:solidFill>
          <a:ln xmlns:a="http://schemas.openxmlformats.org/drawingml/2006/main" w="9525">
            <a:solidFill>
              <a:srgbClr val="B8BCC4"/>
            </a:solidFill>
            <a:prstDash val="solid"/>
          </a:ln>
        </p:spPr>
      </p:sp>
      <p:sp>
        <p:nvSpPr>
          <p:cNvPr id="55" name="">
            <a:extLst xmlns:a="http://schemas.openxmlformats.org/drawingml/2006/main">
              <a:ext uri="{FF2B5EF4-FFF2-40B4-BE49-F238E27FC236}">
                <a16:creationId xmlns:a16="http://schemas.microsoft.com/office/drawing/2014/main" id="{30BDEBAA-AE45-4757-9FC5-95F87EF3BFC3}"/>
              </a:ext>
            </a:extLst>
          </p:cNvPr>
          <p:cNvSpPr>
            <a:spLocks xmlns:a="http://schemas.openxmlformats.org/drawingml/2006/main" noGrp="1"/>
          </p:cNvSpPr>
          <p:nvPr/>
        </p:nvSpPr>
        <p:spPr>
          <a:xfrm xmlns:a="http://schemas.openxmlformats.org/drawingml/2006/main">
            <a:off x="8267700" y="4038600"/>
            <a:ext cx="457200" cy="381000"/>
          </a:xfrm>
          <a:prstGeom xmlns:a="http://schemas.openxmlformats.org/drawingml/2006/main" prst="roundRect">
            <a:avLst>
              <a:gd name="adj" fmla="val 40000"/>
            </a:avLst>
          </a:prstGeom>
          <a:solidFill xmlns:a="http://schemas.openxmlformats.org/drawingml/2006/main">
            <a:srgbClr val="183B66"/>
          </a:solidFill>
          <a:ln xmlns:a="http://schemas.openxmlformats.org/drawingml/2006/main" w="9525">
            <a:solidFill>
              <a:srgbClr val="183B66"/>
            </a:solidFill>
            <a:prstDash val="solid"/>
          </a:ln>
        </p:spPr>
      </p:sp>
      <p:sp>
        <p:nvSpPr>
          <p:cNvPr id="56" name="">
            <a:extLst xmlns:a="http://schemas.openxmlformats.org/drawingml/2006/main">
              <a:ext uri="{FF2B5EF4-FFF2-40B4-BE49-F238E27FC236}">
                <a16:creationId xmlns:a16="http://schemas.microsoft.com/office/drawing/2014/main" id="{3544215A-A4B8-4B94-9AC6-8875FC4DA9D1}"/>
              </a:ext>
            </a:extLst>
          </p:cNvPr>
          <p:cNvSpPr>
            <a:spLocks xmlns:a="http://schemas.openxmlformats.org/drawingml/2006/main" noGrp="1"/>
          </p:cNvSpPr>
          <p:nvPr/>
        </p:nvSpPr>
        <p:spPr>
          <a:xfrm xmlns:a="http://schemas.openxmlformats.org/drawingml/2006/main">
            <a:off x="8267700" y="4038600"/>
            <a:ext cx="457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6</a:t>
            </a:r>
          </a:p>
        </p:txBody>
      </p:sp>
      <p:sp>
        <p:nvSpPr>
          <p:cNvPr id="57" name="">
            <a:extLst xmlns:a="http://schemas.openxmlformats.org/drawingml/2006/main">
              <a:ext uri="{FF2B5EF4-FFF2-40B4-BE49-F238E27FC236}">
                <a16:creationId xmlns:a16="http://schemas.microsoft.com/office/drawing/2014/main" id="{95075490-A5C7-40C7-8874-F877760674DC}"/>
              </a:ext>
            </a:extLst>
          </p:cNvPr>
          <p:cNvSpPr>
            <a:spLocks xmlns:a="http://schemas.openxmlformats.org/drawingml/2006/main" noGrp="1"/>
          </p:cNvSpPr>
          <p:nvPr/>
        </p:nvSpPr>
        <p:spPr>
          <a:xfrm xmlns:a="http://schemas.openxmlformats.org/drawingml/2006/main">
            <a:off x="8915400" y="40576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650" b="1">
                <a:solidFill>
                  <a:srgbClr val="0B0E14"/>
                </a:solidFill>
                <a:latin typeface="Helvetica Neue"/>
                <a:ea typeface="Helvetica Neue"/>
                <a:cs typeface="Helvetica Neue"/>
              </a:defRPr>
            </a:pPr>
            <a:r>
              <a:rPr sz="1650" b="1">
                <a:solidFill>
                  <a:srgbClr val="0B0E14"/>
                </a:solidFill>
                <a:latin typeface="Helvetica Neue"/>
                <a:ea typeface="Helvetica Neue"/>
                <a:cs typeface="Helvetica Neue"/>
              </a:rPr>
              <a:t>RECOVER</a:t>
            </a:r>
          </a:p>
        </p:txBody>
      </p:sp>
      <p:sp>
        <p:nvSpPr>
          <p:cNvPr id="58" name="">
            <a:extLst xmlns:a="http://schemas.openxmlformats.org/drawingml/2006/main">
              <a:ext uri="{FF2B5EF4-FFF2-40B4-BE49-F238E27FC236}">
                <a16:creationId xmlns:a16="http://schemas.microsoft.com/office/drawing/2014/main" id="{4B1476C5-EBEC-425B-8E43-3A53CDB62869}"/>
              </a:ext>
            </a:extLst>
          </p:cNvPr>
          <p:cNvSpPr>
            <a:spLocks xmlns:a="http://schemas.openxmlformats.org/drawingml/2006/main" noGrp="1"/>
          </p:cNvSpPr>
          <p:nvPr/>
        </p:nvSpPr>
        <p:spPr>
          <a:xfrm xmlns:a="http://schemas.openxmlformats.org/drawingml/2006/main">
            <a:off x="8305800" y="4629150"/>
            <a:ext cx="2819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350">
                <a:solidFill>
                  <a:srgbClr val="5C6675"/>
                </a:solidFill>
                <a:latin typeface="Helvetica Neue"/>
                <a:ea typeface="Helvetica Neue"/>
                <a:cs typeface="Helvetica Neue"/>
              </a:defRPr>
            </a:pPr>
            <a:r>
              <a:rPr sz="1350">
                <a:solidFill>
                  <a:srgbClr val="5C6675"/>
                </a:solidFill>
                <a:latin typeface="Helvetica Neue"/>
                <a:ea typeface="Helvetica Neue"/>
                <a:cs typeface="Helvetica Neue"/>
              </a:rPr>
              <a:t>Backup validation + final archive</a:t>
            </a:r>
          </a:p>
        </p:txBody>
      </p:sp>
      <p:sp>
        <p:nvSpPr>
          <p:cNvPr id="59" name="">
            <a:extLst xmlns:a="http://schemas.openxmlformats.org/drawingml/2006/main">
              <a:ext uri="{FF2B5EF4-FFF2-40B4-BE49-F238E27FC236}">
                <a16:creationId xmlns:a16="http://schemas.microsoft.com/office/drawing/2014/main" id="{190306EB-2D31-4408-966E-CC6AC4991DFA}"/>
              </a:ext>
            </a:extLst>
          </p:cNvPr>
          <p:cNvSpPr>
            <a:spLocks xmlns:a="http://schemas.openxmlformats.org/drawingml/2006/main" noGrp="1"/>
          </p:cNvSpPr>
          <p:nvPr/>
        </p:nvSpPr>
        <p:spPr>
          <a:xfrm xmlns:a="http://schemas.openxmlformats.org/drawingml/2006/main">
            <a:off x="10534650" y="3333750"/>
            <a:ext cx="495300" cy="438150"/>
          </a:xfrm>
          <a:prstGeom xmlns:a="http://schemas.openxmlformats.org/drawingml/2006/main" prst="downArrow">
            <a:avLst/>
          </a:prstGeom>
          <a:solidFill xmlns:a="http://schemas.openxmlformats.org/drawingml/2006/main">
            <a:srgbClr val="6DCBF4"/>
          </a:solidFill>
          <a:ln xmlns:a="http://schemas.openxmlformats.org/drawingml/2006/main" w="0">
            <a:solidFill>
              <a:srgbClr val="6DCBF4"/>
            </a:solidFill>
            <a:prstDash val="solid"/>
          </a:ln>
        </p:spPr>
      </p:sp>
      <p:sp>
        <p:nvSpPr>
          <p:cNvPr id="60" name="">
            <a:extLst xmlns:a="http://schemas.openxmlformats.org/drawingml/2006/main">
              <a:ext uri="{FF2B5EF4-FFF2-40B4-BE49-F238E27FC236}">
                <a16:creationId xmlns:a16="http://schemas.microsoft.com/office/drawing/2014/main" id="{914F3D1B-B021-465C-BE38-05CEA587667B}"/>
              </a:ext>
            </a:extLst>
          </p:cNvPr>
          <p:cNvSpPr>
            <a:spLocks xmlns:a="http://schemas.openxmlformats.org/drawingml/2006/main" noGrp="1"/>
          </p:cNvSpPr>
          <p:nvPr/>
        </p:nvSpPr>
        <p:spPr>
          <a:xfrm xmlns:a="http://schemas.openxmlformats.org/drawingml/2006/main">
            <a:off x="1638300" y="5829300"/>
            <a:ext cx="8915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575" b="1">
                <a:solidFill>
                  <a:srgbClr val="183B66"/>
                </a:solidFill>
                <a:latin typeface="Helvetica Neue"/>
                <a:ea typeface="Helvetica Neue"/>
                <a:cs typeface="Helvetica Neue"/>
              </a:defRPr>
            </a:pPr>
            <a:r>
              <a:rPr sz="1575" b="1">
                <a:solidFill>
                  <a:srgbClr val="183B66"/>
                </a:solidFill>
                <a:latin typeface="Helvetica Neue"/>
                <a:ea typeface="Helvetica Neue"/>
                <a:cs typeface="Helvetica Neue"/>
              </a:rPr>
              <a:t>Every phase writes evidence, timestamps, and SHA-256 records for the next phase.</a:t>
            </a:r>
          </a:p>
        </p:txBody>
      </p:sp>
    </p:spTree>
    <p:extLst>
      <p:ext uri="{BB962C8B-B14F-4D97-AF65-F5344CB8AC3E}">
        <p14:creationId xmlns:p14="http://schemas.microsoft.com/office/powerpoint/2010/main" val="4931847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AC5758F0-CD98-4C9D-8488-05C3022732A9}"/>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43FB7C78-948B-4DAD-933D-0D56D5DE4FF4}"/>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376F35F1-801C-45EE-88B1-087D63043729}"/>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0C2EF706-EBDA-487C-B071-1B829B2210FE}"/>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DB6F9A3D-E039-4868-B5D6-93103DE1D406}"/>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6C0DD4A6-3DCE-46BF-A76E-B16F2337C7E1}"/>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D4D8A211-3848-4FD6-9B10-BA616AE5D86A}"/>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5F89E07B-274A-4C7C-87C0-01307ECBFB32}"/>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84457538-43EB-47D1-9199-91C2D1466516}"/>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6315E765-B0C4-47CF-A0FF-FE1E838462EE}"/>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8B059E8F-C398-48F7-A417-AFE9C3C2FD59}"/>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73AAAC7A-F49D-41A1-92C9-6C00CEA2D4C1}"/>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EC359EA8-D26A-4788-A153-48513926398B}"/>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5622081A-30EE-49CE-B096-87BA66C367E8}"/>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B5940D79-B521-44BF-A37A-0E59A5E731DF}"/>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71CED912-DBDE-452A-A0CE-EE78EDD73AB7}"/>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C9F06D09-CA9C-4C9F-9005-1B7D646F6ABF}"/>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FD1D5027-EFF4-4F7D-B1FA-93A2888C4DB2}"/>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BE153155-23A2-499B-A57A-44D55FFB698B}"/>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24A116A7-9614-481F-9EAA-EEF93AB1D5E6}"/>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Manual first, AI second: the required presentation logic</a:t>
            </a:r>
          </a:p>
        </p:txBody>
      </p:sp>
      <p:sp>
        <p:nvSpPr>
          <p:cNvPr id="21" name="">
            <a:extLst xmlns:a="http://schemas.openxmlformats.org/drawingml/2006/main">
              <a:ext uri="{FF2B5EF4-FFF2-40B4-BE49-F238E27FC236}">
                <a16:creationId xmlns:a16="http://schemas.microsoft.com/office/drawing/2014/main" id="{F7AA9F5D-E69B-42C7-A060-AF21183A3015}"/>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06</a:t>
            </a:r>
          </a:p>
        </p:txBody>
      </p:sp>
      <p:sp>
        <p:nvSpPr>
          <p:cNvPr id="22" name="">
            <a:extLst xmlns:a="http://schemas.openxmlformats.org/drawingml/2006/main">
              <a:ext uri="{FF2B5EF4-FFF2-40B4-BE49-F238E27FC236}">
                <a16:creationId xmlns:a16="http://schemas.microsoft.com/office/drawing/2014/main" id="{9D8D85D3-9B4A-4CC1-AD0B-7039C7F17A9F}"/>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5EE312AE-42A5-4324-8A33-9660CE0CE994}"/>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OBSERVED FACTS → ANALYST INTERPRETATION → AI-ASSISTED SUMMARY</a:t>
            </a:r>
          </a:p>
        </p:txBody>
      </p:sp>
      <p:sp>
        <p:nvSpPr>
          <p:cNvPr id="24" name="">
            <a:extLst xmlns:a="http://schemas.openxmlformats.org/drawingml/2006/main">
              <a:ext uri="{FF2B5EF4-FFF2-40B4-BE49-F238E27FC236}">
                <a16:creationId xmlns:a16="http://schemas.microsoft.com/office/drawing/2014/main" id="{A10E6887-DA39-4EEE-936F-BED373477BA4}"/>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F066831A-ADD5-485B-B3AF-E9DAB7507E82}"/>
              </a:ext>
            </a:extLst>
          </p:cNvPr>
          <p:cNvSpPr>
            <a:spLocks xmlns:a="http://schemas.openxmlformats.org/drawingml/2006/main" noGrp="1"/>
          </p:cNvSpPr>
          <p:nvPr/>
        </p:nvSpPr>
        <p:spPr>
          <a:xfrm xmlns:a="http://schemas.openxmlformats.org/drawingml/2006/main">
            <a:off x="457200" y="1676400"/>
            <a:ext cx="4762500" cy="3714750"/>
          </a:xfrm>
          <a:prstGeom xmlns:a="http://schemas.openxmlformats.org/drawingml/2006/main" prst="roundRect">
            <a:avLst>
              <a:gd name="adj" fmla="val 5641"/>
            </a:avLst>
          </a:prstGeom>
          <a:solidFill xmlns:a="http://schemas.openxmlformats.org/drawingml/2006/main">
            <a:srgbClr val="F4F6F8"/>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54328DA2-D067-47D1-91E0-9A2C2F4DDAAF}"/>
              </a:ext>
            </a:extLst>
          </p:cNvPr>
          <p:cNvSpPr>
            <a:spLocks xmlns:a="http://schemas.openxmlformats.org/drawingml/2006/main" noGrp="1"/>
          </p:cNvSpPr>
          <p:nvPr/>
        </p:nvSpPr>
        <p:spPr>
          <a:xfrm xmlns:a="http://schemas.openxmlformats.org/drawingml/2006/main">
            <a:off x="762000" y="1943100"/>
            <a:ext cx="2400300" cy="400050"/>
          </a:xfrm>
          <a:prstGeom xmlns:a="http://schemas.openxmlformats.org/drawingml/2006/main" prst="roundRect">
            <a:avLst>
              <a:gd name="adj" fmla="val 38095"/>
            </a:avLst>
          </a:prstGeom>
          <a:solidFill xmlns:a="http://schemas.openxmlformats.org/drawingml/2006/main">
            <a:srgbClr val="3D8DFF"/>
          </a:solidFill>
          <a:ln xmlns:a="http://schemas.openxmlformats.org/drawingml/2006/main" w="9525">
            <a:solidFill>
              <a:srgbClr val="3D8DFF"/>
            </a:solidFill>
            <a:prstDash val="solid"/>
          </a:ln>
        </p:spPr>
      </p:sp>
      <p:sp>
        <p:nvSpPr>
          <p:cNvPr id="27" name="">
            <a:extLst xmlns:a="http://schemas.openxmlformats.org/drawingml/2006/main">
              <a:ext uri="{FF2B5EF4-FFF2-40B4-BE49-F238E27FC236}">
                <a16:creationId xmlns:a16="http://schemas.microsoft.com/office/drawing/2014/main" id="{6A15A6A6-F6F0-41CB-8A0D-2DB0A92214C2}"/>
              </a:ext>
            </a:extLst>
          </p:cNvPr>
          <p:cNvSpPr>
            <a:spLocks xmlns:a="http://schemas.openxmlformats.org/drawingml/2006/main" noGrp="1"/>
          </p:cNvSpPr>
          <p:nvPr/>
        </p:nvSpPr>
        <p:spPr>
          <a:xfrm xmlns:a="http://schemas.openxmlformats.org/drawingml/2006/main">
            <a:off x="762000" y="1943100"/>
            <a:ext cx="2400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1 · MANUAL INVESTIGATION</a:t>
            </a:r>
          </a:p>
        </p:txBody>
      </p:sp>
      <p:sp>
        <p:nvSpPr>
          <p:cNvPr id="28" name="">
            <a:extLst xmlns:a="http://schemas.openxmlformats.org/drawingml/2006/main">
              <a:ext uri="{FF2B5EF4-FFF2-40B4-BE49-F238E27FC236}">
                <a16:creationId xmlns:a16="http://schemas.microsoft.com/office/drawing/2014/main" id="{2F264121-987E-4276-A08F-AB8FC3235AFF}"/>
              </a:ext>
            </a:extLst>
          </p:cNvPr>
          <p:cNvSpPr>
            <a:spLocks xmlns:a="http://schemas.openxmlformats.org/drawingml/2006/main" noGrp="1"/>
          </p:cNvSpPr>
          <p:nvPr/>
        </p:nvSpPr>
        <p:spPr>
          <a:xfrm xmlns:a="http://schemas.openxmlformats.org/drawingml/2006/main">
            <a:off x="762000" y="26479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0000"/>
              </a:lnSpc>
              <a:buNone/>
              <a:defRPr sz="2175" b="1">
                <a:solidFill>
                  <a:srgbClr val="0B0E14"/>
                </a:solidFill>
                <a:latin typeface="Helvetica Neue"/>
                <a:ea typeface="Helvetica Neue"/>
                <a:cs typeface="Helvetica Neue"/>
              </a:defRPr>
            </a:pPr>
            <a:r>
              <a:rPr sz="2175" b="1">
                <a:solidFill>
                  <a:srgbClr val="0B0E14"/>
                </a:solidFill>
                <a:latin typeface="Helvetica Neue"/>
                <a:ea typeface="Helvetica Neue"/>
                <a:cs typeface="Helvetica Neue"/>
              </a:rPr>
              <a:t>Show the evidence before the automation</a:t>
            </a:r>
          </a:p>
        </p:txBody>
      </p:sp>
      <p:sp>
        <p:nvSpPr>
          <p:cNvPr id="29" name="">
            <a:extLst xmlns:a="http://schemas.openxmlformats.org/drawingml/2006/main">
              <a:ext uri="{FF2B5EF4-FFF2-40B4-BE49-F238E27FC236}">
                <a16:creationId xmlns:a16="http://schemas.microsoft.com/office/drawing/2014/main" id="{0C0816AF-FFBB-486C-AB10-8D493CD37DFA}"/>
              </a:ext>
            </a:extLst>
          </p:cNvPr>
          <p:cNvSpPr>
            <a:spLocks xmlns:a="http://schemas.openxmlformats.org/drawingml/2006/main" noGrp="1"/>
          </p:cNvSpPr>
          <p:nvPr/>
        </p:nvSpPr>
        <p:spPr>
          <a:xfrm xmlns:a="http://schemas.openxmlformats.org/drawingml/2006/main">
            <a:off x="762000" y="3543300"/>
            <a:ext cx="4000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92036"/>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Run or open the real collection step</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Explain the input, output, and why the tool was chosen</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Preserve raw output, timestamps, and SHA-256</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State what the evidence proves—and what it does not prove</a:t>
            </a:r>
          </a:p>
        </p:txBody>
      </p:sp>
      <p:sp>
        <p:nvSpPr>
          <p:cNvPr id="30" name="">
            <a:extLst xmlns:a="http://schemas.openxmlformats.org/drawingml/2006/main">
              <a:ext uri="{FF2B5EF4-FFF2-40B4-BE49-F238E27FC236}">
                <a16:creationId xmlns:a16="http://schemas.microsoft.com/office/drawing/2014/main" id="{53E2C978-3507-4D36-B38C-D9709DDBC7CE}"/>
              </a:ext>
            </a:extLst>
          </p:cNvPr>
          <p:cNvSpPr>
            <a:spLocks xmlns:a="http://schemas.openxmlformats.org/drawingml/2006/main" noGrp="1"/>
          </p:cNvSpPr>
          <p:nvPr/>
        </p:nvSpPr>
        <p:spPr>
          <a:xfrm xmlns:a="http://schemas.openxmlformats.org/drawingml/2006/main">
            <a:off x="5448300" y="3105150"/>
            <a:ext cx="1295400" cy="685800"/>
          </a:xfrm>
          <a:prstGeom xmlns:a="http://schemas.openxmlformats.org/drawingml/2006/main" prst="rightArrow">
            <a:avLst/>
          </a:prstGeom>
          <a:solidFill xmlns:a="http://schemas.openxmlformats.org/drawingml/2006/main">
            <a:srgbClr val="6DCBF4"/>
          </a:solidFill>
          <a:ln xmlns:a="http://schemas.openxmlformats.org/drawingml/2006/main" w="0">
            <a:solidFill>
              <a:srgbClr val="6DCBF4"/>
            </a:solidFill>
            <a:prstDash val="solid"/>
          </a:ln>
        </p:spPr>
      </p:sp>
      <p:sp>
        <p:nvSpPr>
          <p:cNvPr id="31" name="">
            <a:extLst xmlns:a="http://schemas.openxmlformats.org/drawingml/2006/main">
              <a:ext uri="{FF2B5EF4-FFF2-40B4-BE49-F238E27FC236}">
                <a16:creationId xmlns:a16="http://schemas.microsoft.com/office/drawing/2014/main" id="{72F804D0-D66F-44CC-B3FF-04C7A3473A80}"/>
              </a:ext>
            </a:extLst>
          </p:cNvPr>
          <p:cNvSpPr>
            <a:spLocks xmlns:a="http://schemas.openxmlformats.org/drawingml/2006/main" noGrp="1"/>
          </p:cNvSpPr>
          <p:nvPr/>
        </p:nvSpPr>
        <p:spPr>
          <a:xfrm xmlns:a="http://schemas.openxmlformats.org/drawingml/2006/main">
            <a:off x="5562600" y="329565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00" b="1">
                <a:solidFill>
                  <a:srgbClr val="183B66"/>
                </a:solidFill>
                <a:latin typeface="Helvetica Neue"/>
                <a:ea typeface="Helvetica Neue"/>
                <a:cs typeface="Helvetica Neue"/>
              </a:defRPr>
            </a:pPr>
            <a:r>
              <a:rPr sz="1200" b="1">
                <a:solidFill>
                  <a:srgbClr val="183B66"/>
                </a:solidFill>
                <a:latin typeface="Helvetica Neue"/>
                <a:ea typeface="Helvetica Neue"/>
                <a:cs typeface="Helvetica Neue"/>
              </a:rPr>
              <a:t>VERIFY</a:t>
            </a:r>
          </a:p>
        </p:txBody>
      </p:sp>
      <p:sp>
        <p:nvSpPr>
          <p:cNvPr id="32" name="">
            <a:extLst xmlns:a="http://schemas.openxmlformats.org/drawingml/2006/main">
              <a:ext uri="{FF2B5EF4-FFF2-40B4-BE49-F238E27FC236}">
                <a16:creationId xmlns:a16="http://schemas.microsoft.com/office/drawing/2014/main" id="{2F60D2DF-47CF-41D5-AF20-613EE42705A0}"/>
              </a:ext>
            </a:extLst>
          </p:cNvPr>
          <p:cNvSpPr>
            <a:spLocks xmlns:a="http://schemas.openxmlformats.org/drawingml/2006/main" noGrp="1"/>
          </p:cNvSpPr>
          <p:nvPr/>
        </p:nvSpPr>
        <p:spPr>
          <a:xfrm xmlns:a="http://schemas.openxmlformats.org/drawingml/2006/main">
            <a:off x="6972300" y="1676400"/>
            <a:ext cx="4762500" cy="3714750"/>
          </a:xfrm>
          <a:prstGeom xmlns:a="http://schemas.openxmlformats.org/drawingml/2006/main" prst="roundRect">
            <a:avLst>
              <a:gd name="adj" fmla="val 5641"/>
            </a:avLst>
          </a:prstGeom>
          <a:solidFill xmlns:a="http://schemas.openxmlformats.org/drawingml/2006/main">
            <a:srgbClr val="0B0E14"/>
          </a:solidFill>
          <a:ln xmlns:a="http://schemas.openxmlformats.org/drawingml/2006/main" w="9525">
            <a:solidFill>
              <a:srgbClr val="0B0E14"/>
            </a:solidFill>
            <a:prstDash val="solid"/>
          </a:ln>
        </p:spPr>
      </p:sp>
      <p:sp>
        <p:nvSpPr>
          <p:cNvPr id="33" name="">
            <a:extLst xmlns:a="http://schemas.openxmlformats.org/drawingml/2006/main">
              <a:ext uri="{FF2B5EF4-FFF2-40B4-BE49-F238E27FC236}">
                <a16:creationId xmlns:a16="http://schemas.microsoft.com/office/drawing/2014/main" id="{472412E8-4993-410D-834E-30864B52CD89}"/>
              </a:ext>
            </a:extLst>
          </p:cNvPr>
          <p:cNvSpPr>
            <a:spLocks xmlns:a="http://schemas.openxmlformats.org/drawingml/2006/main" noGrp="1"/>
          </p:cNvSpPr>
          <p:nvPr/>
        </p:nvSpPr>
        <p:spPr>
          <a:xfrm xmlns:a="http://schemas.openxmlformats.org/drawingml/2006/main">
            <a:off x="7277100" y="1943100"/>
            <a:ext cx="2247900" cy="400050"/>
          </a:xfrm>
          <a:prstGeom xmlns:a="http://schemas.openxmlformats.org/drawingml/2006/main" prst="roundRect">
            <a:avLst>
              <a:gd name="adj" fmla="val 38095"/>
            </a:avLst>
          </a:prstGeom>
          <a:solidFill xmlns:a="http://schemas.openxmlformats.org/drawingml/2006/main">
            <a:srgbClr val="DDF5EB"/>
          </a:solidFill>
          <a:ln xmlns:a="http://schemas.openxmlformats.org/drawingml/2006/main" w="9525">
            <a:solidFill>
              <a:srgbClr val="DDF5EB"/>
            </a:solidFill>
            <a:prstDash val="solid"/>
          </a:ln>
        </p:spPr>
      </p:sp>
      <p:sp>
        <p:nvSpPr>
          <p:cNvPr id="34" name="">
            <a:extLst xmlns:a="http://schemas.openxmlformats.org/drawingml/2006/main">
              <a:ext uri="{FF2B5EF4-FFF2-40B4-BE49-F238E27FC236}">
                <a16:creationId xmlns:a16="http://schemas.microsoft.com/office/drawing/2014/main" id="{897A3BDC-6943-4E33-A94C-272FB1446CD7}"/>
              </a:ext>
            </a:extLst>
          </p:cNvPr>
          <p:cNvSpPr>
            <a:spLocks xmlns:a="http://schemas.openxmlformats.org/drawingml/2006/main" noGrp="1"/>
          </p:cNvSpPr>
          <p:nvPr/>
        </p:nvSpPr>
        <p:spPr>
          <a:xfrm xmlns:a="http://schemas.openxmlformats.org/drawingml/2006/main">
            <a:off x="7277100" y="1943100"/>
            <a:ext cx="2247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2 · AI-ASSISTED WORK</a:t>
            </a:r>
          </a:p>
        </p:txBody>
      </p:sp>
      <p:sp>
        <p:nvSpPr>
          <p:cNvPr id="35" name="">
            <a:extLst xmlns:a="http://schemas.openxmlformats.org/drawingml/2006/main">
              <a:ext uri="{FF2B5EF4-FFF2-40B4-BE49-F238E27FC236}">
                <a16:creationId xmlns:a16="http://schemas.microsoft.com/office/drawing/2014/main" id="{D2717800-4C2D-4C26-A5BE-A4A0C8CE1E71}"/>
              </a:ext>
            </a:extLst>
          </p:cNvPr>
          <p:cNvSpPr>
            <a:spLocks xmlns:a="http://schemas.openxmlformats.org/drawingml/2006/main" noGrp="1"/>
          </p:cNvSpPr>
          <p:nvPr/>
        </p:nvSpPr>
        <p:spPr>
          <a:xfrm xmlns:a="http://schemas.openxmlformats.org/drawingml/2006/main">
            <a:off x="7277100" y="2647950"/>
            <a:ext cx="4000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0000"/>
              </a:lnSpc>
              <a:buNone/>
              <a:defRPr sz="2175" b="1">
                <a:solidFill>
                  <a:srgbClr val="FFFFFF"/>
                </a:solidFill>
                <a:latin typeface="Helvetica Neue"/>
                <a:ea typeface="Helvetica Neue"/>
                <a:cs typeface="Helvetica Neue"/>
              </a:defRPr>
            </a:pPr>
            <a:r>
              <a:rPr sz="2175" b="1">
                <a:solidFill>
                  <a:srgbClr val="FFFFFF"/>
                </a:solidFill>
                <a:latin typeface="Helvetica Neue"/>
                <a:ea typeface="Helvetica Neue"/>
                <a:cs typeface="Helvetica Neue"/>
              </a:rPr>
              <a:t>Use the agent after evidence exists</a:t>
            </a:r>
          </a:p>
        </p:txBody>
      </p:sp>
      <p:sp>
        <p:nvSpPr>
          <p:cNvPr id="36" name="">
            <a:extLst xmlns:a="http://schemas.openxmlformats.org/drawingml/2006/main">
              <a:ext uri="{FF2B5EF4-FFF2-40B4-BE49-F238E27FC236}">
                <a16:creationId xmlns:a16="http://schemas.microsoft.com/office/drawing/2014/main" id="{126FFCFA-73C2-4DA1-960C-A51AE2E4FCD1}"/>
              </a:ext>
            </a:extLst>
          </p:cNvPr>
          <p:cNvSpPr>
            <a:spLocks xmlns:a="http://schemas.openxmlformats.org/drawingml/2006/main" noGrp="1"/>
          </p:cNvSpPr>
          <p:nvPr/>
        </p:nvSpPr>
        <p:spPr>
          <a:xfrm xmlns:a="http://schemas.openxmlformats.org/drawingml/2006/main">
            <a:off x="7277100" y="3543300"/>
            <a:ext cx="4000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08"/>
          </a:bodyPr>
          <a:lstStyle xmlns:a="http://schemas.openxmlformats.org/drawingml/2006/main"/>
          <a:p xmlns:a="http://schemas.openxmlformats.org/drawingml/2006/main">
            <a:pPr>
              <a:lnSpc>
                <a:spcPct val="104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 Organize the case and draft reproducible commands</a:t>
            </a:r>
          </a:p>
          <a:p xmlns:a="http://schemas.openxmlformats.org/drawingml/2006/main">
            <a:r>
              <a:t/>
            </a:r>
          </a:p>
          <a:p xmlns:a="http://schemas.openxmlformats.org/drawingml/2006/main">
            <a:pPr>
              <a:lnSpc>
                <a:spcPct val="104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 Summarize findings as suggestions, not unquestioned facts</a:t>
            </a:r>
          </a:p>
          <a:p xmlns:a="http://schemas.openxmlformats.org/drawingml/2006/main">
            <a:r>
              <a:t/>
            </a:r>
          </a:p>
          <a:p xmlns:a="http://schemas.openxmlformats.org/drawingml/2006/main">
            <a:pPr>
              <a:lnSpc>
                <a:spcPct val="104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 Require human approval for containment and recovery</a:t>
            </a:r>
          </a:p>
          <a:p xmlns:a="http://schemas.openxmlformats.org/drawingml/2006/main">
            <a:r>
              <a:t/>
            </a:r>
          </a:p>
          <a:p xmlns:a="http://schemas.openxmlformats.org/drawingml/2006/main">
            <a:pPr>
              <a:lnSpc>
                <a:spcPct val="104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 Validate every claim against raw evidence and PASS checks</a:t>
            </a:r>
          </a:p>
        </p:txBody>
      </p:sp>
      <p:sp>
        <p:nvSpPr>
          <p:cNvPr id="37" name="">
            <a:extLst xmlns:a="http://schemas.openxmlformats.org/drawingml/2006/main">
              <a:ext uri="{FF2B5EF4-FFF2-40B4-BE49-F238E27FC236}">
                <a16:creationId xmlns:a16="http://schemas.microsoft.com/office/drawing/2014/main" id="{3B1E3CE9-163A-4D90-ADC2-540938AB8962}"/>
              </a:ext>
            </a:extLst>
          </p:cNvPr>
          <p:cNvSpPr>
            <a:spLocks xmlns:a="http://schemas.openxmlformats.org/drawingml/2006/main" noGrp="1"/>
          </p:cNvSpPr>
          <p:nvPr/>
        </p:nvSpPr>
        <p:spPr>
          <a:xfrm xmlns:a="http://schemas.openxmlformats.org/drawingml/2006/main">
            <a:off x="3067050" y="5734050"/>
            <a:ext cx="6057900" cy="438150"/>
          </a:xfrm>
          <a:prstGeom xmlns:a="http://schemas.openxmlformats.org/drawingml/2006/main" prst="roundRect">
            <a:avLst>
              <a:gd name="adj" fmla="val 34783"/>
            </a:avLst>
          </a:prstGeom>
          <a:solidFill xmlns:a="http://schemas.openxmlformats.org/drawingml/2006/main">
            <a:srgbClr val="FFF0D6"/>
          </a:solidFill>
          <a:ln xmlns:a="http://schemas.openxmlformats.org/drawingml/2006/main" w="9525">
            <a:solidFill>
              <a:srgbClr val="FFF0D6"/>
            </a:solidFill>
            <a:prstDash val="solid"/>
          </a:ln>
        </p:spPr>
      </p:sp>
      <p:sp>
        <p:nvSpPr>
          <p:cNvPr id="38" name="">
            <a:extLst xmlns:a="http://schemas.openxmlformats.org/drawingml/2006/main">
              <a:ext uri="{FF2B5EF4-FFF2-40B4-BE49-F238E27FC236}">
                <a16:creationId xmlns:a16="http://schemas.microsoft.com/office/drawing/2014/main" id="{5BA5E98D-88F2-4D1F-A642-E34B6A02E18D}"/>
              </a:ext>
            </a:extLst>
          </p:cNvPr>
          <p:cNvSpPr>
            <a:spLocks xmlns:a="http://schemas.openxmlformats.org/drawingml/2006/main" noGrp="1"/>
          </p:cNvSpPr>
          <p:nvPr/>
        </p:nvSpPr>
        <p:spPr>
          <a:xfrm xmlns:a="http://schemas.openxmlformats.org/drawingml/2006/main">
            <a:off x="3067050" y="5734050"/>
            <a:ext cx="6057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D97706"/>
                </a:solidFill>
                <a:latin typeface="Helvetica Neue"/>
                <a:ea typeface="Helvetica Neue"/>
                <a:cs typeface="Helvetica Neue"/>
              </a:defRPr>
            </a:pPr>
            <a:r>
              <a:rPr sz="1125" b="1">
                <a:solidFill>
                  <a:srgbClr val="D97706"/>
                </a:solidFill>
                <a:latin typeface="Helvetica Neue"/>
                <a:ea typeface="Helvetica Neue"/>
                <a:cs typeface="Helvetica Neue"/>
              </a:rPr>
              <a:t>NO AUTOMATION WITHOUT EXPLANATION OR VERIFICATION</a:t>
            </a:r>
          </a:p>
        </p:txBody>
      </p:sp>
    </p:spTree>
    <p:extLst>
      <p:ext uri="{BB962C8B-B14F-4D97-AF65-F5344CB8AC3E}">
        <p14:creationId xmlns:p14="http://schemas.microsoft.com/office/powerpoint/2010/main" val="13335112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4B6A627-1491-4131-9236-CF29989F2403}"/>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C0689446-4DB4-49FE-BA1E-B7F919CAD501}"/>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Velociraptor: the Windows endpoint is live and trusted</a:t>
            </a:r>
          </a:p>
        </p:txBody>
      </p:sp>
      <p:sp>
        <p:nvSpPr>
          <p:cNvPr id="3" name="">
            <a:extLst xmlns:a="http://schemas.openxmlformats.org/drawingml/2006/main">
              <a:ext uri="{FF2B5EF4-FFF2-40B4-BE49-F238E27FC236}">
                <a16:creationId xmlns:a16="http://schemas.microsoft.com/office/drawing/2014/main" id="{96C8415C-F182-4DFF-8123-D4C632409C8F}"/>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0AAE096D-6801-44D6-B2B8-D3450754F186}"/>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F5E566DF-37B5-4E5B-A9E6-710DF12D9E08}"/>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CE6D8AFD-D8E3-4818-A94F-18014A1C3732}"/>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972C7F3C-0C9E-43BF-9FAE-C09B0E798945}"/>
              </a:ext>
            </a:extLst>
          </p:cNvPr>
          <p:cNvSpPr>
            <a:spLocks xmlns:a="http://schemas.openxmlformats.org/drawingml/2006/main" noGrp="1"/>
          </p:cNvSpPr>
          <p:nvPr/>
        </p:nvSpPr>
        <p:spPr>
          <a:xfrm xmlns:a="http://schemas.openxmlformats.org/drawingml/2006/main">
            <a:off x="457200" y="1638300"/>
            <a:ext cx="7905750" cy="4438650"/>
          </a:xfrm>
          <a:prstGeom xmlns:a="http://schemas.openxmlformats.org/drawingml/2006/main" prst="roundRect">
            <a:avLst>
              <a:gd name="adj" fmla="val 3004"/>
            </a:avLst>
          </a:prstGeom>
          <a:solidFill xmlns:a="http://schemas.openxmlformats.org/drawingml/2006/main">
            <a:srgbClr val="FFFFFF"/>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584c3d98940f43ae"/>
          <a:stretch xmlns:a="http://schemas.openxmlformats.org/drawingml/2006/main"/>
        </p:blipFill>
        <p:spPr>
          <a:xfrm xmlns:a="http://schemas.openxmlformats.org/drawingml/2006/main">
            <a:off x="504825" y="1843980"/>
            <a:ext cx="7810500" cy="4027289"/>
          </a:xfrm>
          <a:prstGeom xmlns:a="http://schemas.openxmlformats.org/drawingml/2006/main" prst="roundRect">
            <a:avLst>
              <a:gd name="adj" fmla="val 2632"/>
            </a:avLst>
          </a:prstGeom>
        </p:spPr>
      </p:pic>
      <p:sp>
        <p:nvSpPr>
          <p:cNvPr id="9" name="">
            <a:extLst xmlns:a="http://schemas.openxmlformats.org/drawingml/2006/main">
              <a:ext uri="{FF2B5EF4-FFF2-40B4-BE49-F238E27FC236}">
                <a16:creationId xmlns:a16="http://schemas.microsoft.com/office/drawing/2014/main" id="{A25B7B82-A774-49CE-A12A-54B4E86A0E98}"/>
              </a:ext>
            </a:extLst>
          </p:cNvPr>
          <p:cNvSpPr>
            <a:spLocks xmlns:a="http://schemas.openxmlformats.org/drawingml/2006/main" noGrp="1"/>
          </p:cNvSpPr>
          <p:nvPr/>
        </p:nvSpPr>
        <p:spPr>
          <a:xfrm xmlns:a="http://schemas.openxmlformats.org/drawingml/2006/main">
            <a:off x="8686800" y="1752600"/>
            <a:ext cx="28575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3CCE992-8C02-41D2-96F1-7DD6BF1DBA88}"/>
              </a:ext>
            </a:extLst>
          </p:cNvPr>
          <p:cNvSpPr>
            <a:spLocks xmlns:a="http://schemas.openxmlformats.org/drawingml/2006/main" noGrp="1"/>
          </p:cNvSpPr>
          <p:nvPr/>
        </p:nvSpPr>
        <p:spPr>
          <a:xfrm xmlns:a="http://schemas.openxmlformats.org/drawingml/2006/main">
            <a:off x="8686800" y="1752600"/>
            <a:ext cx="76200" cy="971550"/>
          </a:xfrm>
          <a:prstGeom xmlns:a="http://schemas.openxmlformats.org/drawingml/2006/main" prst="rect">
            <a:avLst/>
          </a:prstGeom>
          <a:solidFill xmlns:a="http://schemas.openxmlformats.org/drawingml/2006/main">
            <a:srgbClr val="167C5A"/>
          </a:solidFill>
          <a:ln xmlns:a="http://schemas.openxmlformats.org/drawingml/2006/main" w="0">
            <a:solidFill>
              <a:srgbClr val="167C5A"/>
            </a:solidFill>
            <a:prstDash val="solid"/>
          </a:ln>
        </p:spPr>
      </p:sp>
      <p:sp>
        <p:nvSpPr>
          <p:cNvPr id="11" name="">
            <a:extLst xmlns:a="http://schemas.openxmlformats.org/drawingml/2006/main">
              <a:ext uri="{FF2B5EF4-FFF2-40B4-BE49-F238E27FC236}">
                <a16:creationId xmlns:a16="http://schemas.microsoft.com/office/drawing/2014/main" id="{4D81A7CE-D537-4EB0-9381-7B14914C3863}"/>
              </a:ext>
            </a:extLst>
          </p:cNvPr>
          <p:cNvSpPr>
            <a:spLocks xmlns:a="http://schemas.openxmlformats.org/drawingml/2006/main" noGrp="1"/>
          </p:cNvSpPr>
          <p:nvPr/>
        </p:nvSpPr>
        <p:spPr>
          <a:xfrm xmlns:a="http://schemas.openxmlformats.org/drawingml/2006/main">
            <a:off x="8915400" y="189547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GREEN</a:t>
            </a:r>
          </a:p>
        </p:txBody>
      </p:sp>
      <p:sp>
        <p:nvSpPr>
          <p:cNvPr id="12" name="">
            <a:extLst xmlns:a="http://schemas.openxmlformats.org/drawingml/2006/main">
              <a:ext uri="{FF2B5EF4-FFF2-40B4-BE49-F238E27FC236}">
                <a16:creationId xmlns:a16="http://schemas.microsoft.com/office/drawing/2014/main" id="{30868D7E-9FEA-49A5-8EBC-97A5A26F3D18}"/>
              </a:ext>
            </a:extLst>
          </p:cNvPr>
          <p:cNvSpPr>
            <a:spLocks xmlns:a="http://schemas.openxmlformats.org/drawingml/2006/main" noGrp="1"/>
          </p:cNvSpPr>
          <p:nvPr/>
        </p:nvSpPr>
        <p:spPr>
          <a:xfrm xmlns:a="http://schemas.openxmlformats.org/drawingml/2006/main">
            <a:off x="8915400" y="23050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Client state: connected</a:t>
            </a:r>
          </a:p>
        </p:txBody>
      </p:sp>
      <p:sp>
        <p:nvSpPr>
          <p:cNvPr id="13" name="">
            <a:extLst xmlns:a="http://schemas.openxmlformats.org/drawingml/2006/main">
              <a:ext uri="{FF2B5EF4-FFF2-40B4-BE49-F238E27FC236}">
                <a16:creationId xmlns:a16="http://schemas.microsoft.com/office/drawing/2014/main" id="{84432B6D-A491-4F18-BB3A-5417F033E16E}"/>
              </a:ext>
            </a:extLst>
          </p:cNvPr>
          <p:cNvSpPr>
            <a:spLocks xmlns:a="http://schemas.openxmlformats.org/drawingml/2006/main" noGrp="1"/>
          </p:cNvSpPr>
          <p:nvPr/>
        </p:nvSpPr>
        <p:spPr>
          <a:xfrm xmlns:a="http://schemas.openxmlformats.org/drawingml/2006/main">
            <a:off x="8686800" y="2933700"/>
            <a:ext cx="28575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6A1E62F2-8EE8-406D-B5AC-BE073FA5CC5A}"/>
              </a:ext>
            </a:extLst>
          </p:cNvPr>
          <p:cNvSpPr>
            <a:spLocks xmlns:a="http://schemas.openxmlformats.org/drawingml/2006/main" noGrp="1"/>
          </p:cNvSpPr>
          <p:nvPr/>
        </p:nvSpPr>
        <p:spPr>
          <a:xfrm xmlns:a="http://schemas.openxmlformats.org/drawingml/2006/main">
            <a:off x="8686800" y="2933700"/>
            <a:ext cx="76200" cy="9715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5" name="">
            <a:extLst xmlns:a="http://schemas.openxmlformats.org/drawingml/2006/main">
              <a:ext uri="{FF2B5EF4-FFF2-40B4-BE49-F238E27FC236}">
                <a16:creationId xmlns:a16="http://schemas.microsoft.com/office/drawing/2014/main" id="{5A58F8C3-9C87-49BE-8209-61B702AC6B77}"/>
              </a:ext>
            </a:extLst>
          </p:cNvPr>
          <p:cNvSpPr>
            <a:spLocks xmlns:a="http://schemas.openxmlformats.org/drawingml/2006/main" noGrp="1"/>
          </p:cNvSpPr>
          <p:nvPr/>
        </p:nvSpPr>
        <p:spPr>
          <a:xfrm xmlns:a="http://schemas.openxmlformats.org/drawingml/2006/main">
            <a:off x="8915400" y="307657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0.77.1</a:t>
            </a:r>
          </a:p>
        </p:txBody>
      </p:sp>
      <p:sp>
        <p:nvSpPr>
          <p:cNvPr id="16" name="">
            <a:extLst xmlns:a="http://schemas.openxmlformats.org/drawingml/2006/main">
              <a:ext uri="{FF2B5EF4-FFF2-40B4-BE49-F238E27FC236}">
                <a16:creationId xmlns:a16="http://schemas.microsoft.com/office/drawing/2014/main" id="{6C4AF506-D001-4B48-95C2-60ECCD0ECC8D}"/>
              </a:ext>
            </a:extLst>
          </p:cNvPr>
          <p:cNvSpPr>
            <a:spLocks xmlns:a="http://schemas.openxmlformats.org/drawingml/2006/main" noGrp="1"/>
          </p:cNvSpPr>
          <p:nvPr/>
        </p:nvSpPr>
        <p:spPr>
          <a:xfrm xmlns:a="http://schemas.openxmlformats.org/drawingml/2006/main">
            <a:off x="8915400" y="34861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917"/>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Agent version on both server and endpoint</a:t>
            </a:r>
          </a:p>
        </p:txBody>
      </p:sp>
      <p:sp>
        <p:nvSpPr>
          <p:cNvPr id="17" name="">
            <a:extLst xmlns:a="http://schemas.openxmlformats.org/drawingml/2006/main">
              <a:ext uri="{FF2B5EF4-FFF2-40B4-BE49-F238E27FC236}">
                <a16:creationId xmlns:a16="http://schemas.microsoft.com/office/drawing/2014/main" id="{804D1D71-4228-4F23-87F9-8AA678DFD6B1}"/>
              </a:ext>
            </a:extLst>
          </p:cNvPr>
          <p:cNvSpPr>
            <a:spLocks xmlns:a="http://schemas.openxmlformats.org/drawingml/2006/main" noGrp="1"/>
          </p:cNvSpPr>
          <p:nvPr/>
        </p:nvSpPr>
        <p:spPr>
          <a:xfrm xmlns:a="http://schemas.openxmlformats.org/drawingml/2006/main">
            <a:off x="8686800" y="4114800"/>
            <a:ext cx="2857500" cy="971550"/>
          </a:xfrm>
          <a:prstGeom xmlns:a="http://schemas.openxmlformats.org/drawingml/2006/main" prst="roundRect">
            <a:avLst>
              <a:gd name="adj" fmla="val 15686"/>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C61C2529-4B63-4084-86BE-6565FD7C9CE5}"/>
              </a:ext>
            </a:extLst>
          </p:cNvPr>
          <p:cNvSpPr>
            <a:spLocks xmlns:a="http://schemas.openxmlformats.org/drawingml/2006/main" noGrp="1"/>
          </p:cNvSpPr>
          <p:nvPr/>
        </p:nvSpPr>
        <p:spPr>
          <a:xfrm xmlns:a="http://schemas.openxmlformats.org/drawingml/2006/main">
            <a:off x="8686800" y="4114800"/>
            <a:ext cx="76200" cy="9715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9" name="">
            <a:extLst xmlns:a="http://schemas.openxmlformats.org/drawingml/2006/main">
              <a:ext uri="{FF2B5EF4-FFF2-40B4-BE49-F238E27FC236}">
                <a16:creationId xmlns:a16="http://schemas.microsoft.com/office/drawing/2014/main" id="{7AE5AE8A-C3D3-42B0-AF57-CB458920CB93}"/>
              </a:ext>
            </a:extLst>
          </p:cNvPr>
          <p:cNvSpPr>
            <a:spLocks xmlns:a="http://schemas.openxmlformats.org/drawingml/2006/main" noGrp="1"/>
          </p:cNvSpPr>
          <p:nvPr/>
        </p:nvSpPr>
        <p:spPr>
          <a:xfrm xmlns:a="http://schemas.openxmlformats.org/drawingml/2006/main">
            <a:off x="8915400" y="425767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25H2</a:t>
            </a:r>
          </a:p>
        </p:txBody>
      </p:sp>
      <p:sp>
        <p:nvSpPr>
          <p:cNvPr id="20" name="">
            <a:extLst xmlns:a="http://schemas.openxmlformats.org/drawingml/2006/main">
              <a:ext uri="{FF2B5EF4-FFF2-40B4-BE49-F238E27FC236}">
                <a16:creationId xmlns:a16="http://schemas.microsoft.com/office/drawing/2014/main" id="{DFAAC02D-62A6-408B-A423-0C6A8017F4A6}"/>
              </a:ext>
            </a:extLst>
          </p:cNvPr>
          <p:cNvSpPr>
            <a:spLocks xmlns:a="http://schemas.openxmlformats.org/drawingml/2006/main" noGrp="1"/>
          </p:cNvSpPr>
          <p:nvPr/>
        </p:nvSpPr>
        <p:spPr>
          <a:xfrm xmlns:a="http://schemas.openxmlformats.org/drawingml/2006/main">
            <a:off x="8915400" y="4667250"/>
            <a:ext cx="2495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937"/>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Windows 11 Pro release identified remotely</a:t>
            </a:r>
          </a:p>
        </p:txBody>
      </p:sp>
      <p:sp>
        <p:nvSpPr>
          <p:cNvPr id="21" name="">
            <a:extLst xmlns:a="http://schemas.openxmlformats.org/drawingml/2006/main">
              <a:ext uri="{FF2B5EF4-FFF2-40B4-BE49-F238E27FC236}">
                <a16:creationId xmlns:a16="http://schemas.microsoft.com/office/drawing/2014/main" id="{B5B68174-D922-4A8B-994F-6FC4C8DFA7E9}"/>
              </a:ext>
            </a:extLst>
          </p:cNvPr>
          <p:cNvSpPr>
            <a:spLocks xmlns:a="http://schemas.openxmlformats.org/drawingml/2006/main" noGrp="1"/>
          </p:cNvSpPr>
          <p:nvPr/>
        </p:nvSpPr>
        <p:spPr>
          <a:xfrm xmlns:a="http://schemas.openxmlformats.org/drawingml/2006/main">
            <a:off x="8972550" y="5467350"/>
            <a:ext cx="2286000" cy="400050"/>
          </a:xfrm>
          <a:prstGeom xmlns:a="http://schemas.openxmlformats.org/drawingml/2006/main" prst="roundRect">
            <a:avLst>
              <a:gd name="adj" fmla="val 38095"/>
            </a:avLst>
          </a:prstGeom>
          <a:solidFill xmlns:a="http://schemas.openxmlformats.org/drawingml/2006/main">
            <a:srgbClr val="E8EDF2"/>
          </a:solidFill>
          <a:ln xmlns:a="http://schemas.openxmlformats.org/drawingml/2006/main" w="9525">
            <a:solidFill>
              <a:srgbClr val="E8EDF2"/>
            </a:solidFill>
            <a:prstDash val="solid"/>
          </a:ln>
        </p:spPr>
      </p:sp>
      <p:sp>
        <p:nvSpPr>
          <p:cNvPr id="22" name="">
            <a:extLst xmlns:a="http://schemas.openxmlformats.org/drawingml/2006/main">
              <a:ext uri="{FF2B5EF4-FFF2-40B4-BE49-F238E27FC236}">
                <a16:creationId xmlns:a16="http://schemas.microsoft.com/office/drawing/2014/main" id="{C3138C1B-BD68-4995-AAB6-0B09B5CADEBA}"/>
              </a:ext>
            </a:extLst>
          </p:cNvPr>
          <p:cNvSpPr>
            <a:spLocks xmlns:a="http://schemas.openxmlformats.org/drawingml/2006/main" noGrp="1"/>
          </p:cNvSpPr>
          <p:nvPr/>
        </p:nvSpPr>
        <p:spPr>
          <a:xfrm xmlns:a="http://schemas.openxmlformats.org/drawingml/2006/main">
            <a:off x="8972550" y="54673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DESKTOP-V6TEGOO</a:t>
            </a:r>
          </a:p>
        </p:txBody>
      </p:sp>
    </p:spTree>
    <p:extLst>
      <p:ext uri="{BB962C8B-B14F-4D97-AF65-F5344CB8AC3E}">
        <p14:creationId xmlns:p14="http://schemas.microsoft.com/office/powerpoint/2010/main" val="95947259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78D3F3E-569C-4FA8-9B68-D1250FC11578}"/>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ABDB62EA-1EE9-4367-BFF0-BFD112F68812}"/>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Remote collection: processes and network state</a:t>
            </a:r>
          </a:p>
        </p:txBody>
      </p:sp>
      <p:sp>
        <p:nvSpPr>
          <p:cNvPr id="3" name="">
            <a:extLst xmlns:a="http://schemas.openxmlformats.org/drawingml/2006/main">
              <a:ext uri="{FF2B5EF4-FFF2-40B4-BE49-F238E27FC236}">
                <a16:creationId xmlns:a16="http://schemas.microsoft.com/office/drawing/2014/main" id="{10839F17-C811-453E-82A6-E325E48F2491}"/>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659FD86-894E-4081-BA8C-B6F70449FE9B}"/>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6E426832-6DBF-4460-BE32-5300918BE177}"/>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6A94AB02-5A22-4699-900A-F48FA6C5285A}"/>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ADCEF77D-3D0F-40D8-AA9F-286A791DB91F}"/>
              </a:ext>
            </a:extLst>
          </p:cNvPr>
          <p:cNvSpPr>
            <a:spLocks xmlns:a="http://schemas.openxmlformats.org/drawingml/2006/main" noGrp="1"/>
          </p:cNvSpPr>
          <p:nvPr/>
        </p:nvSpPr>
        <p:spPr>
          <a:xfrm xmlns:a="http://schemas.openxmlformats.org/drawingml/2006/main">
            <a:off x="457200" y="1676400"/>
            <a:ext cx="5448300" cy="3943350"/>
          </a:xfrm>
          <a:prstGeom xmlns:a="http://schemas.openxmlformats.org/drawingml/2006/main" prst="roundRect">
            <a:avLst>
              <a:gd name="adj" fmla="val 3382"/>
            </a:avLst>
          </a:prstGeom>
          <a:solidFill xmlns:a="http://schemas.openxmlformats.org/drawingml/2006/main">
            <a:srgbClr val="FFFFFF"/>
          </a:solidFill>
          <a:ln xmlns:a="http://schemas.openxmlformats.org/drawingml/2006/main" w="9525">
            <a:solidFill>
              <a:srgbClr val="B8BCC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3ab34f5f2264dc1"/>
          <a:stretch xmlns:a="http://schemas.openxmlformats.org/drawingml/2006/main"/>
        </p:blipFill>
        <p:spPr>
          <a:xfrm xmlns:a="http://schemas.openxmlformats.org/drawingml/2006/main">
            <a:off x="504825" y="2267992"/>
            <a:ext cx="5353050" cy="2760166"/>
          </a:xfrm>
          <a:prstGeom xmlns:a="http://schemas.openxmlformats.org/drawingml/2006/main" prst="roundRect">
            <a:avLst>
              <a:gd name="adj" fmla="val 2970"/>
            </a:avLst>
          </a:prstGeom>
        </p:spPr>
      </p:pic>
      <p:sp>
        <p:nvSpPr>
          <p:cNvPr id="9" name="">
            <a:extLst xmlns:a="http://schemas.openxmlformats.org/drawingml/2006/main">
              <a:ext uri="{FF2B5EF4-FFF2-40B4-BE49-F238E27FC236}">
                <a16:creationId xmlns:a16="http://schemas.microsoft.com/office/drawing/2014/main" id="{20DAC9EE-8C35-420F-9E9B-AAF941DD09B9}"/>
              </a:ext>
            </a:extLst>
          </p:cNvPr>
          <p:cNvSpPr>
            <a:spLocks xmlns:a="http://schemas.openxmlformats.org/drawingml/2006/main" noGrp="1"/>
          </p:cNvSpPr>
          <p:nvPr/>
        </p:nvSpPr>
        <p:spPr>
          <a:xfrm xmlns:a="http://schemas.openxmlformats.org/drawingml/2006/main">
            <a:off x="6286500" y="1676400"/>
            <a:ext cx="5448300" cy="3943350"/>
          </a:xfrm>
          <a:prstGeom xmlns:a="http://schemas.openxmlformats.org/drawingml/2006/main" prst="roundRect">
            <a:avLst>
              <a:gd name="adj" fmla="val 3382"/>
            </a:avLst>
          </a:prstGeom>
          <a:solidFill xmlns:a="http://schemas.openxmlformats.org/drawingml/2006/main">
            <a:srgbClr val="FFFFFF"/>
          </a:solidFill>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06d2923b49e45ea"/>
          <a:stretch xmlns:a="http://schemas.openxmlformats.org/drawingml/2006/main"/>
        </p:blipFill>
        <p:spPr>
          <a:xfrm xmlns:a="http://schemas.openxmlformats.org/drawingml/2006/main">
            <a:off x="6334125" y="2267992"/>
            <a:ext cx="5353050" cy="2760166"/>
          </a:xfrm>
          <a:prstGeom xmlns:a="http://schemas.openxmlformats.org/drawingml/2006/main" prst="roundRect">
            <a:avLst>
              <a:gd name="adj" fmla="val 2970"/>
            </a:avLst>
          </a:prstGeom>
        </p:spPr>
      </p:pic>
      <p:sp>
        <p:nvSpPr>
          <p:cNvPr id="11" name="">
            <a:extLst xmlns:a="http://schemas.openxmlformats.org/drawingml/2006/main">
              <a:ext uri="{FF2B5EF4-FFF2-40B4-BE49-F238E27FC236}">
                <a16:creationId xmlns:a16="http://schemas.microsoft.com/office/drawing/2014/main" id="{CAE513E4-D49E-425D-8EC4-EA0AB591BA69}"/>
              </a:ext>
            </a:extLst>
          </p:cNvPr>
          <p:cNvSpPr>
            <a:spLocks xmlns:a="http://schemas.openxmlformats.org/drawingml/2006/main" noGrp="1"/>
          </p:cNvSpPr>
          <p:nvPr/>
        </p:nvSpPr>
        <p:spPr>
          <a:xfrm xmlns:a="http://schemas.openxmlformats.org/drawingml/2006/main">
            <a:off x="1066800" y="5810250"/>
            <a:ext cx="4229100" cy="400050"/>
          </a:xfrm>
          <a:prstGeom xmlns:a="http://schemas.openxmlformats.org/drawingml/2006/main" prst="roundRect">
            <a:avLst>
              <a:gd name="adj" fmla="val 38095"/>
            </a:avLst>
          </a:prstGeom>
          <a:solidFill xmlns:a="http://schemas.openxmlformats.org/drawingml/2006/main">
            <a:srgbClr val="E8EDF2"/>
          </a:solidFill>
          <a:ln xmlns:a="http://schemas.openxmlformats.org/drawingml/2006/main" w="9525">
            <a:solidFill>
              <a:srgbClr val="E8EDF2"/>
            </a:solidFill>
            <a:prstDash val="solid"/>
          </a:ln>
        </p:spPr>
      </p:sp>
      <p:sp>
        <p:nvSpPr>
          <p:cNvPr id="12" name="">
            <a:extLst xmlns:a="http://schemas.openxmlformats.org/drawingml/2006/main">
              <a:ext uri="{FF2B5EF4-FFF2-40B4-BE49-F238E27FC236}">
                <a16:creationId xmlns:a16="http://schemas.microsoft.com/office/drawing/2014/main" id="{C338F36C-A098-4628-AC85-9F57413CD82A}"/>
              </a:ext>
            </a:extLst>
          </p:cNvPr>
          <p:cNvSpPr>
            <a:spLocks xmlns:a="http://schemas.openxmlformats.org/drawingml/2006/main" noGrp="1"/>
          </p:cNvSpPr>
          <p:nvPr/>
        </p:nvSpPr>
        <p:spPr>
          <a:xfrm xmlns:a="http://schemas.openxmlformats.org/drawingml/2006/main">
            <a:off x="1066800" y="58102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Generic.System.Pstree · 221 rows</a:t>
            </a:r>
          </a:p>
        </p:txBody>
      </p:sp>
      <p:sp>
        <p:nvSpPr>
          <p:cNvPr id="13" name="">
            <a:extLst xmlns:a="http://schemas.openxmlformats.org/drawingml/2006/main">
              <a:ext uri="{FF2B5EF4-FFF2-40B4-BE49-F238E27FC236}">
                <a16:creationId xmlns:a16="http://schemas.microsoft.com/office/drawing/2014/main" id="{450EEF87-5E28-4B19-8053-4CF9667CDE69}"/>
              </a:ext>
            </a:extLst>
          </p:cNvPr>
          <p:cNvSpPr>
            <a:spLocks xmlns:a="http://schemas.openxmlformats.org/drawingml/2006/main" noGrp="1"/>
          </p:cNvSpPr>
          <p:nvPr/>
        </p:nvSpPr>
        <p:spPr>
          <a:xfrm xmlns:a="http://schemas.openxmlformats.org/drawingml/2006/main">
            <a:off x="6896100" y="5810250"/>
            <a:ext cx="4229100" cy="400050"/>
          </a:xfrm>
          <a:prstGeom xmlns:a="http://schemas.openxmlformats.org/drawingml/2006/main" prst="roundRect">
            <a:avLst>
              <a:gd name="adj" fmla="val 38095"/>
            </a:avLst>
          </a:prstGeom>
          <a:solidFill xmlns:a="http://schemas.openxmlformats.org/drawingml/2006/main">
            <a:srgbClr val="E8EDF2"/>
          </a:solidFill>
          <a:ln xmlns:a="http://schemas.openxmlformats.org/drawingml/2006/main" w="9525">
            <a:solidFill>
              <a:srgbClr val="E8EDF2"/>
            </a:solidFill>
            <a:prstDash val="solid"/>
          </a:ln>
        </p:spPr>
      </p:sp>
      <p:sp>
        <p:nvSpPr>
          <p:cNvPr id="14" name="">
            <a:extLst xmlns:a="http://schemas.openxmlformats.org/drawingml/2006/main">
              <a:ext uri="{FF2B5EF4-FFF2-40B4-BE49-F238E27FC236}">
                <a16:creationId xmlns:a16="http://schemas.microsoft.com/office/drawing/2014/main" id="{BDA3C183-1242-4F7E-BB12-664A33A19868}"/>
              </a:ext>
            </a:extLst>
          </p:cNvPr>
          <p:cNvSpPr>
            <a:spLocks xmlns:a="http://schemas.openxmlformats.org/drawingml/2006/main" noGrp="1"/>
          </p:cNvSpPr>
          <p:nvPr/>
        </p:nvSpPr>
        <p:spPr>
          <a:xfrm xmlns:a="http://schemas.openxmlformats.org/drawingml/2006/main">
            <a:off x="6896100" y="5810250"/>
            <a:ext cx="422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Windows.Network.Netstat · 115 rows</a:t>
            </a:r>
          </a:p>
        </p:txBody>
      </p:sp>
      <p:sp>
        <p:nvSpPr>
          <p:cNvPr id="15" name="">
            <a:extLst xmlns:a="http://schemas.openxmlformats.org/drawingml/2006/main">
              <a:ext uri="{FF2B5EF4-FFF2-40B4-BE49-F238E27FC236}">
                <a16:creationId xmlns:a16="http://schemas.microsoft.com/office/drawing/2014/main" id="{1BA1A10D-CBC4-4E9E-9CE8-69F85ED849ED}"/>
              </a:ext>
            </a:extLst>
          </p:cNvPr>
          <p:cNvSpPr>
            <a:spLocks xmlns:a="http://schemas.openxmlformats.org/drawingml/2006/main" noGrp="1"/>
          </p:cNvSpPr>
          <p:nvPr/>
        </p:nvSpPr>
        <p:spPr>
          <a:xfrm xmlns:a="http://schemas.openxmlformats.org/drawingml/2006/main">
            <a:off x="4686300" y="5048250"/>
            <a:ext cx="2819400" cy="10668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9EDEDB50-5060-466E-BAC1-B8775F7F3C19}"/>
              </a:ext>
            </a:extLst>
          </p:cNvPr>
          <p:cNvSpPr>
            <a:spLocks xmlns:a="http://schemas.openxmlformats.org/drawingml/2006/main" noGrp="1"/>
          </p:cNvSpPr>
          <p:nvPr/>
        </p:nvSpPr>
        <p:spPr>
          <a:xfrm xmlns:a="http://schemas.openxmlformats.org/drawingml/2006/main">
            <a:off x="4686300" y="5048250"/>
            <a:ext cx="76200" cy="10668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355513A2-AC1F-46A8-AF05-36E40618F8C8}"/>
              </a:ext>
            </a:extLst>
          </p:cNvPr>
          <p:cNvSpPr>
            <a:spLocks xmlns:a="http://schemas.openxmlformats.org/drawingml/2006/main" noGrp="1"/>
          </p:cNvSpPr>
          <p:nvPr/>
        </p:nvSpPr>
        <p:spPr>
          <a:xfrm xmlns:a="http://schemas.openxmlformats.org/drawingml/2006/main">
            <a:off x="4914900" y="5191125"/>
            <a:ext cx="2457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336</a:t>
            </a:r>
          </a:p>
        </p:txBody>
      </p:sp>
      <p:sp>
        <p:nvSpPr>
          <p:cNvPr id="18" name="">
            <a:extLst xmlns:a="http://schemas.openxmlformats.org/drawingml/2006/main">
              <a:ext uri="{FF2B5EF4-FFF2-40B4-BE49-F238E27FC236}">
                <a16:creationId xmlns:a16="http://schemas.microsoft.com/office/drawing/2014/main" id="{33983030-E635-4441-9BDC-6AFF0EABADD1}"/>
              </a:ext>
            </a:extLst>
          </p:cNvPr>
          <p:cNvSpPr>
            <a:spLocks xmlns:a="http://schemas.openxmlformats.org/drawingml/2006/main" noGrp="1"/>
          </p:cNvSpPr>
          <p:nvPr/>
        </p:nvSpPr>
        <p:spPr>
          <a:xfrm xmlns:a="http://schemas.openxmlformats.org/drawingml/2006/main">
            <a:off x="4914900" y="5600700"/>
            <a:ext cx="2457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Total remote rows returned in the completed collection</a:t>
            </a:r>
          </a:p>
        </p:txBody>
      </p:sp>
    </p:spTree>
    <p:extLst>
      <p:ext uri="{BB962C8B-B14F-4D97-AF65-F5344CB8AC3E}">
        <p14:creationId xmlns:p14="http://schemas.microsoft.com/office/powerpoint/2010/main" val="62794179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1C405E40-BE7B-4C7A-BDE0-90E69B2363F1}"/>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DE0F0C70-57E0-4EAF-AE82-3169D7FE623A}"/>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994705D0-4439-421D-AEE9-ADEF60FD518E}"/>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34425C62-98E4-457D-93C5-B47C501ABE8D}"/>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8C9DD094-5D82-471A-B63B-524AB8A34DF9}"/>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E9F853F9-F2D9-4859-9016-0817FBDA65FB}"/>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5DB72D29-F667-428D-B13A-C55927BC6784}"/>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7BC0446E-7735-4327-945A-BB098ECEEE55}"/>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06F95ADC-7DB7-44EE-A572-3AF3B9723715}"/>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12B36249-B03B-4D42-9D4A-695B08E12E40}"/>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8D41B8AF-7876-4F46-BA3C-03800ADDCA74}"/>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58984217-1338-4976-BB28-B82F759ADFBF}"/>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C1F8DA8F-F37E-41C5-A428-BF767118B410}"/>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D85B106A-367C-4CF4-A606-1740CD2D10F2}"/>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3A2D3FDE-3F3B-401A-A2E0-40ABD5298A54}"/>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688A921C-0D4D-4F8B-B04D-71D4C8F21F56}"/>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C4F8AF18-D739-4FFF-B2E4-5D0255D2BFDD}"/>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B9A4F76E-B577-4611-9403-5FE703C993FA}"/>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7F616A9B-7C8A-449D-ABAC-E7F4300CD166}"/>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DA6CBC5E-AE9B-4D82-A2C1-56CCC29ECF09}"/>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Safe incident simulation and reversible containment</a:t>
            </a:r>
          </a:p>
        </p:txBody>
      </p:sp>
      <p:sp>
        <p:nvSpPr>
          <p:cNvPr id="21" name="">
            <a:extLst xmlns:a="http://schemas.openxmlformats.org/drawingml/2006/main">
              <a:ext uri="{FF2B5EF4-FFF2-40B4-BE49-F238E27FC236}">
                <a16:creationId xmlns:a16="http://schemas.microsoft.com/office/drawing/2014/main" id="{E6494B42-A9C1-401C-8FC5-41D6CF92C9A0}"/>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09</a:t>
            </a:r>
          </a:p>
        </p:txBody>
      </p:sp>
      <p:sp>
        <p:nvSpPr>
          <p:cNvPr id="22" name="">
            <a:extLst xmlns:a="http://schemas.openxmlformats.org/drawingml/2006/main">
              <a:ext uri="{FF2B5EF4-FFF2-40B4-BE49-F238E27FC236}">
                <a16:creationId xmlns:a16="http://schemas.microsoft.com/office/drawing/2014/main" id="{45AAF2E4-6077-4C26-9F68-6BFFE6C86E38}"/>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15CF2644-3233-4243-9ABE-23C787469BF0}"/>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24" name="">
            <a:extLst xmlns:a="http://schemas.openxmlformats.org/drawingml/2006/main">
              <a:ext uri="{FF2B5EF4-FFF2-40B4-BE49-F238E27FC236}">
                <a16:creationId xmlns:a16="http://schemas.microsoft.com/office/drawing/2014/main" id="{0D996311-9082-412D-B121-5A2EE0A21328}"/>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94862E94-7689-42FE-83C8-815C429DAC35}"/>
              </a:ext>
            </a:extLst>
          </p:cNvPr>
          <p:cNvSpPr>
            <a:spLocks xmlns:a="http://schemas.openxmlformats.org/drawingml/2006/main" noGrp="1"/>
          </p:cNvSpPr>
          <p:nvPr/>
        </p:nvSpPr>
        <p:spPr>
          <a:xfrm xmlns:a="http://schemas.openxmlformats.org/drawingml/2006/main">
            <a:off x="609600" y="1752600"/>
            <a:ext cx="514350" cy="400050"/>
          </a:xfrm>
          <a:prstGeom xmlns:a="http://schemas.openxmlformats.org/drawingml/2006/main" prst="roundRect">
            <a:avLst>
              <a:gd name="adj" fmla="val 38095"/>
            </a:avLst>
          </a:prstGeom>
          <a:solidFill xmlns:a="http://schemas.openxmlformats.org/drawingml/2006/main">
            <a:srgbClr val="3D8DFF"/>
          </a:solidFill>
          <a:ln xmlns:a="http://schemas.openxmlformats.org/drawingml/2006/main" w="9525">
            <a:solidFill>
              <a:srgbClr val="3D8DFF"/>
            </a:solidFill>
            <a:prstDash val="solid"/>
          </a:ln>
        </p:spPr>
      </p:sp>
      <p:sp>
        <p:nvSpPr>
          <p:cNvPr id="26" name="">
            <a:extLst xmlns:a="http://schemas.openxmlformats.org/drawingml/2006/main">
              <a:ext uri="{FF2B5EF4-FFF2-40B4-BE49-F238E27FC236}">
                <a16:creationId xmlns:a16="http://schemas.microsoft.com/office/drawing/2014/main" id="{D65652C1-A66D-4751-8F7A-8E50B0571620}"/>
              </a:ext>
            </a:extLst>
          </p:cNvPr>
          <p:cNvSpPr>
            <a:spLocks xmlns:a="http://schemas.openxmlformats.org/drawingml/2006/main" noGrp="1"/>
          </p:cNvSpPr>
          <p:nvPr/>
        </p:nvSpPr>
        <p:spPr>
          <a:xfrm xmlns:a="http://schemas.openxmlformats.org/drawingml/2006/main">
            <a:off x="609600" y="17526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01</a:t>
            </a:r>
          </a:p>
        </p:txBody>
      </p:sp>
      <p:sp>
        <p:nvSpPr>
          <p:cNvPr id="27" name="">
            <a:extLst xmlns:a="http://schemas.openxmlformats.org/drawingml/2006/main">
              <a:ext uri="{FF2B5EF4-FFF2-40B4-BE49-F238E27FC236}">
                <a16:creationId xmlns:a16="http://schemas.microsoft.com/office/drawing/2014/main" id="{6154D16F-B12C-4B30-B1BC-D9385BE3378D}"/>
              </a:ext>
            </a:extLst>
          </p:cNvPr>
          <p:cNvSpPr>
            <a:spLocks xmlns:a="http://schemas.openxmlformats.org/drawingml/2006/main" noGrp="1"/>
          </p:cNvSpPr>
          <p:nvPr/>
        </p:nvSpPr>
        <p:spPr>
          <a:xfrm xmlns:a="http://schemas.openxmlformats.org/drawingml/2006/main">
            <a:off x="1428750" y="1714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0B0E14"/>
                </a:solidFill>
                <a:latin typeface="Helvetica Neue"/>
                <a:ea typeface="Helvetica Neue"/>
                <a:cs typeface="Helvetica Neue"/>
              </a:defRPr>
            </a:pPr>
            <a:r>
              <a:rPr sz="1500" b="1">
                <a:solidFill>
                  <a:srgbClr val="0B0E14"/>
                </a:solidFill>
                <a:latin typeface="Helvetica Neue"/>
                <a:ea typeface="Helvetica Neue"/>
                <a:cs typeface="Helvetica Neue"/>
              </a:rPr>
              <a:t>GENERATE</a:t>
            </a:r>
          </a:p>
        </p:txBody>
      </p:sp>
      <p:sp>
        <p:nvSpPr>
          <p:cNvPr id="28" name="">
            <a:extLst xmlns:a="http://schemas.openxmlformats.org/drawingml/2006/main">
              <a:ext uri="{FF2B5EF4-FFF2-40B4-BE49-F238E27FC236}">
                <a16:creationId xmlns:a16="http://schemas.microsoft.com/office/drawing/2014/main" id="{3B8147A8-588D-43AE-8B89-9D1776FDC74F}"/>
              </a:ext>
            </a:extLst>
          </p:cNvPr>
          <p:cNvSpPr>
            <a:spLocks xmlns:a="http://schemas.openxmlformats.org/drawingml/2006/main" noGrp="1"/>
          </p:cNvSpPr>
          <p:nvPr/>
        </p:nvSpPr>
        <p:spPr>
          <a:xfrm xmlns:a="http://schemas.openxmlformats.org/drawingml/2006/main">
            <a:off x="1428750" y="204787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Failed-login, file, process, and IOC markers</a:t>
            </a:r>
          </a:p>
        </p:txBody>
      </p:sp>
      <p:sp>
        <p:nvSpPr>
          <p:cNvPr id="29" name="">
            <a:extLst xmlns:a="http://schemas.openxmlformats.org/drawingml/2006/main">
              <a:ext uri="{FF2B5EF4-FFF2-40B4-BE49-F238E27FC236}">
                <a16:creationId xmlns:a16="http://schemas.microsoft.com/office/drawing/2014/main" id="{3EF49AAC-D234-46A8-B2DF-EE782DB27D81}"/>
              </a:ext>
            </a:extLst>
          </p:cNvPr>
          <p:cNvSpPr>
            <a:spLocks xmlns:a="http://schemas.openxmlformats.org/drawingml/2006/main" noGrp="1"/>
          </p:cNvSpPr>
          <p:nvPr/>
        </p:nvSpPr>
        <p:spPr>
          <a:xfrm xmlns:a="http://schemas.openxmlformats.org/drawingml/2006/main">
            <a:off x="866775" y="2152650"/>
            <a:ext cx="0" cy="447675"/>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30" name="">
            <a:extLst xmlns:a="http://schemas.openxmlformats.org/drawingml/2006/main">
              <a:ext uri="{FF2B5EF4-FFF2-40B4-BE49-F238E27FC236}">
                <a16:creationId xmlns:a16="http://schemas.microsoft.com/office/drawing/2014/main" id="{AA28A500-587F-4AC0-B34D-E4DAA89E6530}"/>
              </a:ext>
            </a:extLst>
          </p:cNvPr>
          <p:cNvSpPr>
            <a:spLocks xmlns:a="http://schemas.openxmlformats.org/drawingml/2006/main" noGrp="1"/>
          </p:cNvSpPr>
          <p:nvPr/>
        </p:nvSpPr>
        <p:spPr>
          <a:xfrm xmlns:a="http://schemas.openxmlformats.org/drawingml/2006/main">
            <a:off x="609600" y="2609850"/>
            <a:ext cx="514350" cy="400050"/>
          </a:xfrm>
          <a:prstGeom xmlns:a="http://schemas.openxmlformats.org/drawingml/2006/main" prst="roundRect">
            <a:avLst>
              <a:gd name="adj" fmla="val 38095"/>
            </a:avLst>
          </a:prstGeom>
          <a:solidFill xmlns:a="http://schemas.openxmlformats.org/drawingml/2006/main">
            <a:srgbClr val="3D8DFF"/>
          </a:solidFill>
          <a:ln xmlns:a="http://schemas.openxmlformats.org/drawingml/2006/main" w="9525">
            <a:solidFill>
              <a:srgbClr val="3D8DFF"/>
            </a:solidFill>
            <a:prstDash val="solid"/>
          </a:ln>
        </p:spPr>
      </p:sp>
      <p:sp>
        <p:nvSpPr>
          <p:cNvPr id="31" name="">
            <a:extLst xmlns:a="http://schemas.openxmlformats.org/drawingml/2006/main">
              <a:ext uri="{FF2B5EF4-FFF2-40B4-BE49-F238E27FC236}">
                <a16:creationId xmlns:a16="http://schemas.microsoft.com/office/drawing/2014/main" id="{237EB40A-B42D-41EE-ACF2-F21B20F21F7C}"/>
              </a:ext>
            </a:extLst>
          </p:cNvPr>
          <p:cNvSpPr>
            <a:spLocks xmlns:a="http://schemas.openxmlformats.org/drawingml/2006/main" noGrp="1"/>
          </p:cNvSpPr>
          <p:nvPr/>
        </p:nvSpPr>
        <p:spPr>
          <a:xfrm xmlns:a="http://schemas.openxmlformats.org/drawingml/2006/main">
            <a:off x="609600" y="26098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02</a:t>
            </a:r>
          </a:p>
        </p:txBody>
      </p:sp>
      <p:sp>
        <p:nvSpPr>
          <p:cNvPr id="32" name="">
            <a:extLst xmlns:a="http://schemas.openxmlformats.org/drawingml/2006/main">
              <a:ext uri="{FF2B5EF4-FFF2-40B4-BE49-F238E27FC236}">
                <a16:creationId xmlns:a16="http://schemas.microsoft.com/office/drawing/2014/main" id="{3B1CA0A8-3C21-4B1D-8CB5-6C4691FC12DA}"/>
              </a:ext>
            </a:extLst>
          </p:cNvPr>
          <p:cNvSpPr>
            <a:spLocks xmlns:a="http://schemas.openxmlformats.org/drawingml/2006/main" noGrp="1"/>
          </p:cNvSpPr>
          <p:nvPr/>
        </p:nvSpPr>
        <p:spPr>
          <a:xfrm xmlns:a="http://schemas.openxmlformats.org/drawingml/2006/main">
            <a:off x="1428750" y="25717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0B0E14"/>
                </a:solidFill>
                <a:latin typeface="Helvetica Neue"/>
                <a:ea typeface="Helvetica Neue"/>
                <a:cs typeface="Helvetica Neue"/>
              </a:defRPr>
            </a:pPr>
            <a:r>
              <a:rPr sz="1500" b="1">
                <a:solidFill>
                  <a:srgbClr val="0B0E14"/>
                </a:solidFill>
                <a:latin typeface="Helvetica Neue"/>
                <a:ea typeface="Helvetica Neue"/>
                <a:cs typeface="Helvetica Neue"/>
              </a:rPr>
              <a:t>PRESERVE</a:t>
            </a:r>
          </a:p>
        </p:txBody>
      </p:sp>
      <p:sp>
        <p:nvSpPr>
          <p:cNvPr id="33" name="">
            <a:extLst xmlns:a="http://schemas.openxmlformats.org/drawingml/2006/main">
              <a:ext uri="{FF2B5EF4-FFF2-40B4-BE49-F238E27FC236}">
                <a16:creationId xmlns:a16="http://schemas.microsoft.com/office/drawing/2014/main" id="{5B32645D-EA5C-4121-B5D2-DAFE60260533}"/>
              </a:ext>
            </a:extLst>
          </p:cNvPr>
          <p:cNvSpPr>
            <a:spLocks xmlns:a="http://schemas.openxmlformats.org/drawingml/2006/main" noGrp="1"/>
          </p:cNvSpPr>
          <p:nvPr/>
        </p:nvSpPr>
        <p:spPr>
          <a:xfrm xmlns:a="http://schemas.openxmlformats.org/drawingml/2006/main">
            <a:off x="1428750" y="290512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Pre-containment volatile evidence + hashes</a:t>
            </a:r>
          </a:p>
        </p:txBody>
      </p:sp>
      <p:sp>
        <p:nvSpPr>
          <p:cNvPr id="34" name="">
            <a:extLst xmlns:a="http://schemas.openxmlformats.org/drawingml/2006/main">
              <a:ext uri="{FF2B5EF4-FFF2-40B4-BE49-F238E27FC236}">
                <a16:creationId xmlns:a16="http://schemas.microsoft.com/office/drawing/2014/main" id="{C8003258-1A3B-4215-BE64-B1375121AAD1}"/>
              </a:ext>
            </a:extLst>
          </p:cNvPr>
          <p:cNvSpPr>
            <a:spLocks xmlns:a="http://schemas.openxmlformats.org/drawingml/2006/main" noGrp="1"/>
          </p:cNvSpPr>
          <p:nvPr/>
        </p:nvSpPr>
        <p:spPr>
          <a:xfrm xmlns:a="http://schemas.openxmlformats.org/drawingml/2006/main">
            <a:off x="866775" y="3009900"/>
            <a:ext cx="0" cy="447675"/>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35" name="">
            <a:extLst xmlns:a="http://schemas.openxmlformats.org/drawingml/2006/main">
              <a:ext uri="{FF2B5EF4-FFF2-40B4-BE49-F238E27FC236}">
                <a16:creationId xmlns:a16="http://schemas.microsoft.com/office/drawing/2014/main" id="{89B2119D-00E5-485D-AECD-03F06225722D}"/>
              </a:ext>
            </a:extLst>
          </p:cNvPr>
          <p:cNvSpPr>
            <a:spLocks xmlns:a="http://schemas.openxmlformats.org/drawingml/2006/main" noGrp="1"/>
          </p:cNvSpPr>
          <p:nvPr/>
        </p:nvSpPr>
        <p:spPr>
          <a:xfrm xmlns:a="http://schemas.openxmlformats.org/drawingml/2006/main">
            <a:off x="609600" y="3467100"/>
            <a:ext cx="514350" cy="400050"/>
          </a:xfrm>
          <a:prstGeom xmlns:a="http://schemas.openxmlformats.org/drawingml/2006/main" prst="roundRect">
            <a:avLst>
              <a:gd name="adj" fmla="val 38095"/>
            </a:avLst>
          </a:prstGeom>
          <a:solidFill xmlns:a="http://schemas.openxmlformats.org/drawingml/2006/main">
            <a:srgbClr val="D97706"/>
          </a:solidFill>
          <a:ln xmlns:a="http://schemas.openxmlformats.org/drawingml/2006/main" w="9525">
            <a:solidFill>
              <a:srgbClr val="D97706"/>
            </a:solidFill>
            <a:prstDash val="solid"/>
          </a:ln>
        </p:spPr>
      </p:sp>
      <p:sp>
        <p:nvSpPr>
          <p:cNvPr id="36" name="">
            <a:extLst xmlns:a="http://schemas.openxmlformats.org/drawingml/2006/main">
              <a:ext uri="{FF2B5EF4-FFF2-40B4-BE49-F238E27FC236}">
                <a16:creationId xmlns:a16="http://schemas.microsoft.com/office/drawing/2014/main" id="{0DD62EC1-B21D-43DE-8E5A-CA6ED40FDFF2}"/>
              </a:ext>
            </a:extLst>
          </p:cNvPr>
          <p:cNvSpPr>
            <a:spLocks xmlns:a="http://schemas.openxmlformats.org/drawingml/2006/main" noGrp="1"/>
          </p:cNvSpPr>
          <p:nvPr/>
        </p:nvSpPr>
        <p:spPr>
          <a:xfrm xmlns:a="http://schemas.openxmlformats.org/drawingml/2006/main">
            <a:off x="609600" y="34671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03</a:t>
            </a:r>
          </a:p>
        </p:txBody>
      </p:sp>
      <p:sp>
        <p:nvSpPr>
          <p:cNvPr id="37" name="">
            <a:extLst xmlns:a="http://schemas.openxmlformats.org/drawingml/2006/main">
              <a:ext uri="{FF2B5EF4-FFF2-40B4-BE49-F238E27FC236}">
                <a16:creationId xmlns:a16="http://schemas.microsoft.com/office/drawing/2014/main" id="{6932AD03-346A-474C-A732-F8FA269264A4}"/>
              </a:ext>
            </a:extLst>
          </p:cNvPr>
          <p:cNvSpPr>
            <a:spLocks xmlns:a="http://schemas.openxmlformats.org/drawingml/2006/main" noGrp="1"/>
          </p:cNvSpPr>
          <p:nvPr/>
        </p:nvSpPr>
        <p:spPr>
          <a:xfrm xmlns:a="http://schemas.openxmlformats.org/drawingml/2006/main">
            <a:off x="1428750" y="34290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0B0E14"/>
                </a:solidFill>
                <a:latin typeface="Helvetica Neue"/>
                <a:ea typeface="Helvetica Neue"/>
                <a:cs typeface="Helvetica Neue"/>
              </a:defRPr>
            </a:pPr>
            <a:r>
              <a:rPr sz="1500" b="1">
                <a:solidFill>
                  <a:srgbClr val="0B0E14"/>
                </a:solidFill>
                <a:latin typeface="Helvetica Neue"/>
                <a:ea typeface="Helvetica Neue"/>
                <a:cs typeface="Helvetica Neue"/>
              </a:rPr>
              <a:t>CONTAIN</a:t>
            </a:r>
          </a:p>
        </p:txBody>
      </p:sp>
      <p:sp>
        <p:nvSpPr>
          <p:cNvPr id="38" name="">
            <a:extLst xmlns:a="http://schemas.openxmlformats.org/drawingml/2006/main">
              <a:ext uri="{FF2B5EF4-FFF2-40B4-BE49-F238E27FC236}">
                <a16:creationId xmlns:a16="http://schemas.microsoft.com/office/drawing/2014/main" id="{2B88F86B-6358-4557-9F43-307716C0D2BA}"/>
              </a:ext>
            </a:extLst>
          </p:cNvPr>
          <p:cNvSpPr>
            <a:spLocks xmlns:a="http://schemas.openxmlformats.org/drawingml/2006/main" noGrp="1"/>
          </p:cNvSpPr>
          <p:nvPr/>
        </p:nvSpPr>
        <p:spPr>
          <a:xfrm xmlns:a="http://schemas.openxmlformats.org/drawingml/2006/main">
            <a:off x="1428750" y="376237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Block only the two simulated RFC 5737 IOCs</a:t>
            </a:r>
          </a:p>
        </p:txBody>
      </p:sp>
      <p:sp>
        <p:nvSpPr>
          <p:cNvPr id="39" name="">
            <a:extLst xmlns:a="http://schemas.openxmlformats.org/drawingml/2006/main">
              <a:ext uri="{FF2B5EF4-FFF2-40B4-BE49-F238E27FC236}">
                <a16:creationId xmlns:a16="http://schemas.microsoft.com/office/drawing/2014/main" id="{3A523ECB-0599-4CD3-BF47-342E47A4345E}"/>
              </a:ext>
            </a:extLst>
          </p:cNvPr>
          <p:cNvSpPr>
            <a:spLocks xmlns:a="http://schemas.openxmlformats.org/drawingml/2006/main" noGrp="1"/>
          </p:cNvSpPr>
          <p:nvPr/>
        </p:nvSpPr>
        <p:spPr>
          <a:xfrm xmlns:a="http://schemas.openxmlformats.org/drawingml/2006/main">
            <a:off x="866775" y="3867150"/>
            <a:ext cx="0" cy="447675"/>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40" name="">
            <a:extLst xmlns:a="http://schemas.openxmlformats.org/drawingml/2006/main">
              <a:ext uri="{FF2B5EF4-FFF2-40B4-BE49-F238E27FC236}">
                <a16:creationId xmlns:a16="http://schemas.microsoft.com/office/drawing/2014/main" id="{C8396208-F0BF-4B15-B34B-BD57BA967D61}"/>
              </a:ext>
            </a:extLst>
          </p:cNvPr>
          <p:cNvSpPr>
            <a:spLocks xmlns:a="http://schemas.openxmlformats.org/drawingml/2006/main" noGrp="1"/>
          </p:cNvSpPr>
          <p:nvPr/>
        </p:nvSpPr>
        <p:spPr>
          <a:xfrm xmlns:a="http://schemas.openxmlformats.org/drawingml/2006/main">
            <a:off x="609600" y="4324350"/>
            <a:ext cx="514350" cy="400050"/>
          </a:xfrm>
          <a:prstGeom xmlns:a="http://schemas.openxmlformats.org/drawingml/2006/main" prst="roundRect">
            <a:avLst>
              <a:gd name="adj" fmla="val 38095"/>
            </a:avLst>
          </a:prstGeom>
          <a:solidFill xmlns:a="http://schemas.openxmlformats.org/drawingml/2006/main">
            <a:srgbClr val="3D8DFF"/>
          </a:solidFill>
          <a:ln xmlns:a="http://schemas.openxmlformats.org/drawingml/2006/main" w="9525">
            <a:solidFill>
              <a:srgbClr val="3D8DFF"/>
            </a:solidFill>
            <a:prstDash val="solid"/>
          </a:ln>
        </p:spPr>
      </p:sp>
      <p:sp>
        <p:nvSpPr>
          <p:cNvPr id="41" name="">
            <a:extLst xmlns:a="http://schemas.openxmlformats.org/drawingml/2006/main">
              <a:ext uri="{FF2B5EF4-FFF2-40B4-BE49-F238E27FC236}">
                <a16:creationId xmlns:a16="http://schemas.microsoft.com/office/drawing/2014/main" id="{B5A82865-63F6-43CB-B14D-9C429A06401E}"/>
              </a:ext>
            </a:extLst>
          </p:cNvPr>
          <p:cNvSpPr>
            <a:spLocks xmlns:a="http://schemas.openxmlformats.org/drawingml/2006/main" noGrp="1"/>
          </p:cNvSpPr>
          <p:nvPr/>
        </p:nvSpPr>
        <p:spPr>
          <a:xfrm xmlns:a="http://schemas.openxmlformats.org/drawingml/2006/main">
            <a:off x="609600" y="432435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04</a:t>
            </a:r>
          </a:p>
        </p:txBody>
      </p:sp>
      <p:sp>
        <p:nvSpPr>
          <p:cNvPr id="42" name="">
            <a:extLst xmlns:a="http://schemas.openxmlformats.org/drawingml/2006/main">
              <a:ext uri="{FF2B5EF4-FFF2-40B4-BE49-F238E27FC236}">
                <a16:creationId xmlns:a16="http://schemas.microsoft.com/office/drawing/2014/main" id="{B7F00B3D-D1E2-4BCA-9136-30BAE71DA1F4}"/>
              </a:ext>
            </a:extLst>
          </p:cNvPr>
          <p:cNvSpPr>
            <a:spLocks xmlns:a="http://schemas.openxmlformats.org/drawingml/2006/main" noGrp="1"/>
          </p:cNvSpPr>
          <p:nvPr/>
        </p:nvSpPr>
        <p:spPr>
          <a:xfrm xmlns:a="http://schemas.openxmlformats.org/drawingml/2006/main">
            <a:off x="1428750" y="42862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0B0E14"/>
                </a:solidFill>
                <a:latin typeface="Helvetica Neue"/>
                <a:ea typeface="Helvetica Neue"/>
                <a:cs typeface="Helvetica Neue"/>
              </a:defRPr>
            </a:pPr>
            <a:r>
              <a:rPr sz="1500" b="1">
                <a:solidFill>
                  <a:srgbClr val="0B0E14"/>
                </a:solidFill>
                <a:latin typeface="Helvetica Neue"/>
                <a:ea typeface="Helvetica Neue"/>
                <a:cs typeface="Helvetica Neue"/>
              </a:rPr>
              <a:t>VALIDATE</a:t>
            </a:r>
          </a:p>
        </p:txBody>
      </p:sp>
      <p:sp>
        <p:nvSpPr>
          <p:cNvPr id="43" name="">
            <a:extLst xmlns:a="http://schemas.openxmlformats.org/drawingml/2006/main">
              <a:ext uri="{FF2B5EF4-FFF2-40B4-BE49-F238E27FC236}">
                <a16:creationId xmlns:a16="http://schemas.microsoft.com/office/drawing/2014/main" id="{4272606F-6EB4-4F13-B4AC-8F5EE6372D29}"/>
              </a:ext>
            </a:extLst>
          </p:cNvPr>
          <p:cNvSpPr>
            <a:spLocks xmlns:a="http://schemas.openxmlformats.org/drawingml/2006/main" noGrp="1"/>
          </p:cNvSpPr>
          <p:nvPr/>
        </p:nvSpPr>
        <p:spPr>
          <a:xfrm xmlns:a="http://schemas.openxmlformats.org/drawingml/2006/main">
            <a:off x="1428750" y="461962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Normal LAN, DNS, gateway, and IR links remain</a:t>
            </a:r>
          </a:p>
        </p:txBody>
      </p:sp>
      <p:sp>
        <p:nvSpPr>
          <p:cNvPr id="44" name="">
            <a:extLst xmlns:a="http://schemas.openxmlformats.org/drawingml/2006/main">
              <a:ext uri="{FF2B5EF4-FFF2-40B4-BE49-F238E27FC236}">
                <a16:creationId xmlns:a16="http://schemas.microsoft.com/office/drawing/2014/main" id="{040A3C8D-601E-4BA9-A68E-D4BE6DB377BA}"/>
              </a:ext>
            </a:extLst>
          </p:cNvPr>
          <p:cNvSpPr>
            <a:spLocks xmlns:a="http://schemas.openxmlformats.org/drawingml/2006/main" noGrp="1"/>
          </p:cNvSpPr>
          <p:nvPr/>
        </p:nvSpPr>
        <p:spPr>
          <a:xfrm xmlns:a="http://schemas.openxmlformats.org/drawingml/2006/main">
            <a:off x="866775" y="4724400"/>
            <a:ext cx="0" cy="447675"/>
          </a:xfrm>
          <a:prstGeom xmlns:a="http://schemas.openxmlformats.org/drawingml/2006/main" prst="line">
            <a:avLst/>
          </a:prstGeom>
          <a:noFill xmlns:a="http://schemas.openxmlformats.org/drawingml/2006/main"/>
          <a:ln xmlns:a="http://schemas.openxmlformats.org/drawingml/2006/main" w="19050">
            <a:solidFill>
              <a:srgbClr val="B8BCC4"/>
            </a:solidFill>
            <a:prstDash val="solid"/>
          </a:ln>
        </p:spPr>
      </p:sp>
      <p:sp>
        <p:nvSpPr>
          <p:cNvPr id="45" name="">
            <a:extLst xmlns:a="http://schemas.openxmlformats.org/drawingml/2006/main">
              <a:ext uri="{FF2B5EF4-FFF2-40B4-BE49-F238E27FC236}">
                <a16:creationId xmlns:a16="http://schemas.microsoft.com/office/drawing/2014/main" id="{DF6AC7CD-0AE3-490C-9AF4-3694B1FE166A}"/>
              </a:ext>
            </a:extLst>
          </p:cNvPr>
          <p:cNvSpPr>
            <a:spLocks xmlns:a="http://schemas.openxmlformats.org/drawingml/2006/main" noGrp="1"/>
          </p:cNvSpPr>
          <p:nvPr/>
        </p:nvSpPr>
        <p:spPr>
          <a:xfrm xmlns:a="http://schemas.openxmlformats.org/drawingml/2006/main">
            <a:off x="609600" y="5181600"/>
            <a:ext cx="514350" cy="400050"/>
          </a:xfrm>
          <a:prstGeom xmlns:a="http://schemas.openxmlformats.org/drawingml/2006/main" prst="roundRect">
            <a:avLst>
              <a:gd name="adj" fmla="val 38095"/>
            </a:avLst>
          </a:prstGeom>
          <a:solidFill xmlns:a="http://schemas.openxmlformats.org/drawingml/2006/main">
            <a:srgbClr val="3D8DFF"/>
          </a:solidFill>
          <a:ln xmlns:a="http://schemas.openxmlformats.org/drawingml/2006/main" w="9525">
            <a:solidFill>
              <a:srgbClr val="3D8DFF"/>
            </a:solidFill>
            <a:prstDash val="solid"/>
          </a:ln>
        </p:spPr>
      </p:sp>
      <p:sp>
        <p:nvSpPr>
          <p:cNvPr id="46" name="">
            <a:extLst xmlns:a="http://schemas.openxmlformats.org/drawingml/2006/main">
              <a:ext uri="{FF2B5EF4-FFF2-40B4-BE49-F238E27FC236}">
                <a16:creationId xmlns:a16="http://schemas.microsoft.com/office/drawing/2014/main" id="{DB06E34F-74C0-4FA5-A8BD-59B4437CE7C7}"/>
              </a:ext>
            </a:extLst>
          </p:cNvPr>
          <p:cNvSpPr>
            <a:spLocks xmlns:a="http://schemas.openxmlformats.org/drawingml/2006/main" noGrp="1"/>
          </p:cNvSpPr>
          <p:nvPr/>
        </p:nvSpPr>
        <p:spPr>
          <a:xfrm xmlns:a="http://schemas.openxmlformats.org/drawingml/2006/main">
            <a:off x="609600" y="5181600"/>
            <a:ext cx="514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05</a:t>
            </a:r>
          </a:p>
        </p:txBody>
      </p:sp>
      <p:sp>
        <p:nvSpPr>
          <p:cNvPr id="47" name="">
            <a:extLst xmlns:a="http://schemas.openxmlformats.org/drawingml/2006/main">
              <a:ext uri="{FF2B5EF4-FFF2-40B4-BE49-F238E27FC236}">
                <a16:creationId xmlns:a16="http://schemas.microsoft.com/office/drawing/2014/main" id="{14920367-5FA8-4984-A2B6-030177765356}"/>
              </a:ext>
            </a:extLst>
          </p:cNvPr>
          <p:cNvSpPr>
            <a:spLocks xmlns:a="http://schemas.openxmlformats.org/drawingml/2006/main" noGrp="1"/>
          </p:cNvSpPr>
          <p:nvPr/>
        </p:nvSpPr>
        <p:spPr>
          <a:xfrm xmlns:a="http://schemas.openxmlformats.org/drawingml/2006/main">
            <a:off x="1428750" y="51435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500" b="1">
                <a:solidFill>
                  <a:srgbClr val="0B0E14"/>
                </a:solidFill>
                <a:latin typeface="Helvetica Neue"/>
                <a:ea typeface="Helvetica Neue"/>
                <a:cs typeface="Helvetica Neue"/>
              </a:defRPr>
            </a:pPr>
            <a:r>
              <a:rPr sz="1500" b="1">
                <a:solidFill>
                  <a:srgbClr val="0B0E14"/>
                </a:solidFill>
                <a:latin typeface="Helvetica Neue"/>
                <a:ea typeface="Helvetica Neue"/>
                <a:cs typeface="Helvetica Neue"/>
              </a:rPr>
              <a:t>ROLL BACK</a:t>
            </a:r>
          </a:p>
        </p:txBody>
      </p:sp>
      <p:sp>
        <p:nvSpPr>
          <p:cNvPr id="48" name="">
            <a:extLst xmlns:a="http://schemas.openxmlformats.org/drawingml/2006/main">
              <a:ext uri="{FF2B5EF4-FFF2-40B4-BE49-F238E27FC236}">
                <a16:creationId xmlns:a16="http://schemas.microsoft.com/office/drawing/2014/main" id="{DF943E39-F46A-41DA-87AB-548A9C139227}"/>
              </a:ext>
            </a:extLst>
          </p:cNvPr>
          <p:cNvSpPr>
            <a:spLocks xmlns:a="http://schemas.openxmlformats.org/drawingml/2006/main" noGrp="1"/>
          </p:cNvSpPr>
          <p:nvPr/>
        </p:nvSpPr>
        <p:spPr>
          <a:xfrm xmlns:a="http://schemas.openxmlformats.org/drawingml/2006/main">
            <a:off x="1428750" y="5476875"/>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Remove only project firewall rules</a:t>
            </a:r>
          </a:p>
        </p:txBody>
      </p:sp>
      <p:sp>
        <p:nvSpPr>
          <p:cNvPr id="49" name="">
            <a:extLst xmlns:a="http://schemas.openxmlformats.org/drawingml/2006/main">
              <a:ext uri="{FF2B5EF4-FFF2-40B4-BE49-F238E27FC236}">
                <a16:creationId xmlns:a16="http://schemas.microsoft.com/office/drawing/2014/main" id="{408E266D-0C37-4569-B1F9-BC6250C6A65C}"/>
              </a:ext>
            </a:extLst>
          </p:cNvPr>
          <p:cNvSpPr>
            <a:spLocks xmlns:a="http://schemas.openxmlformats.org/drawingml/2006/main" noGrp="1"/>
          </p:cNvSpPr>
          <p:nvPr/>
        </p:nvSpPr>
        <p:spPr>
          <a:xfrm xmlns:a="http://schemas.openxmlformats.org/drawingml/2006/main">
            <a:off x="7753350" y="1809750"/>
            <a:ext cx="3562350" cy="3371850"/>
          </a:xfrm>
          <a:prstGeom xmlns:a="http://schemas.openxmlformats.org/drawingml/2006/main" prst="roundRect">
            <a:avLst>
              <a:gd name="adj" fmla="val 6215"/>
            </a:avLst>
          </a:prstGeom>
          <a:solidFill xmlns:a="http://schemas.openxmlformats.org/drawingml/2006/main">
            <a:srgbClr val="0B0E14"/>
          </a:solidFill>
          <a:ln xmlns:a="http://schemas.openxmlformats.org/drawingml/2006/main" w="9525">
            <a:solidFill>
              <a:srgbClr val="0B0E14"/>
            </a:solidFill>
            <a:prstDash val="solid"/>
          </a:ln>
        </p:spPr>
      </p:sp>
      <p:sp>
        <p:nvSpPr>
          <p:cNvPr id="50" name="">
            <a:extLst xmlns:a="http://schemas.openxmlformats.org/drawingml/2006/main">
              <a:ext uri="{FF2B5EF4-FFF2-40B4-BE49-F238E27FC236}">
                <a16:creationId xmlns:a16="http://schemas.microsoft.com/office/drawing/2014/main" id="{E5AC263A-A145-41F5-8A80-5E5AB2A723BC}"/>
              </a:ext>
            </a:extLst>
          </p:cNvPr>
          <p:cNvSpPr>
            <a:spLocks xmlns:a="http://schemas.openxmlformats.org/drawingml/2006/main" noGrp="1"/>
          </p:cNvSpPr>
          <p:nvPr/>
        </p:nvSpPr>
        <p:spPr>
          <a:xfrm xmlns:a="http://schemas.openxmlformats.org/drawingml/2006/main">
            <a:off x="8096250" y="21526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NARROW CONTAINMENT</a:t>
            </a:r>
          </a:p>
        </p:txBody>
      </p:sp>
      <p:sp>
        <p:nvSpPr>
          <p:cNvPr id="51" name="">
            <a:extLst xmlns:a="http://schemas.openxmlformats.org/drawingml/2006/main">
              <a:ext uri="{FF2B5EF4-FFF2-40B4-BE49-F238E27FC236}">
                <a16:creationId xmlns:a16="http://schemas.microsoft.com/office/drawing/2014/main" id="{F698EDEF-0549-4624-B1BB-495FBAEC9EFD}"/>
              </a:ext>
            </a:extLst>
          </p:cNvPr>
          <p:cNvSpPr>
            <a:spLocks xmlns:a="http://schemas.openxmlformats.org/drawingml/2006/main" noGrp="1"/>
          </p:cNvSpPr>
          <p:nvPr/>
        </p:nvSpPr>
        <p:spPr>
          <a:xfrm xmlns:a="http://schemas.openxmlformats.org/drawingml/2006/main">
            <a:off x="8096250" y="2724150"/>
            <a:ext cx="285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198.51.100.77</a:t>
            </a:r>
          </a:p>
          <a:p xmlns:a="http://schemas.openxmlformats.org/drawingml/2006/main">
            <a:pPr algn="ctr">
              <a:lnSpc>
                <a:spcPct val="115000"/>
              </a:lnSpc>
              <a:buNone/>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203.0.113.50</a:t>
            </a:r>
          </a:p>
        </p:txBody>
      </p:sp>
      <p:sp>
        <p:nvSpPr>
          <p:cNvPr id="52" name="">
            <a:extLst xmlns:a="http://schemas.openxmlformats.org/drawingml/2006/main">
              <a:ext uri="{FF2B5EF4-FFF2-40B4-BE49-F238E27FC236}">
                <a16:creationId xmlns:a16="http://schemas.microsoft.com/office/drawing/2014/main" id="{D02C7159-43DC-4665-BAFC-3E8C5B60BED5}"/>
              </a:ext>
            </a:extLst>
          </p:cNvPr>
          <p:cNvSpPr>
            <a:spLocks xmlns:a="http://schemas.openxmlformats.org/drawingml/2006/main" noGrp="1"/>
          </p:cNvSpPr>
          <p:nvPr/>
        </p:nvSpPr>
        <p:spPr>
          <a:xfrm xmlns:a="http://schemas.openxmlformats.org/drawingml/2006/main">
            <a:off x="8096250" y="3981450"/>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a:solidFill>
                  <a:srgbClr val="6DCBF4"/>
                </a:solidFill>
                <a:latin typeface="Helvetica Neue"/>
                <a:ea typeface="Helvetica Neue"/>
                <a:cs typeface="Helvetica Neue"/>
              </a:defRPr>
            </a:pPr>
            <a:r>
              <a:rPr sz="1350">
                <a:solidFill>
                  <a:srgbClr val="6DCBF4"/>
                </a:solidFill>
                <a:latin typeface="Helvetica Neue"/>
                <a:ea typeface="Helvetica Neue"/>
                <a:cs typeface="Helvetica Neue"/>
              </a:rPr>
              <a:t>Documentation-only addresses</a:t>
            </a:r>
          </a:p>
          <a:p xmlns:a="http://schemas.openxmlformats.org/drawingml/2006/main">
            <a:pPr algn="ctr">
              <a:defRPr sz="1350">
                <a:solidFill>
                  <a:srgbClr val="6DCBF4"/>
                </a:solidFill>
                <a:latin typeface="Helvetica Neue"/>
                <a:ea typeface="Helvetica Neue"/>
                <a:cs typeface="Helvetica Neue"/>
              </a:defRPr>
            </a:pPr>
            <a:r>
              <a:rPr sz="1350">
                <a:solidFill>
                  <a:srgbClr val="6DCBF4"/>
                </a:solidFill>
                <a:latin typeface="Helvetica Neue"/>
                <a:ea typeface="Helvetica Neue"/>
                <a:cs typeface="Helvetica Neue"/>
              </a:rPr>
              <a:t>Network contact = false</a:t>
            </a:r>
          </a:p>
        </p:txBody>
      </p:sp>
      <p:sp>
        <p:nvSpPr>
          <p:cNvPr id="53" name="">
            <a:extLst xmlns:a="http://schemas.openxmlformats.org/drawingml/2006/main">
              <a:ext uri="{FF2B5EF4-FFF2-40B4-BE49-F238E27FC236}">
                <a16:creationId xmlns:a16="http://schemas.microsoft.com/office/drawing/2014/main" id="{2A079472-10BF-4FFB-9200-0293E14FC51A}"/>
              </a:ext>
            </a:extLst>
          </p:cNvPr>
          <p:cNvSpPr>
            <a:spLocks xmlns:a="http://schemas.openxmlformats.org/drawingml/2006/main" noGrp="1"/>
          </p:cNvSpPr>
          <p:nvPr/>
        </p:nvSpPr>
        <p:spPr>
          <a:xfrm xmlns:a="http://schemas.openxmlformats.org/drawingml/2006/main">
            <a:off x="8096250" y="5467350"/>
            <a:ext cx="2857500" cy="400050"/>
          </a:xfrm>
          <a:prstGeom xmlns:a="http://schemas.openxmlformats.org/drawingml/2006/main" prst="roundRect">
            <a:avLst>
              <a:gd name="adj" fmla="val 38095"/>
            </a:avLst>
          </a:prstGeom>
          <a:solidFill xmlns:a="http://schemas.openxmlformats.org/drawingml/2006/main">
            <a:srgbClr val="DDF5EB"/>
          </a:solidFill>
          <a:ln xmlns:a="http://schemas.openxmlformats.org/drawingml/2006/main" w="9525">
            <a:solidFill>
              <a:srgbClr val="DDF5EB"/>
            </a:solidFill>
            <a:prstDash val="solid"/>
          </a:ln>
        </p:spPr>
      </p:sp>
      <p:sp>
        <p:nvSpPr>
          <p:cNvPr id="54" name="">
            <a:extLst xmlns:a="http://schemas.openxmlformats.org/drawingml/2006/main">
              <a:ext uri="{FF2B5EF4-FFF2-40B4-BE49-F238E27FC236}">
                <a16:creationId xmlns:a16="http://schemas.microsoft.com/office/drawing/2014/main" id="{43629009-5FB6-40C1-B793-F8078CF4319B}"/>
              </a:ext>
            </a:extLst>
          </p:cNvPr>
          <p:cNvSpPr>
            <a:spLocks xmlns:a="http://schemas.openxmlformats.org/drawingml/2006/main" noGrp="1"/>
          </p:cNvSpPr>
          <p:nvPr/>
        </p:nvSpPr>
        <p:spPr>
          <a:xfrm xmlns:a="http://schemas.openxmlformats.org/drawingml/2006/main">
            <a:off x="8096250" y="54673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CONTAINMENT PASS</a:t>
            </a:r>
          </a:p>
        </p:txBody>
      </p:sp>
      <p:sp>
        <p:nvSpPr>
          <p:cNvPr id="55" name="">
            <a:extLst xmlns:a="http://schemas.openxmlformats.org/drawingml/2006/main">
              <a:ext uri="{FF2B5EF4-FFF2-40B4-BE49-F238E27FC236}">
                <a16:creationId xmlns:a16="http://schemas.microsoft.com/office/drawing/2014/main" id="{6D54FEDF-FCED-4D64-A50A-0C4FC287A554}"/>
              </a:ext>
            </a:extLst>
          </p:cNvPr>
          <p:cNvSpPr>
            <a:spLocks xmlns:a="http://schemas.openxmlformats.org/drawingml/2006/main" noGrp="1"/>
          </p:cNvSpPr>
          <p:nvPr/>
        </p:nvSpPr>
        <p:spPr>
          <a:xfrm xmlns:a="http://schemas.openxmlformats.org/drawingml/2006/main">
            <a:off x="8096250" y="5943600"/>
            <a:ext cx="2857500" cy="400050"/>
          </a:xfrm>
          <a:prstGeom xmlns:a="http://schemas.openxmlformats.org/drawingml/2006/main" prst="roundRect">
            <a:avLst>
              <a:gd name="adj" fmla="val 38095"/>
            </a:avLst>
          </a:prstGeom>
          <a:solidFill xmlns:a="http://schemas.openxmlformats.org/drawingml/2006/main">
            <a:srgbClr val="DDF5EB"/>
          </a:solidFill>
          <a:ln xmlns:a="http://schemas.openxmlformats.org/drawingml/2006/main" w="9525">
            <a:solidFill>
              <a:srgbClr val="DDF5EB"/>
            </a:solidFill>
            <a:prstDash val="solid"/>
          </a:ln>
        </p:spPr>
      </p:sp>
      <p:sp>
        <p:nvSpPr>
          <p:cNvPr id="56" name="">
            <a:extLst xmlns:a="http://schemas.openxmlformats.org/drawingml/2006/main">
              <a:ext uri="{FF2B5EF4-FFF2-40B4-BE49-F238E27FC236}">
                <a16:creationId xmlns:a16="http://schemas.microsoft.com/office/drawing/2014/main" id="{B895077A-0905-4B91-96A8-2946E102D6FC}"/>
              </a:ext>
            </a:extLst>
          </p:cNvPr>
          <p:cNvSpPr>
            <a:spLocks xmlns:a="http://schemas.openxmlformats.org/drawingml/2006/main" noGrp="1"/>
          </p:cNvSpPr>
          <p:nvPr/>
        </p:nvSpPr>
        <p:spPr>
          <a:xfrm xmlns:a="http://schemas.openxmlformats.org/drawingml/2006/main">
            <a:off x="8096250" y="59436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ROLLBACK PASS</a:t>
            </a:r>
          </a:p>
        </p:txBody>
      </p:sp>
    </p:spTree>
    <p:extLst>
      <p:ext uri="{BB962C8B-B14F-4D97-AF65-F5344CB8AC3E}">
        <p14:creationId xmlns:p14="http://schemas.microsoft.com/office/powerpoint/2010/main" val="18161727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BF5CD10-C630-4A72-B39F-A7F883466156}"/>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62DF17E6-264E-470C-A21F-64A8B090262E}"/>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Splunk correlation: repeated authentication failures</a:t>
            </a:r>
          </a:p>
        </p:txBody>
      </p:sp>
      <p:sp>
        <p:nvSpPr>
          <p:cNvPr id="3" name="">
            <a:extLst xmlns:a="http://schemas.openxmlformats.org/drawingml/2006/main">
              <a:ext uri="{FF2B5EF4-FFF2-40B4-BE49-F238E27FC236}">
                <a16:creationId xmlns:a16="http://schemas.microsoft.com/office/drawing/2014/main" id="{86844C22-920A-47BA-97B6-436ABF15DE22}"/>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FC3D0D0A-02B0-45DB-8315-203294486450}"/>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7EE4390A-03EA-4838-A400-B3D81D2F7F7C}"/>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19AF2D89-84A1-4C11-AD52-BE5305162205}"/>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3A4D7316-2856-474F-99AD-9ADB0E30F33D}"/>
              </a:ext>
            </a:extLst>
          </p:cNvPr>
          <p:cNvSpPr>
            <a:spLocks xmlns:a="http://schemas.openxmlformats.org/drawingml/2006/main" noGrp="1"/>
          </p:cNvSpPr>
          <p:nvPr/>
        </p:nvSpPr>
        <p:spPr>
          <a:xfrm xmlns:a="http://schemas.openxmlformats.org/drawingml/2006/main">
            <a:off x="457200" y="1676400"/>
            <a:ext cx="7810500" cy="4400550"/>
          </a:xfrm>
          <a:prstGeom xmlns:a="http://schemas.openxmlformats.org/drawingml/2006/main" prst="roundRect">
            <a:avLst>
              <a:gd name="adj" fmla="val 3030"/>
            </a:avLst>
          </a:prstGeom>
          <a:solidFill xmlns:a="http://schemas.openxmlformats.org/drawingml/2006/main">
            <a:srgbClr val="FFFFFF"/>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7f7a9863b1440b7"/>
          <a:stretch xmlns:a="http://schemas.openxmlformats.org/drawingml/2006/main"/>
        </p:blipFill>
        <p:spPr>
          <a:xfrm xmlns:a="http://schemas.openxmlformats.org/drawingml/2006/main">
            <a:off x="535517" y="1724025"/>
            <a:ext cx="7653867" cy="4305300"/>
          </a:xfrm>
          <a:prstGeom xmlns:a="http://schemas.openxmlformats.org/drawingml/2006/main" prst="roundRect">
            <a:avLst>
              <a:gd name="adj" fmla="val 2655"/>
            </a:avLst>
          </a:prstGeom>
        </p:spPr>
      </p:pic>
      <p:sp>
        <p:nvSpPr>
          <p:cNvPr id="9" name="">
            <a:extLst xmlns:a="http://schemas.openxmlformats.org/drawingml/2006/main">
              <a:ext uri="{FF2B5EF4-FFF2-40B4-BE49-F238E27FC236}">
                <a16:creationId xmlns:a16="http://schemas.microsoft.com/office/drawing/2014/main" id="{970107B6-1BF6-4956-8EEB-F6E04AFF5781}"/>
              </a:ext>
            </a:extLst>
          </p:cNvPr>
          <p:cNvSpPr>
            <a:spLocks xmlns:a="http://schemas.openxmlformats.org/drawingml/2006/main" noGrp="1"/>
          </p:cNvSpPr>
          <p:nvPr/>
        </p:nvSpPr>
        <p:spPr>
          <a:xfrm xmlns:a="http://schemas.openxmlformats.org/drawingml/2006/main">
            <a:off x="8610600" y="1752600"/>
            <a:ext cx="2857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8160913-1C7D-4630-BFB0-433EA1D423E7}"/>
              </a:ext>
            </a:extLst>
          </p:cNvPr>
          <p:cNvSpPr>
            <a:spLocks xmlns:a="http://schemas.openxmlformats.org/drawingml/2006/main" noGrp="1"/>
          </p:cNvSpPr>
          <p:nvPr/>
        </p:nvSpPr>
        <p:spPr>
          <a:xfrm xmlns:a="http://schemas.openxmlformats.org/drawingml/2006/main">
            <a:off x="8610600" y="1752600"/>
            <a:ext cx="76200" cy="990600"/>
          </a:xfrm>
          <a:prstGeom xmlns:a="http://schemas.openxmlformats.org/drawingml/2006/main" prst="rect">
            <a:avLst/>
          </a:prstGeom>
          <a:solidFill xmlns:a="http://schemas.openxmlformats.org/drawingml/2006/main">
            <a:srgbClr val="B42318"/>
          </a:solidFill>
          <a:ln xmlns:a="http://schemas.openxmlformats.org/drawingml/2006/main" w="0">
            <a:solidFill>
              <a:srgbClr val="B42318"/>
            </a:solidFill>
            <a:prstDash val="solid"/>
          </a:ln>
        </p:spPr>
      </p:sp>
      <p:sp>
        <p:nvSpPr>
          <p:cNvPr id="11" name="">
            <a:extLst xmlns:a="http://schemas.openxmlformats.org/drawingml/2006/main">
              <a:ext uri="{FF2B5EF4-FFF2-40B4-BE49-F238E27FC236}">
                <a16:creationId xmlns:a16="http://schemas.microsoft.com/office/drawing/2014/main" id="{5250EA65-A77D-4D48-9B76-B9517EC2A7A6}"/>
              </a:ext>
            </a:extLst>
          </p:cNvPr>
          <p:cNvSpPr>
            <a:spLocks xmlns:a="http://schemas.openxmlformats.org/drawingml/2006/main" noGrp="1"/>
          </p:cNvSpPr>
          <p:nvPr/>
        </p:nvSpPr>
        <p:spPr>
          <a:xfrm xmlns:a="http://schemas.openxmlformats.org/drawingml/2006/main">
            <a:off x="8839200" y="189547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12</a:t>
            </a:r>
          </a:p>
        </p:txBody>
      </p:sp>
      <p:sp>
        <p:nvSpPr>
          <p:cNvPr id="12" name="">
            <a:extLst xmlns:a="http://schemas.openxmlformats.org/drawingml/2006/main">
              <a:ext uri="{FF2B5EF4-FFF2-40B4-BE49-F238E27FC236}">
                <a16:creationId xmlns:a16="http://schemas.microsoft.com/office/drawing/2014/main" id="{CDD44C8F-34C0-4F1D-9800-AE3B4D044673}"/>
              </a:ext>
            </a:extLst>
          </p:cNvPr>
          <p:cNvSpPr>
            <a:spLocks xmlns:a="http://schemas.openxmlformats.org/drawingml/2006/main" noGrp="1"/>
          </p:cNvSpPr>
          <p:nvPr/>
        </p:nvSpPr>
        <p:spPr>
          <a:xfrm xmlns:a="http://schemas.openxmlformats.org/drawingml/2006/main">
            <a:off x="8839200" y="2305050"/>
            <a:ext cx="2495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Failed authentication events correlated</a:t>
            </a:r>
          </a:p>
        </p:txBody>
      </p:sp>
      <p:sp>
        <p:nvSpPr>
          <p:cNvPr id="13" name="">
            <a:extLst xmlns:a="http://schemas.openxmlformats.org/drawingml/2006/main">
              <a:ext uri="{FF2B5EF4-FFF2-40B4-BE49-F238E27FC236}">
                <a16:creationId xmlns:a16="http://schemas.microsoft.com/office/drawing/2014/main" id="{4F9DA4CB-B70F-4347-893B-9CA74119BEB3}"/>
              </a:ext>
            </a:extLst>
          </p:cNvPr>
          <p:cNvSpPr>
            <a:spLocks xmlns:a="http://schemas.openxmlformats.org/drawingml/2006/main" noGrp="1"/>
          </p:cNvSpPr>
          <p:nvPr/>
        </p:nvSpPr>
        <p:spPr>
          <a:xfrm xmlns:a="http://schemas.openxmlformats.org/drawingml/2006/main">
            <a:off x="8610600" y="2952750"/>
            <a:ext cx="2857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6D787A43-EA2B-4AD1-ACF9-281EC5F2DB4E}"/>
              </a:ext>
            </a:extLst>
          </p:cNvPr>
          <p:cNvSpPr>
            <a:spLocks xmlns:a="http://schemas.openxmlformats.org/drawingml/2006/main" noGrp="1"/>
          </p:cNvSpPr>
          <p:nvPr/>
        </p:nvSpPr>
        <p:spPr>
          <a:xfrm xmlns:a="http://schemas.openxmlformats.org/drawingml/2006/main">
            <a:off x="8610600" y="2952750"/>
            <a:ext cx="76200" cy="990600"/>
          </a:xfrm>
          <a:prstGeom xmlns:a="http://schemas.openxmlformats.org/drawingml/2006/main" prst="rect">
            <a:avLst/>
          </a:prstGeom>
          <a:solidFill xmlns:a="http://schemas.openxmlformats.org/drawingml/2006/main">
            <a:srgbClr val="D97706"/>
          </a:solidFill>
          <a:ln xmlns:a="http://schemas.openxmlformats.org/drawingml/2006/main" w="0">
            <a:solidFill>
              <a:srgbClr val="D97706"/>
            </a:solidFill>
            <a:prstDash val="solid"/>
          </a:ln>
        </p:spPr>
      </p:sp>
      <p:sp>
        <p:nvSpPr>
          <p:cNvPr id="15" name="">
            <a:extLst xmlns:a="http://schemas.openxmlformats.org/drawingml/2006/main">
              <a:ext uri="{FF2B5EF4-FFF2-40B4-BE49-F238E27FC236}">
                <a16:creationId xmlns:a16="http://schemas.microsoft.com/office/drawing/2014/main" id="{B61A6DCD-D6A0-4276-8F0A-F657DEE96227}"/>
              </a:ext>
            </a:extLst>
          </p:cNvPr>
          <p:cNvSpPr>
            <a:spLocks xmlns:a="http://schemas.openxmlformats.org/drawingml/2006/main" noGrp="1"/>
          </p:cNvSpPr>
          <p:nvPr/>
        </p:nvSpPr>
        <p:spPr>
          <a:xfrm xmlns:a="http://schemas.openxmlformats.org/drawingml/2006/main">
            <a:off x="8839200" y="309562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5CF621BF-2801-4AAD-BA37-C147726B4C41}"/>
              </a:ext>
            </a:extLst>
          </p:cNvPr>
          <p:cNvSpPr>
            <a:spLocks xmlns:a="http://schemas.openxmlformats.org/drawingml/2006/main" noGrp="1"/>
          </p:cNvSpPr>
          <p:nvPr/>
        </p:nvSpPr>
        <p:spPr>
          <a:xfrm xmlns:a="http://schemas.openxmlformats.org/drawingml/2006/main">
            <a:off x="8839200" y="3505200"/>
            <a:ext cx="2495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Source IOC: 198.51.100.77</a:t>
            </a:r>
          </a:p>
        </p:txBody>
      </p:sp>
      <p:sp>
        <p:nvSpPr>
          <p:cNvPr id="17" name="">
            <a:extLst xmlns:a="http://schemas.openxmlformats.org/drawingml/2006/main">
              <a:ext uri="{FF2B5EF4-FFF2-40B4-BE49-F238E27FC236}">
                <a16:creationId xmlns:a16="http://schemas.microsoft.com/office/drawing/2014/main" id="{2F997EF8-29EE-4C0C-A9DD-84E601E7C2AE}"/>
              </a:ext>
            </a:extLst>
          </p:cNvPr>
          <p:cNvSpPr>
            <a:spLocks xmlns:a="http://schemas.openxmlformats.org/drawingml/2006/main" noGrp="1"/>
          </p:cNvSpPr>
          <p:nvPr/>
        </p:nvSpPr>
        <p:spPr>
          <a:xfrm xmlns:a="http://schemas.openxmlformats.org/drawingml/2006/main">
            <a:off x="8610600" y="4152900"/>
            <a:ext cx="2857500" cy="9906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BE15E0D-EBAC-4644-84E9-1C85631402D9}"/>
              </a:ext>
            </a:extLst>
          </p:cNvPr>
          <p:cNvSpPr>
            <a:spLocks xmlns:a="http://schemas.openxmlformats.org/drawingml/2006/main" noGrp="1"/>
          </p:cNvSpPr>
          <p:nvPr/>
        </p:nvSpPr>
        <p:spPr>
          <a:xfrm xmlns:a="http://schemas.openxmlformats.org/drawingml/2006/main">
            <a:off x="8610600" y="4152900"/>
            <a:ext cx="76200" cy="99060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52542D7B-27DB-4F5E-BF16-AB029F138680}"/>
              </a:ext>
            </a:extLst>
          </p:cNvPr>
          <p:cNvSpPr>
            <a:spLocks xmlns:a="http://schemas.openxmlformats.org/drawingml/2006/main" noGrp="1"/>
          </p:cNvSpPr>
          <p:nvPr/>
        </p:nvSpPr>
        <p:spPr>
          <a:xfrm xmlns:a="http://schemas.openxmlformats.org/drawingml/2006/main">
            <a:off x="8839200" y="4295775"/>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&gt;= 5</a:t>
            </a:r>
          </a:p>
        </p:txBody>
      </p:sp>
      <p:sp>
        <p:nvSpPr>
          <p:cNvPr id="20" name="">
            <a:extLst xmlns:a="http://schemas.openxmlformats.org/drawingml/2006/main">
              <a:ext uri="{FF2B5EF4-FFF2-40B4-BE49-F238E27FC236}">
                <a16:creationId xmlns:a16="http://schemas.microsoft.com/office/drawing/2014/main" id="{F9AADE10-009E-4038-9DDF-06F4F2401706}"/>
              </a:ext>
            </a:extLst>
          </p:cNvPr>
          <p:cNvSpPr>
            <a:spLocks xmlns:a="http://schemas.openxmlformats.org/drawingml/2006/main" noGrp="1"/>
          </p:cNvSpPr>
          <p:nvPr/>
        </p:nvSpPr>
        <p:spPr>
          <a:xfrm xmlns:a="http://schemas.openxmlformats.org/drawingml/2006/main">
            <a:off x="8839200" y="4705350"/>
            <a:ext cx="2495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Detection threshold in the SPL query</a:t>
            </a:r>
          </a:p>
        </p:txBody>
      </p:sp>
      <p:sp>
        <p:nvSpPr>
          <p:cNvPr id="21" name="">
            <a:extLst xmlns:a="http://schemas.openxmlformats.org/drawingml/2006/main">
              <a:ext uri="{FF2B5EF4-FFF2-40B4-BE49-F238E27FC236}">
                <a16:creationId xmlns:a16="http://schemas.microsoft.com/office/drawing/2014/main" id="{2171C990-388E-4D3E-9E79-48F6E722905B}"/>
              </a:ext>
            </a:extLst>
          </p:cNvPr>
          <p:cNvSpPr>
            <a:spLocks xmlns:a="http://schemas.openxmlformats.org/drawingml/2006/main" noGrp="1"/>
          </p:cNvSpPr>
          <p:nvPr/>
        </p:nvSpPr>
        <p:spPr>
          <a:xfrm xmlns:a="http://schemas.openxmlformats.org/drawingml/2006/main">
            <a:off x="8610600" y="5429250"/>
            <a:ext cx="2857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8000"/>
              </a:lnSpc>
              <a:buNone/>
              <a:defRPr sz="1200">
                <a:solidFill>
                  <a:srgbClr val="5C6675"/>
                </a:solidFill>
                <a:latin typeface="Helvetica Neue"/>
                <a:ea typeface="Helvetica Neue"/>
                <a:cs typeface="Helvetica Neue"/>
              </a:defRPr>
            </a:pPr>
            <a:r>
              <a:rPr sz="1200">
                <a:solidFill>
                  <a:srgbClr val="5C6675"/>
                </a:solidFill>
                <a:latin typeface="Helvetica Neue"/>
                <a:ea typeface="Helvetica Neue"/>
                <a:cs typeface="Helvetica Neue"/>
              </a:rPr>
              <a:t>Correlation combines simulated events with Linux audit evidence—without claiming a real compromise.</a:t>
            </a:r>
          </a:p>
        </p:txBody>
      </p:sp>
    </p:spTree>
    <p:extLst>
      <p:ext uri="{BB962C8B-B14F-4D97-AF65-F5344CB8AC3E}">
        <p14:creationId xmlns:p14="http://schemas.microsoft.com/office/powerpoint/2010/main" val="1053382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A174D45-77FA-409C-A962-72C719D153B0}"/>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1283055D-C730-406C-931C-99EA1845ABDF}"/>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Timesketch: reconstructing the incident chronology</a:t>
            </a:r>
          </a:p>
        </p:txBody>
      </p:sp>
      <p:sp>
        <p:nvSpPr>
          <p:cNvPr id="3" name="">
            <a:extLst xmlns:a="http://schemas.openxmlformats.org/drawingml/2006/main">
              <a:ext uri="{FF2B5EF4-FFF2-40B4-BE49-F238E27FC236}">
                <a16:creationId xmlns:a16="http://schemas.microsoft.com/office/drawing/2014/main" id="{817912C4-9DE2-4D07-A5DD-46ADE56D9CB3}"/>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FAC2636F-7A1D-4536-9051-E4383E4548F8}"/>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A7ABB16B-2303-40C1-94C4-80A977B6442A}"/>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98CAA8F9-685C-4C9B-9806-84A9A9C7657F}"/>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08BA8A32-5621-4765-B869-399B81668E74}"/>
              </a:ext>
            </a:extLst>
          </p:cNvPr>
          <p:cNvSpPr>
            <a:spLocks xmlns:a="http://schemas.openxmlformats.org/drawingml/2006/main" noGrp="1"/>
          </p:cNvSpPr>
          <p:nvPr/>
        </p:nvSpPr>
        <p:spPr>
          <a:xfrm xmlns:a="http://schemas.openxmlformats.org/drawingml/2006/main">
            <a:off x="457200" y="1657350"/>
            <a:ext cx="7886700" cy="4438650"/>
          </a:xfrm>
          <a:prstGeom xmlns:a="http://schemas.openxmlformats.org/drawingml/2006/main" prst="roundRect">
            <a:avLst>
              <a:gd name="adj" fmla="val 3004"/>
            </a:avLst>
          </a:prstGeom>
          <a:solidFill xmlns:a="http://schemas.openxmlformats.org/drawingml/2006/main">
            <a:srgbClr val="FFFFFF"/>
          </a:solidFill>
          <a:ln xmlns:a="http://schemas.openxmlformats.org/drawingml/2006/main" w="9525">
            <a:solidFill>
              <a:srgbClr val="B8BCC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7f28cfd88e2346f4"/>
          <a:stretch xmlns:a="http://schemas.openxmlformats.org/drawingml/2006/main"/>
        </p:blipFill>
        <p:spPr>
          <a:xfrm xmlns:a="http://schemas.openxmlformats.org/drawingml/2006/main">
            <a:off x="539750" y="1704975"/>
            <a:ext cx="7721600" cy="4343400"/>
          </a:xfrm>
          <a:prstGeom xmlns:a="http://schemas.openxmlformats.org/drawingml/2006/main" prst="roundRect">
            <a:avLst>
              <a:gd name="adj" fmla="val 2632"/>
            </a:avLst>
          </a:prstGeom>
        </p:spPr>
      </p:pic>
      <p:sp>
        <p:nvSpPr>
          <p:cNvPr id="9" name="">
            <a:extLst xmlns:a="http://schemas.openxmlformats.org/drawingml/2006/main">
              <a:ext uri="{FF2B5EF4-FFF2-40B4-BE49-F238E27FC236}">
                <a16:creationId xmlns:a16="http://schemas.microsoft.com/office/drawing/2014/main" id="{47C56B3F-2529-4C2B-B9AB-9F7EC71F4C9B}"/>
              </a:ext>
            </a:extLst>
          </p:cNvPr>
          <p:cNvSpPr>
            <a:spLocks xmlns:a="http://schemas.openxmlformats.org/drawingml/2006/main" noGrp="1"/>
          </p:cNvSpPr>
          <p:nvPr/>
        </p:nvSpPr>
        <p:spPr>
          <a:xfrm xmlns:a="http://schemas.openxmlformats.org/drawingml/2006/main">
            <a:off x="8667750" y="1752600"/>
            <a:ext cx="280035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C046C1CF-B5B4-4829-813A-A6BFC9EE7D99}"/>
              </a:ext>
            </a:extLst>
          </p:cNvPr>
          <p:cNvSpPr>
            <a:spLocks xmlns:a="http://schemas.openxmlformats.org/drawingml/2006/main" noGrp="1"/>
          </p:cNvSpPr>
          <p:nvPr/>
        </p:nvSpPr>
        <p:spPr>
          <a:xfrm xmlns:a="http://schemas.openxmlformats.org/drawingml/2006/main">
            <a:off x="8667750" y="1752600"/>
            <a:ext cx="76200" cy="10477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1" name="">
            <a:extLst xmlns:a="http://schemas.openxmlformats.org/drawingml/2006/main">
              <a:ext uri="{FF2B5EF4-FFF2-40B4-BE49-F238E27FC236}">
                <a16:creationId xmlns:a16="http://schemas.microsoft.com/office/drawing/2014/main" id="{D60FFB65-EB80-4131-9EE7-C9C98C74F298}"/>
              </a:ext>
            </a:extLst>
          </p:cNvPr>
          <p:cNvSpPr>
            <a:spLocks xmlns:a="http://schemas.openxmlformats.org/drawingml/2006/main" noGrp="1"/>
          </p:cNvSpPr>
          <p:nvPr/>
        </p:nvSpPr>
        <p:spPr>
          <a:xfrm xmlns:a="http://schemas.openxmlformats.org/drawingml/2006/main">
            <a:off x="8896350" y="1895475"/>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4,210</a:t>
            </a:r>
          </a:p>
        </p:txBody>
      </p:sp>
      <p:sp>
        <p:nvSpPr>
          <p:cNvPr id="12" name="">
            <a:extLst xmlns:a="http://schemas.openxmlformats.org/drawingml/2006/main">
              <a:ext uri="{FF2B5EF4-FFF2-40B4-BE49-F238E27FC236}">
                <a16:creationId xmlns:a16="http://schemas.microsoft.com/office/drawing/2014/main" id="{96C9DE6F-6CC1-46AE-A041-480E2F59973A}"/>
              </a:ext>
            </a:extLst>
          </p:cNvPr>
          <p:cNvSpPr>
            <a:spLocks xmlns:a="http://schemas.openxmlformats.org/drawingml/2006/main" noGrp="1"/>
          </p:cNvSpPr>
          <p:nvPr/>
        </p:nvSpPr>
        <p:spPr>
          <a:xfrm xmlns:a="http://schemas.openxmlformats.org/drawingml/2006/main">
            <a:off x="8896350" y="230505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Total events imported into the timeline</a:t>
            </a:r>
          </a:p>
        </p:txBody>
      </p:sp>
      <p:sp>
        <p:nvSpPr>
          <p:cNvPr id="13" name="">
            <a:extLst xmlns:a="http://schemas.openxmlformats.org/drawingml/2006/main">
              <a:ext uri="{FF2B5EF4-FFF2-40B4-BE49-F238E27FC236}">
                <a16:creationId xmlns:a16="http://schemas.microsoft.com/office/drawing/2014/main" id="{C14CD06F-C091-4E76-A6B2-7972DBBFD243}"/>
              </a:ext>
            </a:extLst>
          </p:cNvPr>
          <p:cNvSpPr>
            <a:spLocks xmlns:a="http://schemas.openxmlformats.org/drawingml/2006/main" noGrp="1"/>
          </p:cNvSpPr>
          <p:nvPr/>
        </p:nvSpPr>
        <p:spPr>
          <a:xfrm xmlns:a="http://schemas.openxmlformats.org/drawingml/2006/main">
            <a:off x="8667750" y="3028950"/>
            <a:ext cx="2800350" cy="1047750"/>
          </a:xfrm>
          <a:prstGeom xmlns:a="http://schemas.openxmlformats.org/drawingml/2006/main" prst="roundRect">
            <a:avLst>
              <a:gd name="adj" fmla="val 14545"/>
            </a:avLst>
          </a:prstGeom>
          <a:solidFill xmlns:a="http://schemas.openxmlformats.org/drawingml/2006/main">
            <a:srgbClr val="FFFFFF"/>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4FA92E89-8A51-4E42-AB9A-E60E560D93EB}"/>
              </a:ext>
            </a:extLst>
          </p:cNvPr>
          <p:cNvSpPr>
            <a:spLocks xmlns:a="http://schemas.openxmlformats.org/drawingml/2006/main" noGrp="1"/>
          </p:cNvSpPr>
          <p:nvPr/>
        </p:nvSpPr>
        <p:spPr>
          <a:xfrm xmlns:a="http://schemas.openxmlformats.org/drawingml/2006/main">
            <a:off x="8667750" y="3028950"/>
            <a:ext cx="76200" cy="10477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5" name="">
            <a:extLst xmlns:a="http://schemas.openxmlformats.org/drawingml/2006/main">
              <a:ext uri="{FF2B5EF4-FFF2-40B4-BE49-F238E27FC236}">
                <a16:creationId xmlns:a16="http://schemas.microsoft.com/office/drawing/2014/main" id="{19AD8B0A-6C19-4943-BF46-F2857A37CC5B}"/>
              </a:ext>
            </a:extLst>
          </p:cNvPr>
          <p:cNvSpPr>
            <a:spLocks xmlns:a="http://schemas.openxmlformats.org/drawingml/2006/main" noGrp="1"/>
          </p:cNvSpPr>
          <p:nvPr/>
        </p:nvSpPr>
        <p:spPr>
          <a:xfrm xmlns:a="http://schemas.openxmlformats.org/drawingml/2006/main">
            <a:off x="8896350" y="3171825"/>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99</a:t>
            </a:r>
          </a:p>
        </p:txBody>
      </p:sp>
      <p:sp>
        <p:nvSpPr>
          <p:cNvPr id="16" name="">
            <a:extLst xmlns:a="http://schemas.openxmlformats.org/drawingml/2006/main">
              <a:ext uri="{FF2B5EF4-FFF2-40B4-BE49-F238E27FC236}">
                <a16:creationId xmlns:a16="http://schemas.microsoft.com/office/drawing/2014/main" id="{62802681-37B9-4138-A9D3-6866D4EDB2A8}"/>
              </a:ext>
            </a:extLst>
          </p:cNvPr>
          <p:cNvSpPr>
            <a:spLocks xmlns:a="http://schemas.openxmlformats.org/drawingml/2006/main" noGrp="1"/>
          </p:cNvSpPr>
          <p:nvPr/>
        </p:nvSpPr>
        <p:spPr>
          <a:xfrm xmlns:a="http://schemas.openxmlformats.org/drawingml/2006/main">
            <a:off x="8896350" y="3581400"/>
            <a:ext cx="2438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Events matching tag:safe-simulation</a:t>
            </a:r>
          </a:p>
        </p:txBody>
      </p:sp>
      <p:sp>
        <p:nvSpPr>
          <p:cNvPr id="17" name="">
            <a:extLst xmlns:a="http://schemas.openxmlformats.org/drawingml/2006/main">
              <a:ext uri="{FF2B5EF4-FFF2-40B4-BE49-F238E27FC236}">
                <a16:creationId xmlns:a16="http://schemas.microsoft.com/office/drawing/2014/main" id="{F750033E-D3A4-482E-8D7D-741C8F585AE6}"/>
              </a:ext>
            </a:extLst>
          </p:cNvPr>
          <p:cNvSpPr>
            <a:spLocks xmlns:a="http://schemas.openxmlformats.org/drawingml/2006/main" noGrp="1"/>
          </p:cNvSpPr>
          <p:nvPr/>
        </p:nvSpPr>
        <p:spPr>
          <a:xfrm xmlns:a="http://schemas.openxmlformats.org/drawingml/2006/main">
            <a:off x="8667750" y="443865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200" b="1">
                <a:solidFill>
                  <a:srgbClr val="183B66"/>
                </a:solidFill>
                <a:latin typeface="Helvetica Neue"/>
                <a:ea typeface="Helvetica Neue"/>
                <a:cs typeface="Helvetica Neue"/>
              </a:defRPr>
            </a:pPr>
            <a:r>
              <a:rPr sz="1200" b="1">
                <a:solidFill>
                  <a:srgbClr val="183B66"/>
                </a:solidFill>
                <a:latin typeface="Helvetica Neue"/>
                <a:ea typeface="Helvetica Neue"/>
                <a:cs typeface="Helvetica Neue"/>
              </a:rPr>
              <a:t>Example sequence</a:t>
            </a:r>
          </a:p>
        </p:txBody>
      </p:sp>
      <p:sp>
        <p:nvSpPr>
          <p:cNvPr id="18" name="">
            <a:extLst xmlns:a="http://schemas.openxmlformats.org/drawingml/2006/main">
              <a:ext uri="{FF2B5EF4-FFF2-40B4-BE49-F238E27FC236}">
                <a16:creationId xmlns:a16="http://schemas.microsoft.com/office/drawing/2014/main" id="{52C52C6D-F410-4D4A-AE9C-41FC110E1F30}"/>
              </a:ext>
            </a:extLst>
          </p:cNvPr>
          <p:cNvSpPr>
            <a:spLocks xmlns:a="http://schemas.openxmlformats.org/drawingml/2006/main" noGrp="1"/>
          </p:cNvSpPr>
          <p:nvPr/>
        </p:nvSpPr>
        <p:spPr>
          <a:xfrm xmlns:a="http://schemas.openxmlformats.org/drawingml/2006/main">
            <a:off x="8667750" y="4838700"/>
            <a:ext cx="28003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rmAutofit fontScale="100000"/>
          </a:bodyPr>
          <a:lstStyle xmlns:a="http://schemas.openxmlformats.org/drawingml/2006/main"/>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phase-start marker</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failed_login burst</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file modification</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benign process start</a:t>
            </a:r>
          </a:p>
          <a:p xmlns:a="http://schemas.openxmlformats.org/drawingml/2006/main">
            <a:pPr marL="24" indent="-12">
              <a:lnSpc>
                <a:spcPct val="108000"/>
              </a:lnSpc>
              <a:spcAft>
                <a:spcPts val="12"/>
              </a:spcAft>
              <a:buNone/>
              <a:defRPr sz="1575">
                <a:solidFill>
                  <a:srgbClr val="0B0E14"/>
                </a:solidFill>
                <a:latin typeface="Helvetica Neue"/>
                <a:ea typeface="Helvetica Neue"/>
                <a:cs typeface="Helvetica Neue"/>
              </a:defRPr>
            </a:pPr>
            <a:r>
              <a:rPr sz="1575">
                <a:solidFill>
                  <a:srgbClr val="0B0E14"/>
                </a:solidFill>
                <a:latin typeface="Helvetica Neue"/>
                <a:ea typeface="Helvetica Neue"/>
                <a:cs typeface="Helvetica Neue"/>
              </a:rPr>
              <a:t>IOC marker + phase-end</a:t>
            </a:r>
          </a:p>
        </p:txBody>
      </p:sp>
    </p:spTree>
    <p:extLst>
      <p:ext uri="{BB962C8B-B14F-4D97-AF65-F5344CB8AC3E}">
        <p14:creationId xmlns:p14="http://schemas.microsoft.com/office/powerpoint/2010/main" val="182061902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D44021F-6490-4ED8-A02B-4F27119E8AD7}"/>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87137B43-55FB-45EA-86EE-91125A73A416}"/>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Windows memory acquisition with end-to-end integrity</a:t>
            </a:r>
          </a:p>
        </p:txBody>
      </p:sp>
      <p:sp>
        <p:nvSpPr>
          <p:cNvPr id="3" name="">
            <a:extLst xmlns:a="http://schemas.openxmlformats.org/drawingml/2006/main">
              <a:ext uri="{FF2B5EF4-FFF2-40B4-BE49-F238E27FC236}">
                <a16:creationId xmlns:a16="http://schemas.microsoft.com/office/drawing/2014/main" id="{C168266A-ED98-4058-A0E1-F74B0E6E3695}"/>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6C9F7F5A-556B-406D-9193-4FA2162EB7F2}"/>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145F2D57-022A-47AD-8483-834EAE79A45E}"/>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11FB4594-F687-4E53-B0B2-00558D7C3170}"/>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AAB06E58-33F6-44AC-B051-260A52996900}"/>
              </a:ext>
            </a:extLst>
          </p:cNvPr>
          <p:cNvSpPr>
            <a:spLocks xmlns:a="http://schemas.openxmlformats.org/drawingml/2006/main" noGrp="1"/>
          </p:cNvSpPr>
          <p:nvPr/>
        </p:nvSpPr>
        <p:spPr>
          <a:xfrm xmlns:a="http://schemas.openxmlformats.org/drawingml/2006/main">
            <a:off x="457200" y="1657350"/>
            <a:ext cx="6438900" cy="3714750"/>
          </a:xfrm>
          <a:prstGeom xmlns:a="http://schemas.openxmlformats.org/drawingml/2006/main" prst="roundRect">
            <a:avLst>
              <a:gd name="adj" fmla="val 3590"/>
            </a:avLst>
          </a:prstGeom>
          <a:solidFill xmlns:a="http://schemas.openxmlformats.org/drawingml/2006/main">
            <a:srgbClr val="FFFFFF"/>
          </a:solidFill>
          <a:ln xmlns:a="http://schemas.openxmlformats.org/drawingml/2006/main" w="9525">
            <a:solidFill>
              <a:srgbClr val="B8BCC4"/>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2116cfc61a3f4cce"/>
          <a:stretch xmlns:a="http://schemas.openxmlformats.org/drawingml/2006/main"/>
        </p:blipFill>
        <p:spPr>
          <a:xfrm xmlns:a="http://schemas.openxmlformats.org/drawingml/2006/main">
            <a:off x="504825" y="1730573"/>
            <a:ext cx="6343650" cy="3568303"/>
          </a:xfrm>
          <a:prstGeom xmlns:a="http://schemas.openxmlformats.org/drawingml/2006/main" prst="roundRect">
            <a:avLst>
              <a:gd name="adj" fmla="val 3158"/>
            </a:avLst>
          </a:prstGeom>
        </p:spPr>
      </p:pic>
      <p:sp>
        <p:nvSpPr>
          <p:cNvPr id="9" name="">
            <a:extLst xmlns:a="http://schemas.openxmlformats.org/drawingml/2006/main">
              <a:ext uri="{FF2B5EF4-FFF2-40B4-BE49-F238E27FC236}">
                <a16:creationId xmlns:a16="http://schemas.microsoft.com/office/drawing/2014/main" id="{4FA3EF43-D625-4814-9FCA-11F5B45881E1}"/>
              </a:ext>
            </a:extLst>
          </p:cNvPr>
          <p:cNvSpPr>
            <a:spLocks xmlns:a="http://schemas.openxmlformats.org/drawingml/2006/main" noGrp="1"/>
          </p:cNvSpPr>
          <p:nvPr/>
        </p:nvSpPr>
        <p:spPr>
          <a:xfrm xmlns:a="http://schemas.openxmlformats.org/drawingml/2006/main">
            <a:off x="7200900" y="1657350"/>
            <a:ext cx="4533900" cy="3714750"/>
          </a:xfrm>
          <a:prstGeom xmlns:a="http://schemas.openxmlformats.org/drawingml/2006/main" prst="roundRect">
            <a:avLst>
              <a:gd name="adj" fmla="val 3590"/>
            </a:avLst>
          </a:prstGeom>
          <a:solidFill xmlns:a="http://schemas.openxmlformats.org/drawingml/2006/main">
            <a:srgbClr val="FFFFFF"/>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8d2d2c0bfec42e3"/>
          <a:stretch xmlns:a="http://schemas.openxmlformats.org/drawingml/2006/main"/>
        </p:blipFill>
        <p:spPr>
          <a:xfrm xmlns:a="http://schemas.openxmlformats.org/drawingml/2006/main">
            <a:off x="7248525" y="1723644"/>
            <a:ext cx="4438650" cy="3582163"/>
          </a:xfrm>
          <a:prstGeom xmlns:a="http://schemas.openxmlformats.org/drawingml/2006/main" prst="roundRect">
            <a:avLst>
              <a:gd name="adj" fmla="val 3158"/>
            </a:avLst>
          </a:prstGeom>
        </p:spPr>
      </p:pic>
      <p:sp>
        <p:nvSpPr>
          <p:cNvPr id="11" name="">
            <a:extLst xmlns:a="http://schemas.openxmlformats.org/drawingml/2006/main">
              <a:ext uri="{FF2B5EF4-FFF2-40B4-BE49-F238E27FC236}">
                <a16:creationId xmlns:a16="http://schemas.microsoft.com/office/drawing/2014/main" id="{6F4652E6-25EA-49EA-8413-B20E0A5F78C6}"/>
              </a:ext>
            </a:extLst>
          </p:cNvPr>
          <p:cNvSpPr>
            <a:spLocks xmlns:a="http://schemas.openxmlformats.org/drawingml/2006/main" noGrp="1"/>
          </p:cNvSpPr>
          <p:nvPr/>
        </p:nvSpPr>
        <p:spPr>
          <a:xfrm xmlns:a="http://schemas.openxmlformats.org/drawingml/2006/main">
            <a:off x="457200" y="5619750"/>
            <a:ext cx="2590800" cy="781050"/>
          </a:xfrm>
          <a:prstGeom xmlns:a="http://schemas.openxmlformats.org/drawingml/2006/main" prst="roundRect">
            <a:avLst>
              <a:gd name="adj" fmla="val 19512"/>
            </a:avLst>
          </a:prstGeom>
          <a:solidFill xmlns:a="http://schemas.openxmlformats.org/drawingml/2006/main">
            <a:srgbClr val="FFFFFF"/>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58710AAD-A0E9-449F-9B1C-3FF1DF4685D5}"/>
              </a:ext>
            </a:extLst>
          </p:cNvPr>
          <p:cNvSpPr>
            <a:spLocks xmlns:a="http://schemas.openxmlformats.org/drawingml/2006/main" noGrp="1"/>
          </p:cNvSpPr>
          <p:nvPr/>
        </p:nvSpPr>
        <p:spPr>
          <a:xfrm xmlns:a="http://schemas.openxmlformats.org/drawingml/2006/main">
            <a:off x="457200" y="5619750"/>
            <a:ext cx="76200" cy="7810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3" name="">
            <a:extLst xmlns:a="http://schemas.openxmlformats.org/drawingml/2006/main">
              <a:ext uri="{FF2B5EF4-FFF2-40B4-BE49-F238E27FC236}">
                <a16:creationId xmlns:a16="http://schemas.microsoft.com/office/drawing/2014/main" id="{43AB1749-10D8-4F04-8056-8328DCE9B9D7}"/>
              </a:ext>
            </a:extLst>
          </p:cNvPr>
          <p:cNvSpPr>
            <a:spLocks xmlns:a="http://schemas.openxmlformats.org/drawingml/2006/main" noGrp="1"/>
          </p:cNvSpPr>
          <p:nvPr/>
        </p:nvSpPr>
        <p:spPr>
          <a:xfrm xmlns:a="http://schemas.openxmlformats.org/drawingml/2006/main">
            <a:off x="685800" y="5762625"/>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 11 GiB</a:t>
            </a:r>
          </a:p>
        </p:txBody>
      </p:sp>
      <p:sp>
        <p:nvSpPr>
          <p:cNvPr id="14" name="">
            <a:extLst xmlns:a="http://schemas.openxmlformats.org/drawingml/2006/main">
              <a:ext uri="{FF2B5EF4-FFF2-40B4-BE49-F238E27FC236}">
                <a16:creationId xmlns:a16="http://schemas.microsoft.com/office/drawing/2014/main" id="{DC660C7C-E7F5-4828-B67B-473925C24F6D}"/>
              </a:ext>
            </a:extLst>
          </p:cNvPr>
          <p:cNvSpPr>
            <a:spLocks xmlns:a="http://schemas.openxmlformats.org/drawingml/2006/main" noGrp="1"/>
          </p:cNvSpPr>
          <p:nvPr/>
        </p:nvSpPr>
        <p:spPr>
          <a:xfrm xmlns:a="http://schemas.openxmlformats.org/drawingml/2006/main">
            <a:off x="685800" y="6172200"/>
            <a:ext cx="2228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Sparse RAW image produced by WinPmem</a:t>
            </a:r>
          </a:p>
        </p:txBody>
      </p:sp>
      <p:sp>
        <p:nvSpPr>
          <p:cNvPr id="15" name="">
            <a:extLst xmlns:a="http://schemas.openxmlformats.org/drawingml/2006/main">
              <a:ext uri="{FF2B5EF4-FFF2-40B4-BE49-F238E27FC236}">
                <a16:creationId xmlns:a16="http://schemas.microsoft.com/office/drawing/2014/main" id="{1016818A-EDC8-4DA1-9411-1A1F5055318A}"/>
              </a:ext>
            </a:extLst>
          </p:cNvPr>
          <p:cNvSpPr>
            <a:spLocks xmlns:a="http://schemas.openxmlformats.org/drawingml/2006/main" noGrp="1"/>
          </p:cNvSpPr>
          <p:nvPr/>
        </p:nvSpPr>
        <p:spPr>
          <a:xfrm xmlns:a="http://schemas.openxmlformats.org/drawingml/2006/main">
            <a:off x="3238500" y="5619750"/>
            <a:ext cx="2590800" cy="781050"/>
          </a:xfrm>
          <a:prstGeom xmlns:a="http://schemas.openxmlformats.org/drawingml/2006/main" prst="roundRect">
            <a:avLst>
              <a:gd name="adj" fmla="val 19512"/>
            </a:avLst>
          </a:prstGeom>
          <a:solidFill xmlns:a="http://schemas.openxmlformats.org/drawingml/2006/main">
            <a:srgbClr val="FFFFFF"/>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E3722CE1-BB2F-4492-9E38-6D62840FF5C1}"/>
              </a:ext>
            </a:extLst>
          </p:cNvPr>
          <p:cNvSpPr>
            <a:spLocks xmlns:a="http://schemas.openxmlformats.org/drawingml/2006/main" noGrp="1"/>
          </p:cNvSpPr>
          <p:nvPr/>
        </p:nvSpPr>
        <p:spPr>
          <a:xfrm xmlns:a="http://schemas.openxmlformats.org/drawingml/2006/main">
            <a:off x="3238500" y="5619750"/>
            <a:ext cx="76200" cy="7810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17" name="">
            <a:extLst xmlns:a="http://schemas.openxmlformats.org/drawingml/2006/main">
              <a:ext uri="{FF2B5EF4-FFF2-40B4-BE49-F238E27FC236}">
                <a16:creationId xmlns:a16="http://schemas.microsoft.com/office/drawing/2014/main" id="{384504F2-2781-4EEE-9320-A653D125A7DB}"/>
              </a:ext>
            </a:extLst>
          </p:cNvPr>
          <p:cNvSpPr>
            <a:spLocks xmlns:a="http://schemas.openxmlformats.org/drawingml/2006/main" noGrp="1"/>
          </p:cNvSpPr>
          <p:nvPr/>
        </p:nvSpPr>
        <p:spPr>
          <a:xfrm xmlns:a="http://schemas.openxmlformats.org/drawingml/2006/main">
            <a:off x="3467100" y="5762625"/>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1m 19s</a:t>
            </a:r>
          </a:p>
        </p:txBody>
      </p:sp>
      <p:sp>
        <p:nvSpPr>
          <p:cNvPr id="18" name="">
            <a:extLst xmlns:a="http://schemas.openxmlformats.org/drawingml/2006/main">
              <a:ext uri="{FF2B5EF4-FFF2-40B4-BE49-F238E27FC236}">
                <a16:creationId xmlns:a16="http://schemas.microsoft.com/office/drawing/2014/main" id="{C953A3BA-2FFF-4E5E-B5E3-3FF880470D17}"/>
              </a:ext>
            </a:extLst>
          </p:cNvPr>
          <p:cNvSpPr>
            <a:spLocks xmlns:a="http://schemas.openxmlformats.org/drawingml/2006/main" noGrp="1"/>
          </p:cNvSpPr>
          <p:nvPr/>
        </p:nvSpPr>
        <p:spPr>
          <a:xfrm xmlns:a="http://schemas.openxmlformats.org/drawingml/2006/main">
            <a:off x="3467100" y="6172200"/>
            <a:ext cx="2228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Acquisition duration on the endpoint</a:t>
            </a:r>
          </a:p>
        </p:txBody>
      </p:sp>
      <p:sp>
        <p:nvSpPr>
          <p:cNvPr id="19" name="">
            <a:extLst xmlns:a="http://schemas.openxmlformats.org/drawingml/2006/main">
              <a:ext uri="{FF2B5EF4-FFF2-40B4-BE49-F238E27FC236}">
                <a16:creationId xmlns:a16="http://schemas.microsoft.com/office/drawing/2014/main" id="{7164A118-4927-408B-973B-B4CF02FEA0B9}"/>
              </a:ext>
            </a:extLst>
          </p:cNvPr>
          <p:cNvSpPr>
            <a:spLocks xmlns:a="http://schemas.openxmlformats.org/drawingml/2006/main" noGrp="1"/>
          </p:cNvSpPr>
          <p:nvPr/>
        </p:nvSpPr>
        <p:spPr>
          <a:xfrm xmlns:a="http://schemas.openxmlformats.org/drawingml/2006/main">
            <a:off x="6019800" y="5619750"/>
            <a:ext cx="2590800" cy="781050"/>
          </a:xfrm>
          <a:prstGeom xmlns:a="http://schemas.openxmlformats.org/drawingml/2006/main" prst="roundRect">
            <a:avLst>
              <a:gd name="adj" fmla="val 19512"/>
            </a:avLst>
          </a:prstGeom>
          <a:solidFill xmlns:a="http://schemas.openxmlformats.org/drawingml/2006/main">
            <a:srgbClr val="FFFFFF"/>
          </a:solidFill>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EA83113E-F4B4-4E2B-B4F1-F12B165A4145}"/>
              </a:ext>
            </a:extLst>
          </p:cNvPr>
          <p:cNvSpPr>
            <a:spLocks xmlns:a="http://schemas.openxmlformats.org/drawingml/2006/main" noGrp="1"/>
          </p:cNvSpPr>
          <p:nvPr/>
        </p:nvSpPr>
        <p:spPr>
          <a:xfrm xmlns:a="http://schemas.openxmlformats.org/drawingml/2006/main">
            <a:off x="6019800" y="5619750"/>
            <a:ext cx="76200" cy="781050"/>
          </a:xfrm>
          <a:prstGeom xmlns:a="http://schemas.openxmlformats.org/drawingml/2006/main" prst="rect">
            <a:avLst/>
          </a:prstGeom>
          <a:solidFill xmlns:a="http://schemas.openxmlformats.org/drawingml/2006/main">
            <a:srgbClr val="167C5A"/>
          </a:solidFill>
          <a:ln xmlns:a="http://schemas.openxmlformats.org/drawingml/2006/main" w="0">
            <a:solidFill>
              <a:srgbClr val="167C5A"/>
            </a:solidFill>
            <a:prstDash val="solid"/>
          </a:ln>
        </p:spPr>
      </p:sp>
      <p:sp>
        <p:nvSpPr>
          <p:cNvPr id="21" name="">
            <a:extLst xmlns:a="http://schemas.openxmlformats.org/drawingml/2006/main">
              <a:ext uri="{FF2B5EF4-FFF2-40B4-BE49-F238E27FC236}">
                <a16:creationId xmlns:a16="http://schemas.microsoft.com/office/drawing/2014/main" id="{05083ABD-4854-4B11-8EE9-58B6F1386322}"/>
              </a:ext>
            </a:extLst>
          </p:cNvPr>
          <p:cNvSpPr>
            <a:spLocks xmlns:a="http://schemas.openxmlformats.org/drawingml/2006/main" noGrp="1"/>
          </p:cNvSpPr>
          <p:nvPr/>
        </p:nvSpPr>
        <p:spPr>
          <a:xfrm xmlns:a="http://schemas.openxmlformats.org/drawingml/2006/main">
            <a:off x="6248400" y="5762625"/>
            <a:ext cx="2228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MATCH</a:t>
            </a:r>
          </a:p>
        </p:txBody>
      </p:sp>
      <p:sp>
        <p:nvSpPr>
          <p:cNvPr id="22" name="">
            <a:extLst xmlns:a="http://schemas.openxmlformats.org/drawingml/2006/main">
              <a:ext uri="{FF2B5EF4-FFF2-40B4-BE49-F238E27FC236}">
                <a16:creationId xmlns:a16="http://schemas.microsoft.com/office/drawing/2014/main" id="{5A671790-D535-4CD7-953D-A8A95095937D}"/>
              </a:ext>
            </a:extLst>
          </p:cNvPr>
          <p:cNvSpPr>
            <a:spLocks xmlns:a="http://schemas.openxmlformats.org/drawingml/2006/main" noGrp="1"/>
          </p:cNvSpPr>
          <p:nvPr/>
        </p:nvSpPr>
        <p:spPr>
          <a:xfrm xmlns:a="http://schemas.openxmlformats.org/drawingml/2006/main">
            <a:off x="6248400" y="6172200"/>
            <a:ext cx="22288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Windows and Ubuntu SHA-256 values</a:t>
            </a:r>
          </a:p>
        </p:txBody>
      </p:sp>
      <p:sp>
        <p:nvSpPr>
          <p:cNvPr id="23" name="">
            <a:extLst xmlns:a="http://schemas.openxmlformats.org/drawingml/2006/main">
              <a:ext uri="{FF2B5EF4-FFF2-40B4-BE49-F238E27FC236}">
                <a16:creationId xmlns:a16="http://schemas.microsoft.com/office/drawing/2014/main" id="{7B7B095D-E4A1-4E77-9D19-797B48E222EE}"/>
              </a:ext>
            </a:extLst>
          </p:cNvPr>
          <p:cNvSpPr>
            <a:spLocks xmlns:a="http://schemas.openxmlformats.org/drawingml/2006/main" noGrp="1"/>
          </p:cNvSpPr>
          <p:nvPr/>
        </p:nvSpPr>
        <p:spPr>
          <a:xfrm xmlns:a="http://schemas.openxmlformats.org/drawingml/2006/main">
            <a:off x="8801100" y="5619750"/>
            <a:ext cx="2933700" cy="781050"/>
          </a:xfrm>
          <a:prstGeom xmlns:a="http://schemas.openxmlformats.org/drawingml/2006/main" prst="roundRect">
            <a:avLst>
              <a:gd name="adj" fmla="val 19512"/>
            </a:avLst>
          </a:prstGeom>
          <a:solidFill xmlns:a="http://schemas.openxmlformats.org/drawingml/2006/main">
            <a:srgbClr val="FFFFFF"/>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603EFEA7-5291-4531-9BB8-73B768098BE0}"/>
              </a:ext>
            </a:extLst>
          </p:cNvPr>
          <p:cNvSpPr>
            <a:spLocks xmlns:a="http://schemas.openxmlformats.org/drawingml/2006/main" noGrp="1"/>
          </p:cNvSpPr>
          <p:nvPr/>
        </p:nvSpPr>
        <p:spPr>
          <a:xfrm xmlns:a="http://schemas.openxmlformats.org/drawingml/2006/main">
            <a:off x="8801100" y="5619750"/>
            <a:ext cx="76200" cy="781050"/>
          </a:xfrm>
          <a:prstGeom xmlns:a="http://schemas.openxmlformats.org/drawingml/2006/main" prst="rect">
            <a:avLst/>
          </a:prstGeom>
          <a:solidFill xmlns:a="http://schemas.openxmlformats.org/drawingml/2006/main">
            <a:srgbClr val="183B66"/>
          </a:solidFill>
          <a:ln xmlns:a="http://schemas.openxmlformats.org/drawingml/2006/main" w="0">
            <a:solidFill>
              <a:srgbClr val="183B66"/>
            </a:solidFill>
            <a:prstDash val="solid"/>
          </a:ln>
        </p:spPr>
      </p:sp>
      <p:sp>
        <p:nvSpPr>
          <p:cNvPr id="25" name="">
            <a:extLst xmlns:a="http://schemas.openxmlformats.org/drawingml/2006/main">
              <a:ext uri="{FF2B5EF4-FFF2-40B4-BE49-F238E27FC236}">
                <a16:creationId xmlns:a16="http://schemas.microsoft.com/office/drawing/2014/main" id="{C0C74221-B197-46E0-8E55-36AB7E10D1B3}"/>
              </a:ext>
            </a:extLst>
          </p:cNvPr>
          <p:cNvSpPr>
            <a:spLocks xmlns:a="http://schemas.openxmlformats.org/drawingml/2006/main" noGrp="1"/>
          </p:cNvSpPr>
          <p:nvPr/>
        </p:nvSpPr>
        <p:spPr>
          <a:xfrm xmlns:a="http://schemas.openxmlformats.org/drawingml/2006/main">
            <a:off x="9029700" y="57626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2250" b="1">
                <a:solidFill>
                  <a:srgbClr val="0B0E14"/>
                </a:solidFill>
                <a:latin typeface="Helvetica Neue"/>
                <a:ea typeface="Helvetica Neue"/>
                <a:cs typeface="Helvetica Neue"/>
              </a:defRPr>
            </a:pPr>
            <a:r>
              <a:rPr sz="2250" b="1">
                <a:solidFill>
                  <a:srgbClr val="0B0E14"/>
                </a:solidFill>
                <a:latin typeface="Helvetica Neue"/>
                <a:ea typeface="Helvetica Neue"/>
                <a:cs typeface="Helvetica Neue"/>
              </a:rPr>
              <a:t>SCP</a:t>
            </a:r>
          </a:p>
        </p:txBody>
      </p:sp>
      <p:sp>
        <p:nvSpPr>
          <p:cNvPr id="26" name="">
            <a:extLst xmlns:a="http://schemas.openxmlformats.org/drawingml/2006/main">
              <a:ext uri="{FF2B5EF4-FFF2-40B4-BE49-F238E27FC236}">
                <a16:creationId xmlns:a16="http://schemas.microsoft.com/office/drawing/2014/main" id="{B2814EF0-785D-44A5-8F82-C52C22D7284F}"/>
              </a:ext>
            </a:extLst>
          </p:cNvPr>
          <p:cNvSpPr>
            <a:spLocks xmlns:a="http://schemas.openxmlformats.org/drawingml/2006/main" noGrp="1"/>
          </p:cNvSpPr>
          <p:nvPr/>
        </p:nvSpPr>
        <p:spPr>
          <a:xfrm xmlns:a="http://schemas.openxmlformats.org/drawingml/2006/main">
            <a:off x="9029700" y="6172200"/>
            <a:ext cx="2571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074"/>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Temporary SSH transfer, then service disabled</a:t>
            </a:r>
          </a:p>
        </p:txBody>
      </p:sp>
    </p:spTree>
    <p:extLst>
      <p:ext uri="{BB962C8B-B14F-4D97-AF65-F5344CB8AC3E}">
        <p14:creationId xmlns:p14="http://schemas.microsoft.com/office/powerpoint/2010/main" val="8681647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D9AE22-FDD3-4508-9BDB-4EA5B4995694}"/>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AB8ED3BB-E56E-4AD5-B4E6-255AD642A47C}"/>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Volatility 3: structured memory triage</a:t>
            </a:r>
          </a:p>
        </p:txBody>
      </p:sp>
      <p:sp>
        <p:nvSpPr>
          <p:cNvPr id="3" name="">
            <a:extLst xmlns:a="http://schemas.openxmlformats.org/drawingml/2006/main">
              <a:ext uri="{FF2B5EF4-FFF2-40B4-BE49-F238E27FC236}">
                <a16:creationId xmlns:a16="http://schemas.microsoft.com/office/drawing/2014/main" id="{E3BE1D73-3AF7-4B97-A53C-8D39AE0E6F25}"/>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25A5A4F8-EA51-4F41-AC28-D7A1400C6F44}"/>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9AFFE2B7-E17C-41AE-A6AB-6D7B50174FB9}"/>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B53F4FB2-8E0F-4AF9-A2AE-678D29146A34}"/>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EECE4259-8D19-4FCA-A341-B6985D216EDC}"/>
              </a:ext>
            </a:extLst>
          </p:cNvPr>
          <p:cNvSpPr>
            <a:spLocks xmlns:a="http://schemas.openxmlformats.org/drawingml/2006/main" noGrp="1"/>
          </p:cNvSpPr>
          <p:nvPr/>
        </p:nvSpPr>
        <p:spPr>
          <a:xfrm xmlns:a="http://schemas.openxmlformats.org/drawingml/2006/main">
            <a:off x="457200" y="1638300"/>
            <a:ext cx="4895850" cy="3562350"/>
          </a:xfrm>
          <a:prstGeom xmlns:a="http://schemas.openxmlformats.org/drawingml/2006/main" prst="roundRect">
            <a:avLst>
              <a:gd name="adj" fmla="val 3743"/>
            </a:avLst>
          </a:prstGeom>
          <a:solidFill xmlns:a="http://schemas.openxmlformats.org/drawingml/2006/main">
            <a:srgbClr val="FFFFFF"/>
          </a:solidFill>
          <a:ln xmlns:a="http://schemas.openxmlformats.org/drawingml/2006/main" w="9525">
            <a:solidFill>
              <a:srgbClr val="B8BCC4"/>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8ec8635e18604d91"/>
          <a:stretch xmlns:a="http://schemas.openxmlformats.org/drawingml/2006/main"/>
        </p:blipFill>
        <p:spPr>
          <a:xfrm xmlns:a="http://schemas.openxmlformats.org/drawingml/2006/main">
            <a:off x="757087" y="1685925"/>
            <a:ext cx="4296076" cy="3467100"/>
          </a:xfrm>
          <a:prstGeom xmlns:a="http://schemas.openxmlformats.org/drawingml/2006/main" prst="roundRect">
            <a:avLst>
              <a:gd name="adj" fmla="val 3297"/>
            </a:avLst>
          </a:prstGeom>
        </p:spPr>
      </p:pic>
      <p:sp>
        <p:nvSpPr>
          <p:cNvPr id="9" name="">
            <a:extLst xmlns:a="http://schemas.openxmlformats.org/drawingml/2006/main">
              <a:ext uri="{FF2B5EF4-FFF2-40B4-BE49-F238E27FC236}">
                <a16:creationId xmlns:a16="http://schemas.microsoft.com/office/drawing/2014/main" id="{2C73175B-B64A-4AC6-8201-F99A81F9025D}"/>
              </a:ext>
            </a:extLst>
          </p:cNvPr>
          <p:cNvSpPr>
            <a:spLocks xmlns:a="http://schemas.openxmlformats.org/drawingml/2006/main" noGrp="1"/>
          </p:cNvSpPr>
          <p:nvPr/>
        </p:nvSpPr>
        <p:spPr>
          <a:xfrm xmlns:a="http://schemas.openxmlformats.org/drawingml/2006/main">
            <a:off x="5619750" y="1638300"/>
            <a:ext cx="6115050" cy="3562350"/>
          </a:xfrm>
          <a:prstGeom xmlns:a="http://schemas.openxmlformats.org/drawingml/2006/main" prst="roundRect">
            <a:avLst>
              <a:gd name="adj" fmla="val 3743"/>
            </a:avLst>
          </a:prstGeom>
          <a:solidFill xmlns:a="http://schemas.openxmlformats.org/drawingml/2006/main">
            <a:srgbClr val="FFFFFF"/>
          </a:solidFill>
          <a:ln xmlns:a="http://schemas.openxmlformats.org/drawingml/2006/main" w="9525">
            <a:solidFill>
              <a:srgbClr val="B8BCC4"/>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cf250929b86244eb"/>
          <a:stretch xmlns:a="http://schemas.openxmlformats.org/drawingml/2006/main"/>
        </p:blipFill>
        <p:spPr>
          <a:xfrm xmlns:a="http://schemas.openxmlformats.org/drawingml/2006/main">
            <a:off x="6529237" y="1685925"/>
            <a:ext cx="4296076" cy="3467100"/>
          </a:xfrm>
          <a:prstGeom xmlns:a="http://schemas.openxmlformats.org/drawingml/2006/main" prst="roundRect">
            <a:avLst>
              <a:gd name="adj" fmla="val 3297"/>
            </a:avLst>
          </a:prstGeom>
        </p:spPr>
      </p:pic>
      <p:sp>
        <p:nvSpPr>
          <p:cNvPr id="11" name="">
            <a:extLst xmlns:a="http://schemas.openxmlformats.org/drawingml/2006/main">
              <a:ext uri="{FF2B5EF4-FFF2-40B4-BE49-F238E27FC236}">
                <a16:creationId xmlns:a16="http://schemas.microsoft.com/office/drawing/2014/main" id="{121BBEDD-2C3B-4956-AC3D-295D8C6EC87C}"/>
              </a:ext>
            </a:extLst>
          </p:cNvPr>
          <p:cNvSpPr>
            <a:spLocks xmlns:a="http://schemas.openxmlformats.org/drawingml/2006/main" noGrp="1"/>
          </p:cNvSpPr>
          <p:nvPr/>
        </p:nvSpPr>
        <p:spPr>
          <a:xfrm xmlns:a="http://schemas.openxmlformats.org/drawingml/2006/main">
            <a:off x="457200" y="54673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12" name="">
            <a:extLst xmlns:a="http://schemas.openxmlformats.org/drawingml/2006/main">
              <a:ext uri="{FF2B5EF4-FFF2-40B4-BE49-F238E27FC236}">
                <a16:creationId xmlns:a16="http://schemas.microsoft.com/office/drawing/2014/main" id="{3960DD8E-827B-4C26-94EB-BBFF00B8FEE2}"/>
              </a:ext>
            </a:extLst>
          </p:cNvPr>
          <p:cNvSpPr>
            <a:spLocks xmlns:a="http://schemas.openxmlformats.org/drawingml/2006/main" noGrp="1"/>
          </p:cNvSpPr>
          <p:nvPr/>
        </p:nvSpPr>
        <p:spPr>
          <a:xfrm xmlns:a="http://schemas.openxmlformats.org/drawingml/2006/main">
            <a:off x="457200" y="54673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windows.info</a:t>
            </a:r>
          </a:p>
        </p:txBody>
      </p:sp>
      <p:sp>
        <p:nvSpPr>
          <p:cNvPr id="13" name="">
            <a:extLst xmlns:a="http://schemas.openxmlformats.org/drawingml/2006/main">
              <a:ext uri="{FF2B5EF4-FFF2-40B4-BE49-F238E27FC236}">
                <a16:creationId xmlns:a16="http://schemas.microsoft.com/office/drawing/2014/main" id="{18917E94-81ED-457D-AE7E-0ACBC68644DD}"/>
              </a:ext>
            </a:extLst>
          </p:cNvPr>
          <p:cNvSpPr>
            <a:spLocks xmlns:a="http://schemas.openxmlformats.org/drawingml/2006/main" noGrp="1"/>
          </p:cNvSpPr>
          <p:nvPr/>
        </p:nvSpPr>
        <p:spPr>
          <a:xfrm xmlns:a="http://schemas.openxmlformats.org/drawingml/2006/main">
            <a:off x="3181350" y="54673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14" name="">
            <a:extLst xmlns:a="http://schemas.openxmlformats.org/drawingml/2006/main">
              <a:ext uri="{FF2B5EF4-FFF2-40B4-BE49-F238E27FC236}">
                <a16:creationId xmlns:a16="http://schemas.microsoft.com/office/drawing/2014/main" id="{A0DD163E-DEAA-4BE4-AB00-55485639EA89}"/>
              </a:ext>
            </a:extLst>
          </p:cNvPr>
          <p:cNvSpPr>
            <a:spLocks xmlns:a="http://schemas.openxmlformats.org/drawingml/2006/main" noGrp="1"/>
          </p:cNvSpPr>
          <p:nvPr/>
        </p:nvSpPr>
        <p:spPr>
          <a:xfrm xmlns:a="http://schemas.openxmlformats.org/drawingml/2006/main">
            <a:off x="3181350" y="54673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windows.pslist</a:t>
            </a:r>
          </a:p>
        </p:txBody>
      </p:sp>
      <p:sp>
        <p:nvSpPr>
          <p:cNvPr id="15" name="">
            <a:extLst xmlns:a="http://schemas.openxmlformats.org/drawingml/2006/main">
              <a:ext uri="{FF2B5EF4-FFF2-40B4-BE49-F238E27FC236}">
                <a16:creationId xmlns:a16="http://schemas.microsoft.com/office/drawing/2014/main" id="{4AF969B4-C6CF-4982-B55D-E7DCE448EF30}"/>
              </a:ext>
            </a:extLst>
          </p:cNvPr>
          <p:cNvSpPr>
            <a:spLocks xmlns:a="http://schemas.openxmlformats.org/drawingml/2006/main" noGrp="1"/>
          </p:cNvSpPr>
          <p:nvPr/>
        </p:nvSpPr>
        <p:spPr>
          <a:xfrm xmlns:a="http://schemas.openxmlformats.org/drawingml/2006/main">
            <a:off x="5905500" y="54673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16" name="">
            <a:extLst xmlns:a="http://schemas.openxmlformats.org/drawingml/2006/main">
              <a:ext uri="{FF2B5EF4-FFF2-40B4-BE49-F238E27FC236}">
                <a16:creationId xmlns:a16="http://schemas.microsoft.com/office/drawing/2014/main" id="{7715854C-6587-4592-8D62-4098F6F90147}"/>
              </a:ext>
            </a:extLst>
          </p:cNvPr>
          <p:cNvSpPr>
            <a:spLocks xmlns:a="http://schemas.openxmlformats.org/drawingml/2006/main" noGrp="1"/>
          </p:cNvSpPr>
          <p:nvPr/>
        </p:nvSpPr>
        <p:spPr>
          <a:xfrm xmlns:a="http://schemas.openxmlformats.org/drawingml/2006/main">
            <a:off x="5905500" y="54673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windows.pstree</a:t>
            </a:r>
          </a:p>
        </p:txBody>
      </p:sp>
      <p:sp>
        <p:nvSpPr>
          <p:cNvPr id="17" name="">
            <a:extLst xmlns:a="http://schemas.openxmlformats.org/drawingml/2006/main">
              <a:ext uri="{FF2B5EF4-FFF2-40B4-BE49-F238E27FC236}">
                <a16:creationId xmlns:a16="http://schemas.microsoft.com/office/drawing/2014/main" id="{78FD9BE5-0C22-441F-818D-439BDC49BE40}"/>
              </a:ext>
            </a:extLst>
          </p:cNvPr>
          <p:cNvSpPr>
            <a:spLocks xmlns:a="http://schemas.openxmlformats.org/drawingml/2006/main" noGrp="1"/>
          </p:cNvSpPr>
          <p:nvPr/>
        </p:nvSpPr>
        <p:spPr>
          <a:xfrm xmlns:a="http://schemas.openxmlformats.org/drawingml/2006/main">
            <a:off x="8629650" y="54673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18" name="">
            <a:extLst xmlns:a="http://schemas.openxmlformats.org/drawingml/2006/main">
              <a:ext uri="{FF2B5EF4-FFF2-40B4-BE49-F238E27FC236}">
                <a16:creationId xmlns:a16="http://schemas.microsoft.com/office/drawing/2014/main" id="{7C17EF76-FC7D-4342-A493-C68E678DBFEE}"/>
              </a:ext>
            </a:extLst>
          </p:cNvPr>
          <p:cNvSpPr>
            <a:spLocks xmlns:a="http://schemas.openxmlformats.org/drawingml/2006/main" noGrp="1"/>
          </p:cNvSpPr>
          <p:nvPr/>
        </p:nvSpPr>
        <p:spPr>
          <a:xfrm xmlns:a="http://schemas.openxmlformats.org/drawingml/2006/main">
            <a:off x="8629650" y="54673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windows.cmdline</a:t>
            </a:r>
          </a:p>
        </p:txBody>
      </p:sp>
      <p:sp>
        <p:nvSpPr>
          <p:cNvPr id="19" name="">
            <a:extLst xmlns:a="http://schemas.openxmlformats.org/drawingml/2006/main">
              <a:ext uri="{FF2B5EF4-FFF2-40B4-BE49-F238E27FC236}">
                <a16:creationId xmlns:a16="http://schemas.microsoft.com/office/drawing/2014/main" id="{F954E93D-20A2-441F-BDF6-1B7B6C2B40AE}"/>
              </a:ext>
            </a:extLst>
          </p:cNvPr>
          <p:cNvSpPr>
            <a:spLocks xmlns:a="http://schemas.openxmlformats.org/drawingml/2006/main" noGrp="1"/>
          </p:cNvSpPr>
          <p:nvPr/>
        </p:nvSpPr>
        <p:spPr>
          <a:xfrm xmlns:a="http://schemas.openxmlformats.org/drawingml/2006/main">
            <a:off x="457200" y="59245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20" name="">
            <a:extLst xmlns:a="http://schemas.openxmlformats.org/drawingml/2006/main">
              <a:ext uri="{FF2B5EF4-FFF2-40B4-BE49-F238E27FC236}">
                <a16:creationId xmlns:a16="http://schemas.microsoft.com/office/drawing/2014/main" id="{A7F234C5-C223-419A-8FA5-EF6CB42F6BD4}"/>
              </a:ext>
            </a:extLst>
          </p:cNvPr>
          <p:cNvSpPr>
            <a:spLocks xmlns:a="http://schemas.openxmlformats.org/drawingml/2006/main" noGrp="1"/>
          </p:cNvSpPr>
          <p:nvPr/>
        </p:nvSpPr>
        <p:spPr>
          <a:xfrm xmlns:a="http://schemas.openxmlformats.org/drawingml/2006/main">
            <a:off x="457200" y="59245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windows.netscan</a:t>
            </a:r>
          </a:p>
        </p:txBody>
      </p:sp>
      <p:sp>
        <p:nvSpPr>
          <p:cNvPr id="21" name="">
            <a:extLst xmlns:a="http://schemas.openxmlformats.org/drawingml/2006/main">
              <a:ext uri="{FF2B5EF4-FFF2-40B4-BE49-F238E27FC236}">
                <a16:creationId xmlns:a16="http://schemas.microsoft.com/office/drawing/2014/main" id="{CEF47717-2176-4F0A-A762-68C70CF57F32}"/>
              </a:ext>
            </a:extLst>
          </p:cNvPr>
          <p:cNvSpPr>
            <a:spLocks xmlns:a="http://schemas.openxmlformats.org/drawingml/2006/main" noGrp="1"/>
          </p:cNvSpPr>
          <p:nvPr/>
        </p:nvSpPr>
        <p:spPr>
          <a:xfrm xmlns:a="http://schemas.openxmlformats.org/drawingml/2006/main">
            <a:off x="3181350" y="5924550"/>
            <a:ext cx="2514600" cy="342900"/>
          </a:xfrm>
          <a:prstGeom xmlns:a="http://schemas.openxmlformats.org/drawingml/2006/main" prst="roundRect">
            <a:avLst>
              <a:gd name="adj" fmla="val 44444"/>
            </a:avLst>
          </a:prstGeom>
          <a:solidFill xmlns:a="http://schemas.openxmlformats.org/drawingml/2006/main">
            <a:srgbClr val="E8EDF2"/>
          </a:solidFill>
          <a:ln xmlns:a="http://schemas.openxmlformats.org/drawingml/2006/main" w="9525">
            <a:solidFill>
              <a:srgbClr val="E8EDF2"/>
            </a:solidFill>
            <a:prstDash val="solid"/>
          </a:ln>
        </p:spPr>
      </p:sp>
      <p:sp>
        <p:nvSpPr>
          <p:cNvPr id="22" name="">
            <a:extLst xmlns:a="http://schemas.openxmlformats.org/drawingml/2006/main">
              <a:ext uri="{FF2B5EF4-FFF2-40B4-BE49-F238E27FC236}">
                <a16:creationId xmlns:a16="http://schemas.microsoft.com/office/drawing/2014/main" id="{1D5F0864-A828-4802-B17B-DFAE6BE37F23}"/>
              </a:ext>
            </a:extLst>
          </p:cNvPr>
          <p:cNvSpPr>
            <a:spLocks xmlns:a="http://schemas.openxmlformats.org/drawingml/2006/main" noGrp="1"/>
          </p:cNvSpPr>
          <p:nvPr/>
        </p:nvSpPr>
        <p:spPr>
          <a:xfrm xmlns:a="http://schemas.openxmlformats.org/drawingml/2006/main">
            <a:off x="3181350" y="59245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windows.filescan</a:t>
            </a:r>
          </a:p>
        </p:txBody>
      </p:sp>
      <p:sp>
        <p:nvSpPr>
          <p:cNvPr id="23" name="">
            <a:extLst xmlns:a="http://schemas.openxmlformats.org/drawingml/2006/main">
              <a:ext uri="{FF2B5EF4-FFF2-40B4-BE49-F238E27FC236}">
                <a16:creationId xmlns:a16="http://schemas.microsoft.com/office/drawing/2014/main" id="{851ABFF9-4CCE-4A65-A437-7A36006309DA}"/>
              </a:ext>
            </a:extLst>
          </p:cNvPr>
          <p:cNvSpPr>
            <a:spLocks xmlns:a="http://schemas.openxmlformats.org/drawingml/2006/main" noGrp="1"/>
          </p:cNvSpPr>
          <p:nvPr/>
        </p:nvSpPr>
        <p:spPr>
          <a:xfrm xmlns:a="http://schemas.openxmlformats.org/drawingml/2006/main">
            <a:off x="5905500" y="5924550"/>
            <a:ext cx="2514600" cy="342900"/>
          </a:xfrm>
          <a:prstGeom xmlns:a="http://schemas.openxmlformats.org/drawingml/2006/main" prst="roundRect">
            <a:avLst>
              <a:gd name="adj" fmla="val 44444"/>
            </a:avLst>
          </a:prstGeom>
          <a:solidFill xmlns:a="http://schemas.openxmlformats.org/drawingml/2006/main">
            <a:srgbClr val="FFF0D6"/>
          </a:solidFill>
          <a:ln xmlns:a="http://schemas.openxmlformats.org/drawingml/2006/main" w="9525">
            <a:solidFill>
              <a:srgbClr val="FFF0D6"/>
            </a:solidFill>
            <a:prstDash val="solid"/>
          </a:ln>
        </p:spPr>
      </p:sp>
      <p:sp>
        <p:nvSpPr>
          <p:cNvPr id="24" name="">
            <a:extLst xmlns:a="http://schemas.openxmlformats.org/drawingml/2006/main">
              <a:ext uri="{FF2B5EF4-FFF2-40B4-BE49-F238E27FC236}">
                <a16:creationId xmlns:a16="http://schemas.microsoft.com/office/drawing/2014/main" id="{BFE9FE93-9F99-4D16-8883-0F102D5C2423}"/>
              </a:ext>
            </a:extLst>
          </p:cNvPr>
          <p:cNvSpPr>
            <a:spLocks xmlns:a="http://schemas.openxmlformats.org/drawingml/2006/main" noGrp="1"/>
          </p:cNvSpPr>
          <p:nvPr/>
        </p:nvSpPr>
        <p:spPr>
          <a:xfrm xmlns:a="http://schemas.openxmlformats.org/drawingml/2006/main">
            <a:off x="5905500" y="5924550"/>
            <a:ext cx="2514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D97706"/>
                </a:solidFill>
                <a:latin typeface="Helvetica Neue"/>
                <a:ea typeface="Helvetica Neue"/>
                <a:cs typeface="Helvetica Neue"/>
              </a:defRPr>
            </a:pPr>
            <a:r>
              <a:rPr sz="1125" b="1">
                <a:solidFill>
                  <a:srgbClr val="D97706"/>
                </a:solidFill>
                <a:latin typeface="Helvetica Neue"/>
                <a:ea typeface="Helvetica Neue"/>
                <a:cs typeface="Helvetica Neue"/>
              </a:rPr>
              <a:t>windows.malfind</a:t>
            </a:r>
          </a:p>
        </p:txBody>
      </p:sp>
      <p:sp>
        <p:nvSpPr>
          <p:cNvPr id="25" name="">
            <a:extLst xmlns:a="http://schemas.openxmlformats.org/drawingml/2006/main">
              <a:ext uri="{FF2B5EF4-FFF2-40B4-BE49-F238E27FC236}">
                <a16:creationId xmlns:a16="http://schemas.microsoft.com/office/drawing/2014/main" id="{6299E987-C457-44EC-B45C-716FE13CE474}"/>
              </a:ext>
            </a:extLst>
          </p:cNvPr>
          <p:cNvSpPr>
            <a:spLocks xmlns:a="http://schemas.openxmlformats.org/drawingml/2006/main" noGrp="1"/>
          </p:cNvSpPr>
          <p:nvPr/>
        </p:nvSpPr>
        <p:spPr>
          <a:xfrm xmlns:a="http://schemas.openxmlformats.org/drawingml/2006/main">
            <a:off x="8620125" y="593407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i="1">
                <a:solidFill>
                  <a:srgbClr val="B42318"/>
                </a:solidFill>
                <a:latin typeface="Helvetica Neue"/>
                <a:ea typeface="Helvetica Neue"/>
                <a:cs typeface="Helvetica Neue"/>
              </a:defRPr>
            </a:pPr>
            <a:r>
              <a:rPr sz="975" i="1">
                <a:solidFill>
                  <a:srgbClr val="B42318"/>
                </a:solidFill>
                <a:latin typeface="Helvetica Neue"/>
                <a:ea typeface="Helvetica Neue"/>
                <a:cs typeface="Helvetica Neue"/>
              </a:rPr>
              <a:t>malfind output = candidate regions for review; it is not proof of malware.</a:t>
            </a:r>
          </a:p>
        </p:txBody>
      </p:sp>
    </p:spTree>
    <p:extLst>
      <p:ext uri="{BB962C8B-B14F-4D97-AF65-F5344CB8AC3E}">
        <p14:creationId xmlns:p14="http://schemas.microsoft.com/office/powerpoint/2010/main" val="11401649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FA513B21-E2E3-406F-BC4F-A45FCD586BE8}"/>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151AD676-4762-4A4E-A1C0-EB07DE063FE0}"/>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98C35FD2-F9E3-4DAF-BA57-EF7DE7A08DC8}"/>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34719B05-00D0-465D-BFC7-3DFE8967D111}"/>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6E77B6C7-9DDE-436B-95B8-B4CCF571EC2E}"/>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FFCD71F2-94A6-4EA8-B1FA-05A531190D63}"/>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EDEA8260-2A26-4227-BE3E-F57EBC0C6965}"/>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605D989D-4DD6-4B34-B7FE-0560A9BB1036}"/>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2F1B3407-7207-42CC-BFAD-7613561368C7}"/>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8EBC8166-32EC-4E47-BBE5-F761788FFDA2}"/>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A168EC89-378C-4592-A8FE-C5F95C63088F}"/>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67F4AC13-6B17-4FEF-ABE5-BFD768656C38}"/>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B6AC95C5-E229-4DB4-BF09-144608A00196}"/>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67F093D0-E0DF-4C2F-87ED-D8D4A4FBE0EF}"/>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59FA54C8-3C7C-4F50-8ED5-AD74FB1C6241}"/>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B5007670-8E42-4AF1-987C-6F564DA74A63}"/>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A3331445-B3F7-4576-91C0-D00D68473B41}"/>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9591D26E-2F30-4746-B9A4-6471743A9A0E}"/>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3E19E780-EFEA-4F05-9EAF-001F2B1FB888}"/>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EF031737-FE94-4060-8E26-18AB596FA1FB}"/>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Disk, IOC, STIX, and recovery validation</a:t>
            </a:r>
          </a:p>
        </p:txBody>
      </p:sp>
      <p:sp>
        <p:nvSpPr>
          <p:cNvPr id="21" name="">
            <a:extLst xmlns:a="http://schemas.openxmlformats.org/drawingml/2006/main">
              <a:ext uri="{FF2B5EF4-FFF2-40B4-BE49-F238E27FC236}">
                <a16:creationId xmlns:a16="http://schemas.microsoft.com/office/drawing/2014/main" id="{26697CC4-895B-46A5-9383-D602739D39FF}"/>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14</a:t>
            </a:r>
          </a:p>
        </p:txBody>
      </p:sp>
      <p:sp>
        <p:nvSpPr>
          <p:cNvPr id="22" name="">
            <a:extLst xmlns:a="http://schemas.openxmlformats.org/drawingml/2006/main">
              <a:ext uri="{FF2B5EF4-FFF2-40B4-BE49-F238E27FC236}">
                <a16:creationId xmlns:a16="http://schemas.microsoft.com/office/drawing/2014/main" id="{4D717ADA-B0D0-40C2-AF52-4C430AD8B38B}"/>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CFA74EEB-E06C-4BE9-8811-A61FE1D272C5}"/>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24" name="">
            <a:extLst xmlns:a="http://schemas.openxmlformats.org/drawingml/2006/main">
              <a:ext uri="{FF2B5EF4-FFF2-40B4-BE49-F238E27FC236}">
                <a16:creationId xmlns:a16="http://schemas.microsoft.com/office/drawing/2014/main" id="{C76EAD0C-1D76-4FB5-892F-DBD1AEC8326F}"/>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3F84C48A-25A8-43E6-9C78-2439F5D6B59F}"/>
              </a:ext>
            </a:extLst>
          </p:cNvPr>
          <p:cNvSpPr>
            <a:spLocks xmlns:a="http://schemas.openxmlformats.org/drawingml/2006/main" noGrp="1"/>
          </p:cNvSpPr>
          <p:nvPr/>
        </p:nvSpPr>
        <p:spPr>
          <a:xfrm xmlns:a="http://schemas.openxmlformats.org/drawingml/2006/main">
            <a:off x="457200" y="1790700"/>
            <a:ext cx="3276600" cy="3009900"/>
          </a:xfrm>
          <a:prstGeom xmlns:a="http://schemas.openxmlformats.org/drawingml/2006/main" prst="roundRect">
            <a:avLst>
              <a:gd name="adj" fmla="val 6329"/>
            </a:avLst>
          </a:prstGeom>
          <a:solidFill xmlns:a="http://schemas.openxmlformats.org/drawingml/2006/main">
            <a:srgbClr val="FFFFFF"/>
          </a:solidFill>
          <a:ln xmlns:a="http://schemas.openxmlformats.org/drawingml/2006/main" w="9525">
            <a:solidFill>
              <a:srgbClr val="B8BCC4"/>
            </a:solidFill>
            <a:prstDash val="solid"/>
          </a:ln>
        </p:spPr>
      </p:sp>
      <p:sp>
        <p:nvSpPr>
          <p:cNvPr id="26" name="">
            <a:extLst xmlns:a="http://schemas.openxmlformats.org/drawingml/2006/main">
              <a:ext uri="{FF2B5EF4-FFF2-40B4-BE49-F238E27FC236}">
                <a16:creationId xmlns:a16="http://schemas.microsoft.com/office/drawing/2014/main" id="{B2E6077A-5C7F-4F44-82B6-E8C5263122AB}"/>
              </a:ext>
            </a:extLst>
          </p:cNvPr>
          <p:cNvSpPr>
            <a:spLocks xmlns:a="http://schemas.openxmlformats.org/drawingml/2006/main" noGrp="1"/>
          </p:cNvSpPr>
          <p:nvPr/>
        </p:nvSpPr>
        <p:spPr>
          <a:xfrm xmlns:a="http://schemas.openxmlformats.org/drawingml/2006/main">
            <a:off x="457200" y="1790700"/>
            <a:ext cx="3276600" cy="952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7" name="">
            <a:extLst xmlns:a="http://schemas.openxmlformats.org/drawingml/2006/main">
              <a:ext uri="{FF2B5EF4-FFF2-40B4-BE49-F238E27FC236}">
                <a16:creationId xmlns:a16="http://schemas.microsoft.com/office/drawing/2014/main" id="{AD381313-72D6-4AE0-A30E-F5C99EA1C70B}"/>
              </a:ext>
            </a:extLst>
          </p:cNvPr>
          <p:cNvSpPr>
            <a:spLocks xmlns:a="http://schemas.openxmlformats.org/drawingml/2006/main" noGrp="1"/>
          </p:cNvSpPr>
          <p:nvPr/>
        </p:nvSpPr>
        <p:spPr>
          <a:xfrm xmlns:a="http://schemas.openxmlformats.org/drawingml/2006/main">
            <a:off x="685800" y="21526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DISK FORENSICS</a:t>
            </a:r>
          </a:p>
        </p:txBody>
      </p:sp>
      <p:sp>
        <p:nvSpPr>
          <p:cNvPr id="28" name="">
            <a:extLst xmlns:a="http://schemas.openxmlformats.org/drawingml/2006/main">
              <a:ext uri="{FF2B5EF4-FFF2-40B4-BE49-F238E27FC236}">
                <a16:creationId xmlns:a16="http://schemas.microsoft.com/office/drawing/2014/main" id="{8BB986E7-8169-4A44-87AD-35A4664B5B31}"/>
              </a:ext>
            </a:extLst>
          </p:cNvPr>
          <p:cNvSpPr>
            <a:spLocks xmlns:a="http://schemas.openxmlformats.org/drawingml/2006/main" noGrp="1"/>
          </p:cNvSpPr>
          <p:nvPr/>
        </p:nvSpPr>
        <p:spPr>
          <a:xfrm xmlns:a="http://schemas.openxmlformats.org/drawingml/2006/main">
            <a:off x="723900" y="2781300"/>
            <a:ext cx="2743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0B0E14"/>
                </a:solidFill>
                <a:latin typeface="Helvetica Neue"/>
                <a:ea typeface="Helvetica Neue"/>
                <a:cs typeface="Helvetica Neue"/>
              </a:defRPr>
            </a:pPr>
            <a:r>
              <a:rPr sz="1725" b="1">
                <a:solidFill>
                  <a:srgbClr val="0B0E14"/>
                </a:solidFill>
                <a:latin typeface="Helvetica Neue"/>
                <a:ea typeface="Helvetica Neue"/>
                <a:cs typeface="Helvetica Neue"/>
              </a:rPr>
              <a:t>Forensic image created and verified</a:t>
            </a:r>
          </a:p>
        </p:txBody>
      </p:sp>
      <p:sp>
        <p:nvSpPr>
          <p:cNvPr id="29" name="">
            <a:extLst xmlns:a="http://schemas.openxmlformats.org/drawingml/2006/main">
              <a:ext uri="{FF2B5EF4-FFF2-40B4-BE49-F238E27FC236}">
                <a16:creationId xmlns:a16="http://schemas.microsoft.com/office/drawing/2014/main" id="{0492BE3C-B849-4ED1-AFB4-CEA663C93CE6}"/>
              </a:ext>
            </a:extLst>
          </p:cNvPr>
          <p:cNvSpPr>
            <a:spLocks xmlns:a="http://schemas.openxmlformats.org/drawingml/2006/main" noGrp="1"/>
          </p:cNvSpPr>
          <p:nvPr/>
        </p:nvSpPr>
        <p:spPr>
          <a:xfrm xmlns:a="http://schemas.openxmlformats.org/drawingml/2006/main">
            <a:off x="723900" y="3771900"/>
            <a:ext cx="2743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Deleted file: RECOVERED_AND_CONTENT_VALIDATED</a:t>
            </a:r>
          </a:p>
        </p:txBody>
      </p:sp>
      <p:sp>
        <p:nvSpPr>
          <p:cNvPr id="30" name="">
            <a:extLst xmlns:a="http://schemas.openxmlformats.org/drawingml/2006/main">
              <a:ext uri="{FF2B5EF4-FFF2-40B4-BE49-F238E27FC236}">
                <a16:creationId xmlns:a16="http://schemas.microsoft.com/office/drawing/2014/main" id="{826226F3-7A8B-4C30-8888-21CABE14FBCD}"/>
              </a:ext>
            </a:extLst>
          </p:cNvPr>
          <p:cNvSpPr>
            <a:spLocks xmlns:a="http://schemas.openxmlformats.org/drawingml/2006/main" noGrp="1"/>
          </p:cNvSpPr>
          <p:nvPr/>
        </p:nvSpPr>
        <p:spPr>
          <a:xfrm xmlns:a="http://schemas.openxmlformats.org/drawingml/2006/main">
            <a:off x="4267200" y="1790700"/>
            <a:ext cx="3276600" cy="3009900"/>
          </a:xfrm>
          <a:prstGeom xmlns:a="http://schemas.openxmlformats.org/drawingml/2006/main" prst="roundRect">
            <a:avLst>
              <a:gd name="adj" fmla="val 6329"/>
            </a:avLst>
          </a:prstGeom>
          <a:solidFill xmlns:a="http://schemas.openxmlformats.org/drawingml/2006/main">
            <a:srgbClr val="FFFFFF"/>
          </a:solidFill>
          <a:ln xmlns:a="http://schemas.openxmlformats.org/drawingml/2006/main" w="9525">
            <a:solidFill>
              <a:srgbClr val="B8BCC4"/>
            </a:solidFill>
            <a:prstDash val="solid"/>
          </a:ln>
        </p:spPr>
      </p:sp>
      <p:sp>
        <p:nvSpPr>
          <p:cNvPr id="31" name="">
            <a:extLst xmlns:a="http://schemas.openxmlformats.org/drawingml/2006/main">
              <a:ext uri="{FF2B5EF4-FFF2-40B4-BE49-F238E27FC236}">
                <a16:creationId xmlns:a16="http://schemas.microsoft.com/office/drawing/2014/main" id="{41BA8163-A8A5-492D-9E78-BCEDF6358DAA}"/>
              </a:ext>
            </a:extLst>
          </p:cNvPr>
          <p:cNvSpPr>
            <a:spLocks xmlns:a="http://schemas.openxmlformats.org/drawingml/2006/main" noGrp="1"/>
          </p:cNvSpPr>
          <p:nvPr/>
        </p:nvSpPr>
        <p:spPr>
          <a:xfrm xmlns:a="http://schemas.openxmlformats.org/drawingml/2006/main">
            <a:off x="4267200" y="1790700"/>
            <a:ext cx="3276600" cy="95250"/>
          </a:xfrm>
          <a:prstGeom xmlns:a="http://schemas.openxmlformats.org/drawingml/2006/main" prst="rect">
            <a:avLst/>
          </a:prstGeom>
          <a:solidFill xmlns:a="http://schemas.openxmlformats.org/drawingml/2006/main">
            <a:srgbClr val="6DCBF4"/>
          </a:solidFill>
          <a:ln xmlns:a="http://schemas.openxmlformats.org/drawingml/2006/main" w="0">
            <a:solidFill>
              <a:srgbClr val="6DCBF4"/>
            </a:solidFill>
            <a:prstDash val="solid"/>
          </a:ln>
        </p:spPr>
      </p:sp>
      <p:sp>
        <p:nvSpPr>
          <p:cNvPr id="32" name="">
            <a:extLst xmlns:a="http://schemas.openxmlformats.org/drawingml/2006/main">
              <a:ext uri="{FF2B5EF4-FFF2-40B4-BE49-F238E27FC236}">
                <a16:creationId xmlns:a16="http://schemas.microsoft.com/office/drawing/2014/main" id="{E6DA73B3-051D-4B2C-9574-B654A4219099}"/>
              </a:ext>
            </a:extLst>
          </p:cNvPr>
          <p:cNvSpPr>
            <a:spLocks xmlns:a="http://schemas.openxmlformats.org/drawingml/2006/main" noGrp="1"/>
          </p:cNvSpPr>
          <p:nvPr/>
        </p:nvSpPr>
        <p:spPr>
          <a:xfrm xmlns:a="http://schemas.openxmlformats.org/drawingml/2006/main">
            <a:off x="4495800" y="21526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IOC REGISTER</a:t>
            </a:r>
          </a:p>
        </p:txBody>
      </p:sp>
      <p:sp>
        <p:nvSpPr>
          <p:cNvPr id="33" name="">
            <a:extLst xmlns:a="http://schemas.openxmlformats.org/drawingml/2006/main">
              <a:ext uri="{FF2B5EF4-FFF2-40B4-BE49-F238E27FC236}">
                <a16:creationId xmlns:a16="http://schemas.microsoft.com/office/drawing/2014/main" id="{9BE3BCAC-FA1A-4A1D-ABD5-F7CD9CCCC062}"/>
              </a:ext>
            </a:extLst>
          </p:cNvPr>
          <p:cNvSpPr>
            <a:spLocks xmlns:a="http://schemas.openxmlformats.org/drawingml/2006/main" noGrp="1"/>
          </p:cNvSpPr>
          <p:nvPr/>
        </p:nvSpPr>
        <p:spPr>
          <a:xfrm xmlns:a="http://schemas.openxmlformats.org/drawingml/2006/main">
            <a:off x="4533900" y="2781300"/>
            <a:ext cx="2743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0B0E14"/>
                </a:solidFill>
                <a:latin typeface="Helvetica Neue"/>
                <a:ea typeface="Helvetica Neue"/>
                <a:cs typeface="Helvetica Neue"/>
              </a:defRPr>
            </a:pPr>
            <a:r>
              <a:rPr sz="1725" b="1">
                <a:solidFill>
                  <a:srgbClr val="0B0E14"/>
                </a:solidFill>
                <a:latin typeface="Helvetica Neue"/>
                <a:ea typeface="Helvetica Neue"/>
                <a:cs typeface="Helvetica Neue"/>
              </a:rPr>
              <a:t>1,716 reviewed candidates</a:t>
            </a:r>
          </a:p>
        </p:txBody>
      </p:sp>
      <p:sp>
        <p:nvSpPr>
          <p:cNvPr id="34" name="">
            <a:extLst xmlns:a="http://schemas.openxmlformats.org/drawingml/2006/main">
              <a:ext uri="{FF2B5EF4-FFF2-40B4-BE49-F238E27FC236}">
                <a16:creationId xmlns:a16="http://schemas.microsoft.com/office/drawing/2014/main" id="{FBEFA113-9FBA-44B4-9D3F-F1C72012D869}"/>
              </a:ext>
            </a:extLst>
          </p:cNvPr>
          <p:cNvSpPr>
            <a:spLocks xmlns:a="http://schemas.openxmlformats.org/drawingml/2006/main" noGrp="1"/>
          </p:cNvSpPr>
          <p:nvPr/>
        </p:nvSpPr>
        <p:spPr>
          <a:xfrm xmlns:a="http://schemas.openxmlformats.org/drawingml/2006/main">
            <a:off x="4533900" y="3771900"/>
            <a:ext cx="2743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1,716 STIX 2.1 indicators generated</a:t>
            </a:r>
          </a:p>
        </p:txBody>
      </p:sp>
      <p:sp>
        <p:nvSpPr>
          <p:cNvPr id="35" name="">
            <a:extLst xmlns:a="http://schemas.openxmlformats.org/drawingml/2006/main">
              <a:ext uri="{FF2B5EF4-FFF2-40B4-BE49-F238E27FC236}">
                <a16:creationId xmlns:a16="http://schemas.microsoft.com/office/drawing/2014/main" id="{668D56EB-C25B-44C7-9837-D836BF7E65E7}"/>
              </a:ext>
            </a:extLst>
          </p:cNvPr>
          <p:cNvSpPr>
            <a:spLocks xmlns:a="http://schemas.openxmlformats.org/drawingml/2006/main" noGrp="1"/>
          </p:cNvSpPr>
          <p:nvPr/>
        </p:nvSpPr>
        <p:spPr>
          <a:xfrm xmlns:a="http://schemas.openxmlformats.org/drawingml/2006/main">
            <a:off x="8077200" y="1790700"/>
            <a:ext cx="3276600" cy="3009900"/>
          </a:xfrm>
          <a:prstGeom xmlns:a="http://schemas.openxmlformats.org/drawingml/2006/main" prst="roundRect">
            <a:avLst>
              <a:gd name="adj" fmla="val 6329"/>
            </a:avLst>
          </a:prstGeom>
          <a:solidFill xmlns:a="http://schemas.openxmlformats.org/drawingml/2006/main">
            <a:srgbClr val="FFFFFF"/>
          </a:solidFill>
          <a:ln xmlns:a="http://schemas.openxmlformats.org/drawingml/2006/main" w="9525">
            <a:solidFill>
              <a:srgbClr val="B8BCC4"/>
            </a:solidFill>
            <a:prstDash val="solid"/>
          </a:ln>
        </p:spPr>
      </p:sp>
      <p:sp>
        <p:nvSpPr>
          <p:cNvPr id="36" name="">
            <a:extLst xmlns:a="http://schemas.openxmlformats.org/drawingml/2006/main">
              <a:ext uri="{FF2B5EF4-FFF2-40B4-BE49-F238E27FC236}">
                <a16:creationId xmlns:a16="http://schemas.microsoft.com/office/drawing/2014/main" id="{5DC6DF5E-CF88-4189-B153-C737A44EC59D}"/>
              </a:ext>
            </a:extLst>
          </p:cNvPr>
          <p:cNvSpPr>
            <a:spLocks xmlns:a="http://schemas.openxmlformats.org/drawingml/2006/main" noGrp="1"/>
          </p:cNvSpPr>
          <p:nvPr/>
        </p:nvSpPr>
        <p:spPr>
          <a:xfrm xmlns:a="http://schemas.openxmlformats.org/drawingml/2006/main">
            <a:off x="8077200" y="1790700"/>
            <a:ext cx="3276600" cy="95250"/>
          </a:xfrm>
          <a:prstGeom xmlns:a="http://schemas.openxmlformats.org/drawingml/2006/main" prst="rect">
            <a:avLst/>
          </a:prstGeom>
          <a:solidFill xmlns:a="http://schemas.openxmlformats.org/drawingml/2006/main">
            <a:srgbClr val="167C5A"/>
          </a:solidFill>
          <a:ln xmlns:a="http://schemas.openxmlformats.org/drawingml/2006/main" w="0">
            <a:solidFill>
              <a:srgbClr val="167C5A"/>
            </a:solidFill>
            <a:prstDash val="solid"/>
          </a:ln>
        </p:spPr>
      </p:sp>
      <p:sp>
        <p:nvSpPr>
          <p:cNvPr id="37" name="">
            <a:extLst xmlns:a="http://schemas.openxmlformats.org/drawingml/2006/main">
              <a:ext uri="{FF2B5EF4-FFF2-40B4-BE49-F238E27FC236}">
                <a16:creationId xmlns:a16="http://schemas.microsoft.com/office/drawing/2014/main" id="{E0F131DC-7464-4298-BEF2-EF05D07F14F8}"/>
              </a:ext>
            </a:extLst>
          </p:cNvPr>
          <p:cNvSpPr>
            <a:spLocks xmlns:a="http://schemas.openxmlformats.org/drawingml/2006/main" noGrp="1"/>
          </p:cNvSpPr>
          <p:nvPr/>
        </p:nvSpPr>
        <p:spPr>
          <a:xfrm xmlns:a="http://schemas.openxmlformats.org/drawingml/2006/main">
            <a:off x="8305800" y="2152650"/>
            <a:ext cx="281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67C5A"/>
                </a:solidFill>
                <a:latin typeface="Helvetica Neue"/>
                <a:ea typeface="Helvetica Neue"/>
                <a:cs typeface="Helvetica Neue"/>
              </a:defRPr>
            </a:pPr>
            <a:r>
              <a:rPr sz="1350" b="1">
                <a:solidFill>
                  <a:srgbClr val="167C5A"/>
                </a:solidFill>
                <a:latin typeface="Helvetica Neue"/>
                <a:ea typeface="Helvetica Neue"/>
                <a:cs typeface="Helvetica Neue"/>
              </a:rPr>
              <a:t>BACKUP RECOVERY</a:t>
            </a:r>
          </a:p>
        </p:txBody>
      </p:sp>
      <p:sp>
        <p:nvSpPr>
          <p:cNvPr id="38" name="">
            <a:extLst xmlns:a="http://schemas.openxmlformats.org/drawingml/2006/main">
              <a:ext uri="{FF2B5EF4-FFF2-40B4-BE49-F238E27FC236}">
                <a16:creationId xmlns:a16="http://schemas.microsoft.com/office/drawing/2014/main" id="{54CA2318-00C2-4D85-BE90-3010782AECDD}"/>
              </a:ext>
            </a:extLst>
          </p:cNvPr>
          <p:cNvSpPr>
            <a:spLocks xmlns:a="http://schemas.openxmlformats.org/drawingml/2006/main" noGrp="1"/>
          </p:cNvSpPr>
          <p:nvPr/>
        </p:nvSpPr>
        <p:spPr>
          <a:xfrm xmlns:a="http://schemas.openxmlformats.org/drawingml/2006/main">
            <a:off x="8343900" y="2781300"/>
            <a:ext cx="27432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725" b="1">
                <a:solidFill>
                  <a:srgbClr val="0B0E14"/>
                </a:solidFill>
                <a:latin typeface="Helvetica Neue"/>
                <a:ea typeface="Helvetica Neue"/>
                <a:cs typeface="Helvetica Neue"/>
              </a:defRPr>
            </a:pPr>
            <a:r>
              <a:rPr sz="1725" b="1">
                <a:solidFill>
                  <a:srgbClr val="0B0E14"/>
                </a:solidFill>
                <a:latin typeface="Helvetica Neue"/>
                <a:ea typeface="Helvetica Neue"/>
                <a:cs typeface="Helvetica Neue"/>
              </a:rPr>
              <a:t>Clean and corrupted copies hashed</a:t>
            </a:r>
          </a:p>
        </p:txBody>
      </p:sp>
      <p:sp>
        <p:nvSpPr>
          <p:cNvPr id="39" name="">
            <a:extLst xmlns:a="http://schemas.openxmlformats.org/drawingml/2006/main">
              <a:ext uri="{FF2B5EF4-FFF2-40B4-BE49-F238E27FC236}">
                <a16:creationId xmlns:a16="http://schemas.microsoft.com/office/drawing/2014/main" id="{E6AC7C4A-864A-4B4B-BEF7-4D393488C221}"/>
              </a:ext>
            </a:extLst>
          </p:cNvPr>
          <p:cNvSpPr>
            <a:spLocks xmlns:a="http://schemas.openxmlformats.org/drawingml/2006/main" noGrp="1"/>
          </p:cNvSpPr>
          <p:nvPr/>
        </p:nvSpPr>
        <p:spPr>
          <a:xfrm xmlns:a="http://schemas.openxmlformats.org/drawingml/2006/main">
            <a:off x="8343900" y="3771900"/>
            <a:ext cx="2743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275">
                <a:solidFill>
                  <a:srgbClr val="5C6675"/>
                </a:solidFill>
                <a:latin typeface="Helvetica Neue"/>
                <a:ea typeface="Helvetica Neue"/>
                <a:cs typeface="Helvetica Neue"/>
              </a:defRPr>
            </a:pPr>
            <a:r>
              <a:rPr sz="1275">
                <a:solidFill>
                  <a:srgbClr val="5C6675"/>
                </a:solidFill>
                <a:latin typeface="Helvetica Neue"/>
                <a:ea typeface="Helvetica Neue"/>
                <a:cs typeface="Helvetica Neue"/>
              </a:rPr>
              <a:t>Tamper detected; isolated restore validated</a:t>
            </a:r>
          </a:p>
        </p:txBody>
      </p:sp>
      <p:sp>
        <p:nvSpPr>
          <p:cNvPr id="40" name="">
            <a:extLst xmlns:a="http://schemas.openxmlformats.org/drawingml/2006/main">
              <a:ext uri="{FF2B5EF4-FFF2-40B4-BE49-F238E27FC236}">
                <a16:creationId xmlns:a16="http://schemas.microsoft.com/office/drawing/2014/main" id="{918CC843-37C6-4525-9E98-46ED8C784A56}"/>
              </a:ext>
            </a:extLst>
          </p:cNvPr>
          <p:cNvSpPr>
            <a:spLocks xmlns:a="http://schemas.openxmlformats.org/drawingml/2006/main" noGrp="1"/>
          </p:cNvSpPr>
          <p:nvPr/>
        </p:nvSpPr>
        <p:spPr>
          <a:xfrm xmlns:a="http://schemas.openxmlformats.org/drawingml/2006/main">
            <a:off x="3829050" y="5219700"/>
            <a:ext cx="4533900" cy="514350"/>
          </a:xfrm>
          <a:prstGeom xmlns:a="http://schemas.openxmlformats.org/drawingml/2006/main" prst="roundRect">
            <a:avLst>
              <a:gd name="adj" fmla="val 29630"/>
            </a:avLst>
          </a:prstGeom>
          <a:solidFill xmlns:a="http://schemas.openxmlformats.org/drawingml/2006/main">
            <a:srgbClr val="DDF5EB"/>
          </a:solidFill>
          <a:ln xmlns:a="http://schemas.openxmlformats.org/drawingml/2006/main" w="9525">
            <a:solidFill>
              <a:srgbClr val="DDF5EB"/>
            </a:solidFill>
            <a:prstDash val="solid"/>
          </a:ln>
        </p:spPr>
      </p:sp>
      <p:sp>
        <p:nvSpPr>
          <p:cNvPr id="41" name="">
            <a:extLst xmlns:a="http://schemas.openxmlformats.org/drawingml/2006/main">
              <a:ext uri="{FF2B5EF4-FFF2-40B4-BE49-F238E27FC236}">
                <a16:creationId xmlns:a16="http://schemas.microsoft.com/office/drawing/2014/main" id="{72314591-FD9B-420A-A45B-6ACC80B61244}"/>
              </a:ext>
            </a:extLst>
          </p:cNvPr>
          <p:cNvSpPr>
            <a:spLocks xmlns:a="http://schemas.openxmlformats.org/drawingml/2006/main" noGrp="1"/>
          </p:cNvSpPr>
          <p:nvPr/>
        </p:nvSpPr>
        <p:spPr>
          <a:xfrm xmlns:a="http://schemas.openxmlformats.org/drawingml/2006/main">
            <a:off x="3829050" y="5219700"/>
            <a:ext cx="453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SAFE CASE RESULT: PASS</a:t>
            </a:r>
          </a:p>
        </p:txBody>
      </p:sp>
      <p:sp>
        <p:nvSpPr>
          <p:cNvPr id="42" name="">
            <a:extLst xmlns:a="http://schemas.openxmlformats.org/drawingml/2006/main">
              <a:ext uri="{FF2B5EF4-FFF2-40B4-BE49-F238E27FC236}">
                <a16:creationId xmlns:a16="http://schemas.microsoft.com/office/drawing/2014/main" id="{75CA6027-B57B-4570-A357-74B6FE115C61}"/>
              </a:ext>
            </a:extLst>
          </p:cNvPr>
          <p:cNvSpPr>
            <a:spLocks xmlns:a="http://schemas.openxmlformats.org/drawingml/2006/main" noGrp="1"/>
          </p:cNvSpPr>
          <p:nvPr/>
        </p:nvSpPr>
        <p:spPr>
          <a:xfrm xmlns:a="http://schemas.openxmlformats.org/drawingml/2006/main">
            <a:off x="2400300" y="5943600"/>
            <a:ext cx="7391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a:solidFill>
                  <a:srgbClr val="183B66"/>
                </a:solidFill>
                <a:latin typeface="Helvetica Neue"/>
                <a:ea typeface="Helvetica Neue"/>
                <a:cs typeface="Helvetica Neue"/>
              </a:defRPr>
            </a:pPr>
            <a:r>
              <a:rPr sz="1350">
                <a:solidFill>
                  <a:srgbClr val="183B66"/>
                </a:solidFill>
                <a:latin typeface="Helvetica Neue"/>
                <a:ea typeface="Helvetica Neue"/>
                <a:cs typeface="Helvetica Neue"/>
              </a:rPr>
              <a:t>Recovery was accepted only after integrity, content, and token checks succeeded.</a:t>
            </a:r>
          </a:p>
        </p:txBody>
      </p:sp>
    </p:spTree>
    <p:extLst>
      <p:ext uri="{BB962C8B-B14F-4D97-AF65-F5344CB8AC3E}">
        <p14:creationId xmlns:p14="http://schemas.microsoft.com/office/powerpoint/2010/main" val="10845750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1B2F427-4AE4-4E7C-8DD4-3097781D919C}"/>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 name="">
            <a:extLst xmlns:a="http://schemas.openxmlformats.org/drawingml/2006/main">
              <a:ext uri="{FF2B5EF4-FFF2-40B4-BE49-F238E27FC236}">
                <a16:creationId xmlns:a16="http://schemas.microsoft.com/office/drawing/2014/main" id="{23F0FB96-062E-4B8C-AA42-5B9FD4EC8464}"/>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Troubleshooting: failure, correction, and verification</a:t>
            </a:r>
          </a:p>
        </p:txBody>
      </p:sp>
      <p:sp>
        <p:nvSpPr>
          <p:cNvPr id="3" name="">
            <a:extLst xmlns:a="http://schemas.openxmlformats.org/drawingml/2006/main">
              <a:ext uri="{FF2B5EF4-FFF2-40B4-BE49-F238E27FC236}">
                <a16:creationId xmlns:a16="http://schemas.microsoft.com/office/drawing/2014/main" id="{D67B00B4-8CCA-4DD1-80FD-231702A2D656}"/>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19F057B0-6F49-4214-9C3D-0B3ADE800365}"/>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5" name="">
            <a:extLst xmlns:a="http://schemas.openxmlformats.org/drawingml/2006/main">
              <a:ext uri="{FF2B5EF4-FFF2-40B4-BE49-F238E27FC236}">
                <a16:creationId xmlns:a16="http://schemas.microsoft.com/office/drawing/2014/main" id="{3404A7DA-63EE-4142-9AE9-C80FA4D1DE70}"/>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Ayham Al-Swaiti · 12116003</a:t>
            </a:r>
          </a:p>
        </p:txBody>
      </p:sp>
      <p:sp>
        <p:nvSpPr>
          <p:cNvPr id="6" name="">
            <a:extLst xmlns:a="http://schemas.openxmlformats.org/drawingml/2006/main">
              <a:ext uri="{FF2B5EF4-FFF2-40B4-BE49-F238E27FC236}">
                <a16:creationId xmlns:a16="http://schemas.microsoft.com/office/drawing/2014/main" id="{F781DE3B-906D-4B9E-9AC4-1835FD06C0B6}"/>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C04EFB6A-A033-47F4-BA9D-E619159C3B2F}"/>
              </a:ext>
            </a:extLst>
          </p:cNvPr>
          <p:cNvSpPr>
            <a:spLocks xmlns:a="http://schemas.openxmlformats.org/drawingml/2006/main" noGrp="1"/>
          </p:cNvSpPr>
          <p:nvPr/>
        </p:nvSpPr>
        <p:spPr>
          <a:xfrm xmlns:a="http://schemas.openxmlformats.org/drawingml/2006/main">
            <a:off x="457200" y="1657350"/>
            <a:ext cx="5219700" cy="1181100"/>
          </a:xfrm>
          <a:prstGeom xmlns:a="http://schemas.openxmlformats.org/drawingml/2006/main" prst="roundRect">
            <a:avLst>
              <a:gd name="adj" fmla="val 12903"/>
            </a:avLst>
          </a:prstGeom>
          <a:solidFill xmlns:a="http://schemas.openxmlformats.org/drawingml/2006/main">
            <a:srgbClr val="F4F6F8"/>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BFB7597B-108C-4D72-97A9-ED7869C09932}"/>
              </a:ext>
            </a:extLst>
          </p:cNvPr>
          <p:cNvSpPr>
            <a:spLocks xmlns:a="http://schemas.openxmlformats.org/drawingml/2006/main" noGrp="1"/>
          </p:cNvSpPr>
          <p:nvPr/>
        </p:nvSpPr>
        <p:spPr>
          <a:xfrm xmlns:a="http://schemas.openxmlformats.org/drawingml/2006/main">
            <a:off x="628650" y="18288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9" name="">
            <a:extLst xmlns:a="http://schemas.openxmlformats.org/drawingml/2006/main">
              <a:ext uri="{FF2B5EF4-FFF2-40B4-BE49-F238E27FC236}">
                <a16:creationId xmlns:a16="http://schemas.microsoft.com/office/drawing/2014/main" id="{04FA43ED-9ABB-448A-BFB6-85808D4A8F3F}"/>
              </a:ext>
            </a:extLst>
          </p:cNvPr>
          <p:cNvSpPr>
            <a:spLocks xmlns:a="http://schemas.openxmlformats.org/drawingml/2006/main" noGrp="1"/>
          </p:cNvSpPr>
          <p:nvPr/>
        </p:nvSpPr>
        <p:spPr>
          <a:xfrm xmlns:a="http://schemas.openxmlformats.org/drawingml/2006/main">
            <a:off x="6286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01</a:t>
            </a:r>
          </a:p>
        </p:txBody>
      </p:sp>
      <p:sp>
        <p:nvSpPr>
          <p:cNvPr id="10" name="">
            <a:extLst xmlns:a="http://schemas.openxmlformats.org/drawingml/2006/main">
              <a:ext uri="{FF2B5EF4-FFF2-40B4-BE49-F238E27FC236}">
                <a16:creationId xmlns:a16="http://schemas.microsoft.com/office/drawing/2014/main" id="{8F935F4D-D1E9-4A0E-A2B9-4296B1B6BB7D}"/>
              </a:ext>
            </a:extLst>
          </p:cNvPr>
          <p:cNvSpPr>
            <a:spLocks xmlns:a="http://schemas.openxmlformats.org/drawingml/2006/main" noGrp="1"/>
          </p:cNvSpPr>
          <p:nvPr/>
        </p:nvSpPr>
        <p:spPr>
          <a:xfrm xmlns:a="http://schemas.openxmlformats.org/drawingml/2006/main">
            <a:off x="1333500" y="18192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Root storage pressure</a:t>
            </a:r>
          </a:p>
        </p:txBody>
      </p:sp>
      <p:sp>
        <p:nvSpPr>
          <p:cNvPr id="11" name="">
            <a:extLst xmlns:a="http://schemas.openxmlformats.org/drawingml/2006/main">
              <a:ext uri="{FF2B5EF4-FFF2-40B4-BE49-F238E27FC236}">
                <a16:creationId xmlns:a16="http://schemas.microsoft.com/office/drawing/2014/main" id="{9D807F42-2636-4C7A-ABBC-AD8FF154957F}"/>
              </a:ext>
            </a:extLst>
          </p:cNvPr>
          <p:cNvSpPr>
            <a:spLocks xmlns:a="http://schemas.openxmlformats.org/drawingml/2006/main" noGrp="1"/>
          </p:cNvSpPr>
          <p:nvPr/>
        </p:nvSpPr>
        <p:spPr>
          <a:xfrm xmlns:a="http://schemas.openxmlformats.org/drawingml/2006/main">
            <a:off x="1333500" y="21717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Moved large evidence to the dedicated partition; removed only disposable container layers.</a:t>
            </a:r>
          </a:p>
        </p:txBody>
      </p:sp>
      <p:sp>
        <p:nvSpPr>
          <p:cNvPr id="12" name="">
            <a:extLst xmlns:a="http://schemas.openxmlformats.org/drawingml/2006/main">
              <a:ext uri="{FF2B5EF4-FFF2-40B4-BE49-F238E27FC236}">
                <a16:creationId xmlns:a16="http://schemas.microsoft.com/office/drawing/2014/main" id="{EAB449DD-61F6-458D-866F-01C0AA8D1B1E}"/>
              </a:ext>
            </a:extLst>
          </p:cNvPr>
          <p:cNvSpPr>
            <a:spLocks xmlns:a="http://schemas.openxmlformats.org/drawingml/2006/main" noGrp="1"/>
          </p:cNvSpPr>
          <p:nvPr/>
        </p:nvSpPr>
        <p:spPr>
          <a:xfrm xmlns:a="http://schemas.openxmlformats.org/drawingml/2006/main">
            <a:off x="6134100" y="1657350"/>
            <a:ext cx="5219700" cy="1181100"/>
          </a:xfrm>
          <a:prstGeom xmlns:a="http://schemas.openxmlformats.org/drawingml/2006/main" prst="roundRect">
            <a:avLst>
              <a:gd name="adj" fmla="val 12903"/>
            </a:avLst>
          </a:prstGeom>
          <a:solidFill xmlns:a="http://schemas.openxmlformats.org/drawingml/2006/main">
            <a:srgbClr val="F4F6F8"/>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7C5B3C8-288C-4A5C-9FD3-E1E0B4A25AF8}"/>
              </a:ext>
            </a:extLst>
          </p:cNvPr>
          <p:cNvSpPr>
            <a:spLocks xmlns:a="http://schemas.openxmlformats.org/drawingml/2006/main" noGrp="1"/>
          </p:cNvSpPr>
          <p:nvPr/>
        </p:nvSpPr>
        <p:spPr>
          <a:xfrm xmlns:a="http://schemas.openxmlformats.org/drawingml/2006/main">
            <a:off x="6305550" y="18288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14" name="">
            <a:extLst xmlns:a="http://schemas.openxmlformats.org/drawingml/2006/main">
              <a:ext uri="{FF2B5EF4-FFF2-40B4-BE49-F238E27FC236}">
                <a16:creationId xmlns:a16="http://schemas.microsoft.com/office/drawing/2014/main" id="{4EFA49E6-6EDB-448B-A62D-67B047EADF3B}"/>
              </a:ext>
            </a:extLst>
          </p:cNvPr>
          <p:cNvSpPr>
            <a:spLocks xmlns:a="http://schemas.openxmlformats.org/drawingml/2006/main" noGrp="1"/>
          </p:cNvSpPr>
          <p:nvPr/>
        </p:nvSpPr>
        <p:spPr>
          <a:xfrm xmlns:a="http://schemas.openxmlformats.org/drawingml/2006/main">
            <a:off x="6305550" y="18288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A01C3536-C9CF-4039-9851-3F06C75187E6}"/>
              </a:ext>
            </a:extLst>
          </p:cNvPr>
          <p:cNvSpPr>
            <a:spLocks xmlns:a="http://schemas.openxmlformats.org/drawingml/2006/main" noGrp="1"/>
          </p:cNvSpPr>
          <p:nvPr/>
        </p:nvSpPr>
        <p:spPr>
          <a:xfrm xmlns:a="http://schemas.openxmlformats.org/drawingml/2006/main">
            <a:off x="7010400" y="18192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CSV field-size limit</a:t>
            </a:r>
          </a:p>
        </p:txBody>
      </p:sp>
      <p:sp>
        <p:nvSpPr>
          <p:cNvPr id="16" name="">
            <a:extLst xmlns:a="http://schemas.openxmlformats.org/drawingml/2006/main">
              <a:ext uri="{FF2B5EF4-FFF2-40B4-BE49-F238E27FC236}">
                <a16:creationId xmlns:a16="http://schemas.microsoft.com/office/drawing/2014/main" id="{60FFA89E-361E-4711-A639-29684A5A14B2}"/>
              </a:ext>
            </a:extLst>
          </p:cNvPr>
          <p:cNvSpPr>
            <a:spLocks xmlns:a="http://schemas.openxmlformats.org/drawingml/2006/main" noGrp="1"/>
          </p:cNvSpPr>
          <p:nvPr/>
        </p:nvSpPr>
        <p:spPr>
          <a:xfrm xmlns:a="http://schemas.openxmlformats.org/drawingml/2006/main">
            <a:off x="7010400" y="21717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Raised the Python parser limit before building STIX and Timesketch inputs.</a:t>
            </a:r>
          </a:p>
        </p:txBody>
      </p:sp>
      <p:sp>
        <p:nvSpPr>
          <p:cNvPr id="17" name="">
            <a:extLst xmlns:a="http://schemas.openxmlformats.org/drawingml/2006/main">
              <a:ext uri="{FF2B5EF4-FFF2-40B4-BE49-F238E27FC236}">
                <a16:creationId xmlns:a16="http://schemas.microsoft.com/office/drawing/2014/main" id="{17579364-086E-460C-9A28-581334EB7FA4}"/>
              </a:ext>
            </a:extLst>
          </p:cNvPr>
          <p:cNvSpPr>
            <a:spLocks xmlns:a="http://schemas.openxmlformats.org/drawingml/2006/main" noGrp="1"/>
          </p:cNvSpPr>
          <p:nvPr/>
        </p:nvSpPr>
        <p:spPr>
          <a:xfrm xmlns:a="http://schemas.openxmlformats.org/drawingml/2006/main">
            <a:off x="457200" y="3105150"/>
            <a:ext cx="52197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1FE6E4C4-E038-46A5-B050-45F89502BD9A}"/>
              </a:ext>
            </a:extLst>
          </p:cNvPr>
          <p:cNvSpPr>
            <a:spLocks xmlns:a="http://schemas.openxmlformats.org/drawingml/2006/main" noGrp="1"/>
          </p:cNvSpPr>
          <p:nvPr/>
        </p:nvSpPr>
        <p:spPr>
          <a:xfrm xmlns:a="http://schemas.openxmlformats.org/drawingml/2006/main">
            <a:off x="628650" y="32766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19" name="">
            <a:extLst xmlns:a="http://schemas.openxmlformats.org/drawingml/2006/main">
              <a:ext uri="{FF2B5EF4-FFF2-40B4-BE49-F238E27FC236}">
                <a16:creationId xmlns:a16="http://schemas.microsoft.com/office/drawing/2014/main" id="{E58EFC9A-395A-49DF-975B-230A0A403BBC}"/>
              </a:ext>
            </a:extLst>
          </p:cNvPr>
          <p:cNvSpPr>
            <a:spLocks xmlns:a="http://schemas.openxmlformats.org/drawingml/2006/main" noGrp="1"/>
          </p:cNvSpPr>
          <p:nvPr/>
        </p:nvSpPr>
        <p:spPr>
          <a:xfrm xmlns:a="http://schemas.openxmlformats.org/drawingml/2006/main">
            <a:off x="628650" y="32766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03</a:t>
            </a:r>
          </a:p>
        </p:txBody>
      </p:sp>
      <p:sp>
        <p:nvSpPr>
          <p:cNvPr id="20" name="">
            <a:extLst xmlns:a="http://schemas.openxmlformats.org/drawingml/2006/main">
              <a:ext uri="{FF2B5EF4-FFF2-40B4-BE49-F238E27FC236}">
                <a16:creationId xmlns:a16="http://schemas.microsoft.com/office/drawing/2014/main" id="{65129E06-61FF-4DE5-9FD2-544209E1D512}"/>
              </a:ext>
            </a:extLst>
          </p:cNvPr>
          <p:cNvSpPr>
            <a:spLocks xmlns:a="http://schemas.openxmlformats.org/drawingml/2006/main" noGrp="1"/>
          </p:cNvSpPr>
          <p:nvPr/>
        </p:nvSpPr>
        <p:spPr>
          <a:xfrm xmlns:a="http://schemas.openxmlformats.org/drawingml/2006/main">
            <a:off x="1333500" y="32670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Splunk health checks</a:t>
            </a:r>
          </a:p>
        </p:txBody>
      </p:sp>
      <p:sp>
        <p:nvSpPr>
          <p:cNvPr id="21" name="">
            <a:extLst xmlns:a="http://schemas.openxmlformats.org/drawingml/2006/main">
              <a:ext uri="{FF2B5EF4-FFF2-40B4-BE49-F238E27FC236}">
                <a16:creationId xmlns:a16="http://schemas.microsoft.com/office/drawing/2014/main" id="{B4563EB6-FA2A-48E8-949F-2D34FF1F8C13}"/>
              </a:ext>
            </a:extLst>
          </p:cNvPr>
          <p:cNvSpPr>
            <a:spLocks xmlns:a="http://schemas.openxmlformats.org/drawingml/2006/main" noGrp="1"/>
          </p:cNvSpPr>
          <p:nvPr/>
        </p:nvSpPr>
        <p:spPr>
          <a:xfrm xmlns:a="http://schemas.openxmlformats.org/drawingml/2006/main">
            <a:off x="1333500" y="36195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Distinguished process health from the expected HTTP 303 redirect.</a:t>
            </a:r>
          </a:p>
        </p:txBody>
      </p:sp>
      <p:sp>
        <p:nvSpPr>
          <p:cNvPr id="22" name="">
            <a:extLst xmlns:a="http://schemas.openxmlformats.org/drawingml/2006/main">
              <a:ext uri="{FF2B5EF4-FFF2-40B4-BE49-F238E27FC236}">
                <a16:creationId xmlns:a16="http://schemas.microsoft.com/office/drawing/2014/main" id="{5E001CC4-3D88-4145-A7D2-686149E5DA30}"/>
              </a:ext>
            </a:extLst>
          </p:cNvPr>
          <p:cNvSpPr>
            <a:spLocks xmlns:a="http://schemas.openxmlformats.org/drawingml/2006/main" noGrp="1"/>
          </p:cNvSpPr>
          <p:nvPr/>
        </p:nvSpPr>
        <p:spPr>
          <a:xfrm xmlns:a="http://schemas.openxmlformats.org/drawingml/2006/main">
            <a:off x="6134100" y="3105150"/>
            <a:ext cx="5219700" cy="1181100"/>
          </a:xfrm>
          <a:prstGeom xmlns:a="http://schemas.openxmlformats.org/drawingml/2006/main" prst="roundRect">
            <a:avLst>
              <a:gd name="adj" fmla="val 12903"/>
            </a:avLst>
          </a:prstGeom>
          <a:solidFill xmlns:a="http://schemas.openxmlformats.org/drawingml/2006/main">
            <a:srgbClr val="FFFFFF"/>
          </a:solidFill>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EA8341E0-E6AB-4D89-BA2F-E68605646F48}"/>
              </a:ext>
            </a:extLst>
          </p:cNvPr>
          <p:cNvSpPr>
            <a:spLocks xmlns:a="http://schemas.openxmlformats.org/drawingml/2006/main" noGrp="1"/>
          </p:cNvSpPr>
          <p:nvPr/>
        </p:nvSpPr>
        <p:spPr>
          <a:xfrm xmlns:a="http://schemas.openxmlformats.org/drawingml/2006/main">
            <a:off x="6305550" y="32766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24" name="">
            <a:extLst xmlns:a="http://schemas.openxmlformats.org/drawingml/2006/main">
              <a:ext uri="{FF2B5EF4-FFF2-40B4-BE49-F238E27FC236}">
                <a16:creationId xmlns:a16="http://schemas.microsoft.com/office/drawing/2014/main" id="{BB60246C-4D94-4F4F-A50C-067831C9A3B9}"/>
              </a:ext>
            </a:extLst>
          </p:cNvPr>
          <p:cNvSpPr>
            <a:spLocks xmlns:a="http://schemas.openxmlformats.org/drawingml/2006/main" noGrp="1"/>
          </p:cNvSpPr>
          <p:nvPr/>
        </p:nvSpPr>
        <p:spPr>
          <a:xfrm xmlns:a="http://schemas.openxmlformats.org/drawingml/2006/main">
            <a:off x="6305550" y="32766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6224BAB1-E556-4602-9D7A-A2AD3C10C70E}"/>
              </a:ext>
            </a:extLst>
          </p:cNvPr>
          <p:cNvSpPr>
            <a:spLocks xmlns:a="http://schemas.openxmlformats.org/drawingml/2006/main" noGrp="1"/>
          </p:cNvSpPr>
          <p:nvPr/>
        </p:nvSpPr>
        <p:spPr>
          <a:xfrm xmlns:a="http://schemas.openxmlformats.org/drawingml/2006/main">
            <a:off x="7010400" y="32670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Timesketch 502</a:t>
            </a:r>
          </a:p>
        </p:txBody>
      </p:sp>
      <p:sp>
        <p:nvSpPr>
          <p:cNvPr id="26" name="">
            <a:extLst xmlns:a="http://schemas.openxmlformats.org/drawingml/2006/main">
              <a:ext uri="{FF2B5EF4-FFF2-40B4-BE49-F238E27FC236}">
                <a16:creationId xmlns:a16="http://schemas.microsoft.com/office/drawing/2014/main" id="{915BF91A-1EA5-473A-BA48-6E21A29196B6}"/>
              </a:ext>
            </a:extLst>
          </p:cNvPr>
          <p:cNvSpPr>
            <a:spLocks xmlns:a="http://schemas.openxmlformats.org/drawingml/2006/main" noGrp="1"/>
          </p:cNvSpPr>
          <p:nvPr/>
        </p:nvSpPr>
        <p:spPr>
          <a:xfrm xmlns:a="http://schemas.openxmlformats.org/drawingml/2006/main">
            <a:off x="7010400" y="36195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Confirmed Gunicorn was live, then restarted nginx and created the user.</a:t>
            </a:r>
          </a:p>
        </p:txBody>
      </p:sp>
      <p:sp>
        <p:nvSpPr>
          <p:cNvPr id="27" name="">
            <a:extLst xmlns:a="http://schemas.openxmlformats.org/drawingml/2006/main">
              <a:ext uri="{FF2B5EF4-FFF2-40B4-BE49-F238E27FC236}">
                <a16:creationId xmlns:a16="http://schemas.microsoft.com/office/drawing/2014/main" id="{AB3C5964-756C-4DE9-8977-152D07AC72F8}"/>
              </a:ext>
            </a:extLst>
          </p:cNvPr>
          <p:cNvSpPr>
            <a:spLocks xmlns:a="http://schemas.openxmlformats.org/drawingml/2006/main" noGrp="1"/>
          </p:cNvSpPr>
          <p:nvPr/>
        </p:nvSpPr>
        <p:spPr>
          <a:xfrm xmlns:a="http://schemas.openxmlformats.org/drawingml/2006/main">
            <a:off x="457200" y="4552950"/>
            <a:ext cx="5219700" cy="1181100"/>
          </a:xfrm>
          <a:prstGeom xmlns:a="http://schemas.openxmlformats.org/drawingml/2006/main" prst="roundRect">
            <a:avLst>
              <a:gd name="adj" fmla="val 12903"/>
            </a:avLst>
          </a:prstGeom>
          <a:solidFill xmlns:a="http://schemas.openxmlformats.org/drawingml/2006/main">
            <a:srgbClr val="F4F6F8"/>
          </a:solidFill>
          <a:ln xmlns:a="http://schemas.openxmlformats.org/drawingml/2006/main" w="9525">
            <a:solidFill>
              <a:srgbClr val="B8BCC4"/>
            </a:solidFill>
            <a:prstDash val="solid"/>
          </a:ln>
        </p:spPr>
      </p:sp>
      <p:sp>
        <p:nvSpPr>
          <p:cNvPr id="28" name="">
            <a:extLst xmlns:a="http://schemas.openxmlformats.org/drawingml/2006/main">
              <a:ext uri="{FF2B5EF4-FFF2-40B4-BE49-F238E27FC236}">
                <a16:creationId xmlns:a16="http://schemas.microsoft.com/office/drawing/2014/main" id="{C4CB0205-EC17-41EC-A0E4-B9423258E52A}"/>
              </a:ext>
            </a:extLst>
          </p:cNvPr>
          <p:cNvSpPr>
            <a:spLocks xmlns:a="http://schemas.openxmlformats.org/drawingml/2006/main" noGrp="1"/>
          </p:cNvSpPr>
          <p:nvPr/>
        </p:nvSpPr>
        <p:spPr>
          <a:xfrm xmlns:a="http://schemas.openxmlformats.org/drawingml/2006/main">
            <a:off x="628650" y="47244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29" name="">
            <a:extLst xmlns:a="http://schemas.openxmlformats.org/drawingml/2006/main">
              <a:ext uri="{FF2B5EF4-FFF2-40B4-BE49-F238E27FC236}">
                <a16:creationId xmlns:a16="http://schemas.microsoft.com/office/drawing/2014/main" id="{0EECDAD6-C832-40A1-AA9F-CDD7CDC005A9}"/>
              </a:ext>
            </a:extLst>
          </p:cNvPr>
          <p:cNvSpPr>
            <a:spLocks xmlns:a="http://schemas.openxmlformats.org/drawingml/2006/main" noGrp="1"/>
          </p:cNvSpPr>
          <p:nvPr/>
        </p:nvSpPr>
        <p:spPr>
          <a:xfrm xmlns:a="http://schemas.openxmlformats.org/drawingml/2006/main">
            <a:off x="628650" y="47244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05</a:t>
            </a:r>
          </a:p>
        </p:txBody>
      </p:sp>
      <p:sp>
        <p:nvSpPr>
          <p:cNvPr id="30" name="">
            <a:extLst xmlns:a="http://schemas.openxmlformats.org/drawingml/2006/main">
              <a:ext uri="{FF2B5EF4-FFF2-40B4-BE49-F238E27FC236}">
                <a16:creationId xmlns:a16="http://schemas.microsoft.com/office/drawing/2014/main" id="{38B95654-3278-4054-9967-32B14BCAD64F}"/>
              </a:ext>
            </a:extLst>
          </p:cNvPr>
          <p:cNvSpPr>
            <a:spLocks xmlns:a="http://schemas.openxmlformats.org/drawingml/2006/main" noGrp="1"/>
          </p:cNvSpPr>
          <p:nvPr/>
        </p:nvSpPr>
        <p:spPr>
          <a:xfrm xmlns:a="http://schemas.openxmlformats.org/drawingml/2006/main">
            <a:off x="1333500" y="47148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USB / NTFS dirty flag</a:t>
            </a:r>
          </a:p>
        </p:txBody>
      </p:sp>
      <p:sp>
        <p:nvSpPr>
          <p:cNvPr id="31" name="">
            <a:extLst xmlns:a="http://schemas.openxmlformats.org/drawingml/2006/main">
              <a:ext uri="{FF2B5EF4-FFF2-40B4-BE49-F238E27FC236}">
                <a16:creationId xmlns:a16="http://schemas.microsoft.com/office/drawing/2014/main" id="{3124E89F-E7C8-4FD7-BAAA-A55016B871AA}"/>
              </a:ext>
            </a:extLst>
          </p:cNvPr>
          <p:cNvSpPr>
            <a:spLocks xmlns:a="http://schemas.openxmlformats.org/drawingml/2006/main" noGrp="1"/>
          </p:cNvSpPr>
          <p:nvPr/>
        </p:nvSpPr>
        <p:spPr>
          <a:xfrm xmlns:a="http://schemas.openxmlformats.org/drawingml/2006/main">
            <a:off x="1333500" y="50673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Ran CHKDSK, used safe removal, then verified source and destination hashes.</a:t>
            </a:r>
          </a:p>
        </p:txBody>
      </p:sp>
      <p:sp>
        <p:nvSpPr>
          <p:cNvPr id="32" name="">
            <a:extLst xmlns:a="http://schemas.openxmlformats.org/drawingml/2006/main">
              <a:ext uri="{FF2B5EF4-FFF2-40B4-BE49-F238E27FC236}">
                <a16:creationId xmlns:a16="http://schemas.microsoft.com/office/drawing/2014/main" id="{A008632F-E527-491D-933E-BF46039AD990}"/>
              </a:ext>
            </a:extLst>
          </p:cNvPr>
          <p:cNvSpPr>
            <a:spLocks xmlns:a="http://schemas.openxmlformats.org/drawingml/2006/main" noGrp="1"/>
          </p:cNvSpPr>
          <p:nvPr/>
        </p:nvSpPr>
        <p:spPr>
          <a:xfrm xmlns:a="http://schemas.openxmlformats.org/drawingml/2006/main">
            <a:off x="6134100" y="4552950"/>
            <a:ext cx="5219700" cy="1181100"/>
          </a:xfrm>
          <a:prstGeom xmlns:a="http://schemas.openxmlformats.org/drawingml/2006/main" prst="roundRect">
            <a:avLst>
              <a:gd name="adj" fmla="val 12903"/>
            </a:avLst>
          </a:prstGeom>
          <a:solidFill xmlns:a="http://schemas.openxmlformats.org/drawingml/2006/main">
            <a:srgbClr val="F4F6F8"/>
          </a:solidFill>
          <a:ln xmlns:a="http://schemas.openxmlformats.org/drawingml/2006/main" w="9525">
            <a:solidFill>
              <a:srgbClr val="B8BCC4"/>
            </a:solidFill>
            <a:prstDash val="solid"/>
          </a:ln>
        </p:spPr>
      </p:sp>
      <p:sp>
        <p:nvSpPr>
          <p:cNvPr id="33" name="">
            <a:extLst xmlns:a="http://schemas.openxmlformats.org/drawingml/2006/main">
              <a:ext uri="{FF2B5EF4-FFF2-40B4-BE49-F238E27FC236}">
                <a16:creationId xmlns:a16="http://schemas.microsoft.com/office/drawing/2014/main" id="{7B5BBDBC-9F14-4677-A646-EC2EC2C95C37}"/>
              </a:ext>
            </a:extLst>
          </p:cNvPr>
          <p:cNvSpPr>
            <a:spLocks xmlns:a="http://schemas.openxmlformats.org/drawingml/2006/main" noGrp="1"/>
          </p:cNvSpPr>
          <p:nvPr/>
        </p:nvSpPr>
        <p:spPr>
          <a:xfrm xmlns:a="http://schemas.openxmlformats.org/drawingml/2006/main">
            <a:off x="6305550" y="4724400"/>
            <a:ext cx="495300" cy="361950"/>
          </a:xfrm>
          <a:prstGeom xmlns:a="http://schemas.openxmlformats.org/drawingml/2006/main" prst="roundRect">
            <a:avLst>
              <a:gd name="adj" fmla="val 42105"/>
            </a:avLst>
          </a:prstGeom>
          <a:solidFill xmlns:a="http://schemas.openxmlformats.org/drawingml/2006/main">
            <a:srgbClr val="0B0E14"/>
          </a:solidFill>
          <a:ln xmlns:a="http://schemas.openxmlformats.org/drawingml/2006/main" w="9525">
            <a:solidFill>
              <a:srgbClr val="0B0E14"/>
            </a:solidFill>
            <a:prstDash val="solid"/>
          </a:ln>
        </p:spPr>
      </p:sp>
      <p:sp>
        <p:nvSpPr>
          <p:cNvPr id="34" name="">
            <a:extLst xmlns:a="http://schemas.openxmlformats.org/drawingml/2006/main">
              <a:ext uri="{FF2B5EF4-FFF2-40B4-BE49-F238E27FC236}">
                <a16:creationId xmlns:a16="http://schemas.microsoft.com/office/drawing/2014/main" id="{851B3DCB-07DA-4DB7-A86E-CAD2051D3263}"/>
              </a:ext>
            </a:extLst>
          </p:cNvPr>
          <p:cNvSpPr>
            <a:spLocks xmlns:a="http://schemas.openxmlformats.org/drawingml/2006/main" noGrp="1"/>
          </p:cNvSpPr>
          <p:nvPr/>
        </p:nvSpPr>
        <p:spPr>
          <a:xfrm xmlns:a="http://schemas.openxmlformats.org/drawingml/2006/main">
            <a:off x="6305550" y="4724400"/>
            <a:ext cx="49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06</a:t>
            </a:r>
          </a:p>
        </p:txBody>
      </p:sp>
      <p:sp>
        <p:nvSpPr>
          <p:cNvPr id="35" name="">
            <a:extLst xmlns:a="http://schemas.openxmlformats.org/drawingml/2006/main">
              <a:ext uri="{FF2B5EF4-FFF2-40B4-BE49-F238E27FC236}">
                <a16:creationId xmlns:a16="http://schemas.microsoft.com/office/drawing/2014/main" id="{ADB6A4AA-85EC-4E57-B4F3-6DD3104CA673}"/>
              </a:ext>
            </a:extLst>
          </p:cNvPr>
          <p:cNvSpPr>
            <a:spLocks xmlns:a="http://schemas.openxmlformats.org/drawingml/2006/main" noGrp="1"/>
          </p:cNvSpPr>
          <p:nvPr/>
        </p:nvSpPr>
        <p:spPr>
          <a:xfrm xmlns:a="http://schemas.openxmlformats.org/drawingml/2006/main">
            <a:off x="7010400" y="4714875"/>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425" b="1">
                <a:solidFill>
                  <a:srgbClr val="0B0E14"/>
                </a:solidFill>
                <a:latin typeface="Helvetica Neue"/>
                <a:ea typeface="Helvetica Neue"/>
                <a:cs typeface="Helvetica Neue"/>
              </a:defRPr>
            </a:pPr>
            <a:r>
              <a:rPr sz="1425" b="1">
                <a:solidFill>
                  <a:srgbClr val="0B0E14"/>
                </a:solidFill>
                <a:latin typeface="Helvetica Neue"/>
                <a:ea typeface="Helvetica Neue"/>
                <a:cs typeface="Helvetica Neue"/>
              </a:rPr>
              <a:t>WinPmem CLI mismatch</a:t>
            </a:r>
          </a:p>
        </p:txBody>
      </p:sp>
      <p:sp>
        <p:nvSpPr>
          <p:cNvPr id="36" name="">
            <a:extLst xmlns:a="http://schemas.openxmlformats.org/drawingml/2006/main">
              <a:ext uri="{FF2B5EF4-FFF2-40B4-BE49-F238E27FC236}">
                <a16:creationId xmlns:a16="http://schemas.microsoft.com/office/drawing/2014/main" id="{655A57CE-60E9-4E42-870A-103A471D79F3}"/>
              </a:ext>
            </a:extLst>
          </p:cNvPr>
          <p:cNvSpPr>
            <a:spLocks xmlns:a="http://schemas.openxmlformats.org/drawingml/2006/main" noGrp="1"/>
          </p:cNvSpPr>
          <p:nvPr/>
        </p:nvSpPr>
        <p:spPr>
          <a:xfrm xmlns:a="http://schemas.openxmlformats.org/drawingml/2006/main">
            <a:off x="7010400" y="5067300"/>
            <a:ext cx="4000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105000"/>
              </a:lnSpc>
              <a:buNone/>
              <a:defRPr sz="1125">
                <a:solidFill>
                  <a:srgbClr val="5C6675"/>
                </a:solidFill>
                <a:latin typeface="Helvetica Neue"/>
                <a:ea typeface="Helvetica Neue"/>
                <a:cs typeface="Helvetica Neue"/>
              </a:defRPr>
            </a:pPr>
            <a:r>
              <a:rPr sz="1125">
                <a:solidFill>
                  <a:srgbClr val="5C6675"/>
                </a:solidFill>
                <a:latin typeface="Helvetica Neue"/>
                <a:ea typeface="Helvetica Neue"/>
                <a:cs typeface="Helvetica Neue"/>
              </a:rPr>
              <a:t>Updated automation to use signed Go WinPmem with the acquire subcommand.</a:t>
            </a:r>
          </a:p>
        </p:txBody>
      </p:sp>
      <p:sp>
        <p:nvSpPr>
          <p:cNvPr id="37" name="">
            <a:extLst xmlns:a="http://schemas.openxmlformats.org/drawingml/2006/main">
              <a:ext uri="{FF2B5EF4-FFF2-40B4-BE49-F238E27FC236}">
                <a16:creationId xmlns:a16="http://schemas.microsoft.com/office/drawing/2014/main" id="{51250D55-00B4-48E4-867B-4760F7A0FC35}"/>
              </a:ext>
            </a:extLst>
          </p:cNvPr>
          <p:cNvSpPr>
            <a:spLocks xmlns:a="http://schemas.openxmlformats.org/drawingml/2006/main" noGrp="1"/>
          </p:cNvSpPr>
          <p:nvPr/>
        </p:nvSpPr>
        <p:spPr>
          <a:xfrm xmlns:a="http://schemas.openxmlformats.org/drawingml/2006/main">
            <a:off x="1257300" y="6134100"/>
            <a:ext cx="9677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183B66"/>
                </a:solidFill>
                <a:latin typeface="Helvetica Neue"/>
                <a:ea typeface="Helvetica Neue"/>
                <a:cs typeface="Helvetica Neue"/>
              </a:defRPr>
            </a:pPr>
            <a:r>
              <a:rPr sz="1350" b="1">
                <a:solidFill>
                  <a:srgbClr val="183B66"/>
                </a:solidFill>
                <a:latin typeface="Helvetica Neue"/>
                <a:ea typeface="Helvetica Neue"/>
                <a:cs typeface="Helvetica Neue"/>
              </a:rPr>
              <a:t>Troubleshooting became part of the evidence: each correction was followed by a measurable PASS condition.</a:t>
            </a:r>
          </a:p>
        </p:txBody>
      </p:sp>
    </p:spTree>
    <p:extLst>
      <p:ext uri="{BB962C8B-B14F-4D97-AF65-F5344CB8AC3E}">
        <p14:creationId xmlns:p14="http://schemas.microsoft.com/office/powerpoint/2010/main" val="10806721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C9845F19-6D6A-406A-840C-B1F15F13E455}"/>
              </a:ext>
            </a:extLst>
          </p:cNvPr>
          <p:cNvSpPr>
            <a:spLocks xmlns:a="http://schemas.openxmlformats.org/drawingml/2006/main" noGrp="1"/>
          </p:cNvSpPr>
          <p:nvPr/>
        </p:nvSpPr>
        <p:spPr>
          <a:xfrm xmlns:a="http://schemas.openxmlformats.org/drawingml/2006/main">
            <a:off x="4572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2" name="">
            <a:extLst xmlns:a="http://schemas.openxmlformats.org/drawingml/2006/main">
              <a:ext uri="{FF2B5EF4-FFF2-40B4-BE49-F238E27FC236}">
                <a16:creationId xmlns:a16="http://schemas.microsoft.com/office/drawing/2014/main" id="{672FDA75-7A1D-4B75-A42C-F001A72308C1}"/>
              </a:ext>
            </a:extLst>
          </p:cNvPr>
          <p:cNvSpPr>
            <a:spLocks xmlns:a="http://schemas.openxmlformats.org/drawingml/2006/main" noGrp="1"/>
          </p:cNvSpPr>
          <p:nvPr/>
        </p:nvSpPr>
        <p:spPr>
          <a:xfrm xmlns:a="http://schemas.openxmlformats.org/drawingml/2006/main">
            <a:off x="18669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3" name="">
            <a:extLst xmlns:a="http://schemas.openxmlformats.org/drawingml/2006/main">
              <a:ext uri="{FF2B5EF4-FFF2-40B4-BE49-F238E27FC236}">
                <a16:creationId xmlns:a16="http://schemas.microsoft.com/office/drawing/2014/main" id="{F7E27BE5-26EF-4E24-B262-612862AB8A58}"/>
              </a:ext>
            </a:extLst>
          </p:cNvPr>
          <p:cNvSpPr>
            <a:spLocks xmlns:a="http://schemas.openxmlformats.org/drawingml/2006/main" noGrp="1"/>
          </p:cNvSpPr>
          <p:nvPr/>
        </p:nvSpPr>
        <p:spPr>
          <a:xfrm xmlns:a="http://schemas.openxmlformats.org/drawingml/2006/main">
            <a:off x="32766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4" name="">
            <a:extLst xmlns:a="http://schemas.openxmlformats.org/drawingml/2006/main">
              <a:ext uri="{FF2B5EF4-FFF2-40B4-BE49-F238E27FC236}">
                <a16:creationId xmlns:a16="http://schemas.microsoft.com/office/drawing/2014/main" id="{5A0D0373-F875-4965-91BA-0F7DEC1E6D9C}"/>
              </a:ext>
            </a:extLst>
          </p:cNvPr>
          <p:cNvSpPr>
            <a:spLocks xmlns:a="http://schemas.openxmlformats.org/drawingml/2006/main" noGrp="1"/>
          </p:cNvSpPr>
          <p:nvPr/>
        </p:nvSpPr>
        <p:spPr>
          <a:xfrm xmlns:a="http://schemas.openxmlformats.org/drawingml/2006/main">
            <a:off x="46863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5" name="">
            <a:extLst xmlns:a="http://schemas.openxmlformats.org/drawingml/2006/main">
              <a:ext uri="{FF2B5EF4-FFF2-40B4-BE49-F238E27FC236}">
                <a16:creationId xmlns:a16="http://schemas.microsoft.com/office/drawing/2014/main" id="{C03FF419-A55E-4660-885B-05EBD431AB3A}"/>
              </a:ext>
            </a:extLst>
          </p:cNvPr>
          <p:cNvSpPr>
            <a:spLocks xmlns:a="http://schemas.openxmlformats.org/drawingml/2006/main" noGrp="1"/>
          </p:cNvSpPr>
          <p:nvPr/>
        </p:nvSpPr>
        <p:spPr>
          <a:xfrm xmlns:a="http://schemas.openxmlformats.org/drawingml/2006/main">
            <a:off x="60960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6" name="">
            <a:extLst xmlns:a="http://schemas.openxmlformats.org/drawingml/2006/main">
              <a:ext uri="{FF2B5EF4-FFF2-40B4-BE49-F238E27FC236}">
                <a16:creationId xmlns:a16="http://schemas.microsoft.com/office/drawing/2014/main" id="{A14F85F9-2283-45BF-9A8B-4C512708A958}"/>
              </a:ext>
            </a:extLst>
          </p:cNvPr>
          <p:cNvSpPr>
            <a:spLocks xmlns:a="http://schemas.openxmlformats.org/drawingml/2006/main" noGrp="1"/>
          </p:cNvSpPr>
          <p:nvPr/>
        </p:nvSpPr>
        <p:spPr>
          <a:xfrm xmlns:a="http://schemas.openxmlformats.org/drawingml/2006/main">
            <a:off x="75057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7" name="">
            <a:extLst xmlns:a="http://schemas.openxmlformats.org/drawingml/2006/main">
              <a:ext uri="{FF2B5EF4-FFF2-40B4-BE49-F238E27FC236}">
                <a16:creationId xmlns:a16="http://schemas.microsoft.com/office/drawing/2014/main" id="{6D139426-0FC7-4BFA-AB29-80BFB64DB57E}"/>
              </a:ext>
            </a:extLst>
          </p:cNvPr>
          <p:cNvSpPr>
            <a:spLocks xmlns:a="http://schemas.openxmlformats.org/drawingml/2006/main" noGrp="1"/>
          </p:cNvSpPr>
          <p:nvPr/>
        </p:nvSpPr>
        <p:spPr>
          <a:xfrm xmlns:a="http://schemas.openxmlformats.org/drawingml/2006/main">
            <a:off x="89154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8" name="">
            <a:extLst xmlns:a="http://schemas.openxmlformats.org/drawingml/2006/main">
              <a:ext uri="{FF2B5EF4-FFF2-40B4-BE49-F238E27FC236}">
                <a16:creationId xmlns:a16="http://schemas.microsoft.com/office/drawing/2014/main" id="{53A93495-0567-43FE-A541-C66A9926DF28}"/>
              </a:ext>
            </a:extLst>
          </p:cNvPr>
          <p:cNvSpPr>
            <a:spLocks xmlns:a="http://schemas.openxmlformats.org/drawingml/2006/main" noGrp="1"/>
          </p:cNvSpPr>
          <p:nvPr/>
        </p:nvSpPr>
        <p:spPr>
          <a:xfrm xmlns:a="http://schemas.openxmlformats.org/drawingml/2006/main">
            <a:off x="103251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9" name="">
            <a:extLst xmlns:a="http://schemas.openxmlformats.org/drawingml/2006/main">
              <a:ext uri="{FF2B5EF4-FFF2-40B4-BE49-F238E27FC236}">
                <a16:creationId xmlns:a16="http://schemas.microsoft.com/office/drawing/2014/main" id="{BACAFC8C-A6D2-4A46-87C5-173925BAD2D0}"/>
              </a:ext>
            </a:extLst>
          </p:cNvPr>
          <p:cNvSpPr>
            <a:spLocks xmlns:a="http://schemas.openxmlformats.org/drawingml/2006/main" noGrp="1"/>
          </p:cNvSpPr>
          <p:nvPr/>
        </p:nvSpPr>
        <p:spPr>
          <a:xfrm xmlns:a="http://schemas.openxmlformats.org/drawingml/2006/main">
            <a:off x="11734800" y="0"/>
            <a:ext cx="0" cy="685800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0" name="">
            <a:extLst xmlns:a="http://schemas.openxmlformats.org/drawingml/2006/main">
              <a:ext uri="{FF2B5EF4-FFF2-40B4-BE49-F238E27FC236}">
                <a16:creationId xmlns:a16="http://schemas.microsoft.com/office/drawing/2014/main" id="{F097B1B5-C992-4415-BFC1-8A0F7B9C6B48}"/>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1" name="">
            <a:extLst xmlns:a="http://schemas.openxmlformats.org/drawingml/2006/main">
              <a:ext uri="{FF2B5EF4-FFF2-40B4-BE49-F238E27FC236}">
                <a16:creationId xmlns:a16="http://schemas.microsoft.com/office/drawing/2014/main" id="{EAD785FD-5109-4A0D-932B-D26CC7B18F2F}"/>
              </a:ext>
            </a:extLst>
          </p:cNvPr>
          <p:cNvSpPr>
            <a:spLocks xmlns:a="http://schemas.openxmlformats.org/drawingml/2006/main" noGrp="1"/>
          </p:cNvSpPr>
          <p:nvPr/>
        </p:nvSpPr>
        <p:spPr>
          <a:xfrm xmlns:a="http://schemas.openxmlformats.org/drawingml/2006/main">
            <a:off x="0" y="857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2" name="">
            <a:extLst xmlns:a="http://schemas.openxmlformats.org/drawingml/2006/main">
              <a:ext uri="{FF2B5EF4-FFF2-40B4-BE49-F238E27FC236}">
                <a16:creationId xmlns:a16="http://schemas.microsoft.com/office/drawing/2014/main" id="{9BA084B7-1FED-4318-B760-231980B43449}"/>
              </a:ext>
            </a:extLst>
          </p:cNvPr>
          <p:cNvSpPr>
            <a:spLocks xmlns:a="http://schemas.openxmlformats.org/drawingml/2006/main" noGrp="1"/>
          </p:cNvSpPr>
          <p:nvPr/>
        </p:nvSpPr>
        <p:spPr>
          <a:xfrm xmlns:a="http://schemas.openxmlformats.org/drawingml/2006/main">
            <a:off x="0" y="1714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3" name="">
            <a:extLst xmlns:a="http://schemas.openxmlformats.org/drawingml/2006/main">
              <a:ext uri="{FF2B5EF4-FFF2-40B4-BE49-F238E27FC236}">
                <a16:creationId xmlns:a16="http://schemas.microsoft.com/office/drawing/2014/main" id="{B632349E-AB87-47DB-9D68-4E72339A9523}"/>
              </a:ext>
            </a:extLst>
          </p:cNvPr>
          <p:cNvSpPr>
            <a:spLocks xmlns:a="http://schemas.openxmlformats.org/drawingml/2006/main" noGrp="1"/>
          </p:cNvSpPr>
          <p:nvPr/>
        </p:nvSpPr>
        <p:spPr>
          <a:xfrm xmlns:a="http://schemas.openxmlformats.org/drawingml/2006/main">
            <a:off x="0" y="2571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4" name="">
            <a:extLst xmlns:a="http://schemas.openxmlformats.org/drawingml/2006/main">
              <a:ext uri="{FF2B5EF4-FFF2-40B4-BE49-F238E27FC236}">
                <a16:creationId xmlns:a16="http://schemas.microsoft.com/office/drawing/2014/main" id="{C61BC33C-0AE4-4F55-AF94-5EF7F7B3F3C1}"/>
              </a:ext>
            </a:extLst>
          </p:cNvPr>
          <p:cNvSpPr>
            <a:spLocks xmlns:a="http://schemas.openxmlformats.org/drawingml/2006/main" noGrp="1"/>
          </p:cNvSpPr>
          <p:nvPr/>
        </p:nvSpPr>
        <p:spPr>
          <a:xfrm xmlns:a="http://schemas.openxmlformats.org/drawingml/2006/main">
            <a:off x="0" y="3429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5" name="">
            <a:extLst xmlns:a="http://schemas.openxmlformats.org/drawingml/2006/main">
              <a:ext uri="{FF2B5EF4-FFF2-40B4-BE49-F238E27FC236}">
                <a16:creationId xmlns:a16="http://schemas.microsoft.com/office/drawing/2014/main" id="{558D9F48-A201-4EA1-A695-41623031E5E1}"/>
              </a:ext>
            </a:extLst>
          </p:cNvPr>
          <p:cNvSpPr>
            <a:spLocks xmlns:a="http://schemas.openxmlformats.org/drawingml/2006/main" noGrp="1"/>
          </p:cNvSpPr>
          <p:nvPr/>
        </p:nvSpPr>
        <p:spPr>
          <a:xfrm xmlns:a="http://schemas.openxmlformats.org/drawingml/2006/main">
            <a:off x="0" y="42862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6" name="">
            <a:extLst xmlns:a="http://schemas.openxmlformats.org/drawingml/2006/main">
              <a:ext uri="{FF2B5EF4-FFF2-40B4-BE49-F238E27FC236}">
                <a16:creationId xmlns:a16="http://schemas.microsoft.com/office/drawing/2014/main" id="{F9D64057-84D2-43A9-BD2F-3E1818B49D02}"/>
              </a:ext>
            </a:extLst>
          </p:cNvPr>
          <p:cNvSpPr>
            <a:spLocks xmlns:a="http://schemas.openxmlformats.org/drawingml/2006/main" noGrp="1"/>
          </p:cNvSpPr>
          <p:nvPr/>
        </p:nvSpPr>
        <p:spPr>
          <a:xfrm xmlns:a="http://schemas.openxmlformats.org/drawingml/2006/main">
            <a:off x="0" y="51435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7" name="">
            <a:extLst xmlns:a="http://schemas.openxmlformats.org/drawingml/2006/main">
              <a:ext uri="{FF2B5EF4-FFF2-40B4-BE49-F238E27FC236}">
                <a16:creationId xmlns:a16="http://schemas.microsoft.com/office/drawing/2014/main" id="{BDDAE57C-58D9-40ED-9CA7-3D73E4353A3E}"/>
              </a:ext>
            </a:extLst>
          </p:cNvPr>
          <p:cNvSpPr>
            <a:spLocks xmlns:a="http://schemas.openxmlformats.org/drawingml/2006/main" noGrp="1"/>
          </p:cNvSpPr>
          <p:nvPr/>
        </p:nvSpPr>
        <p:spPr>
          <a:xfrm xmlns:a="http://schemas.openxmlformats.org/drawingml/2006/main">
            <a:off x="0" y="600075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8" name="">
            <a:extLst xmlns:a="http://schemas.openxmlformats.org/drawingml/2006/main">
              <a:ext uri="{FF2B5EF4-FFF2-40B4-BE49-F238E27FC236}">
                <a16:creationId xmlns:a16="http://schemas.microsoft.com/office/drawing/2014/main" id="{2BA7DEDD-C5EC-48EF-BD2A-291ED8DA6285}"/>
              </a:ext>
            </a:extLst>
          </p:cNvPr>
          <p:cNvSpPr>
            <a:spLocks xmlns:a="http://schemas.openxmlformats.org/drawingml/2006/main" noGrp="1"/>
          </p:cNvSpPr>
          <p:nvPr/>
        </p:nvSpPr>
        <p:spPr>
          <a:xfrm xmlns:a="http://schemas.openxmlformats.org/drawingml/2006/main">
            <a:off x="0" y="6858000"/>
            <a:ext cx="12192000" cy="0"/>
          </a:xfrm>
          <a:prstGeom xmlns:a="http://schemas.openxmlformats.org/drawingml/2006/main" prst="line">
            <a:avLst/>
          </a:prstGeom>
          <a:noFill xmlns:a="http://schemas.openxmlformats.org/drawingml/2006/main"/>
          <a:ln xmlns:a="http://schemas.openxmlformats.org/drawingml/2006/main" w="4763">
            <a:solidFill>
              <a:srgbClr val="E4E8ED"/>
            </a:solidFill>
            <a:prstDash val="solid"/>
          </a:ln>
        </p:spPr>
      </p:sp>
      <p:sp>
        <p:nvSpPr>
          <p:cNvPr id="19" name="">
            <a:extLst xmlns:a="http://schemas.openxmlformats.org/drawingml/2006/main">
              <a:ext uri="{FF2B5EF4-FFF2-40B4-BE49-F238E27FC236}">
                <a16:creationId xmlns:a16="http://schemas.microsoft.com/office/drawing/2014/main" id="{7D45CE67-91C3-4132-9D59-6898EA0DB549}"/>
              </a:ext>
            </a:extLst>
          </p:cNvPr>
          <p:cNvSpPr>
            <a:spLocks xmlns:a="http://schemas.openxmlformats.org/drawingml/2006/main" noGrp="1"/>
          </p:cNvSpPr>
          <p:nvPr/>
        </p:nvSpPr>
        <p:spPr>
          <a:xfrm xmlns:a="http://schemas.openxmlformats.org/drawingml/2006/main">
            <a:off x="457200" y="304800"/>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INTEGRATED INCIDENT RESPONSE</a:t>
            </a:r>
          </a:p>
        </p:txBody>
      </p:sp>
      <p:sp>
        <p:nvSpPr>
          <p:cNvPr id="20" name="">
            <a:extLst xmlns:a="http://schemas.openxmlformats.org/drawingml/2006/main">
              <a:ext uri="{FF2B5EF4-FFF2-40B4-BE49-F238E27FC236}">
                <a16:creationId xmlns:a16="http://schemas.microsoft.com/office/drawing/2014/main" id="{973E5733-51D8-4256-BF08-DDA9E69DBD26}"/>
              </a:ext>
            </a:extLst>
          </p:cNvPr>
          <p:cNvSpPr>
            <a:spLocks xmlns:a="http://schemas.openxmlformats.org/drawingml/2006/main" noGrp="1"/>
          </p:cNvSpPr>
          <p:nvPr/>
        </p:nvSpPr>
        <p:spPr>
          <a:xfrm xmlns:a="http://schemas.openxmlformats.org/drawingml/2006/main">
            <a:off x="457200" y="666750"/>
            <a:ext cx="10668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nSpc>
                <a:spcPct val="95000"/>
              </a:lnSpc>
              <a:buNone/>
              <a:defRPr sz="3150" b="1">
                <a:solidFill>
                  <a:srgbClr val="0B0E14"/>
                </a:solidFill>
                <a:latin typeface="Helvetica Neue"/>
                <a:ea typeface="Helvetica Neue"/>
                <a:cs typeface="Helvetica Neue"/>
              </a:defRPr>
            </a:pPr>
            <a:r>
              <a:rPr sz="3150" b="1">
                <a:solidFill>
                  <a:srgbClr val="0B0E14"/>
                </a:solidFill>
                <a:latin typeface="Helvetica Neue"/>
                <a:ea typeface="Helvetica Neue"/>
                <a:cs typeface="Helvetica Neue"/>
              </a:rPr>
              <a:t>Final evidence package and discussion conclusion</a:t>
            </a:r>
          </a:p>
        </p:txBody>
      </p:sp>
      <p:sp>
        <p:nvSpPr>
          <p:cNvPr id="21" name="">
            <a:extLst xmlns:a="http://schemas.openxmlformats.org/drawingml/2006/main">
              <a:ext uri="{FF2B5EF4-FFF2-40B4-BE49-F238E27FC236}">
                <a16:creationId xmlns:a16="http://schemas.microsoft.com/office/drawing/2014/main" id="{384E8CF9-B1B3-483E-B4B3-E6E8E3453483}"/>
              </a:ext>
            </a:extLst>
          </p:cNvPr>
          <p:cNvSpPr>
            <a:spLocks xmlns:a="http://schemas.openxmlformats.org/drawingml/2006/main" noGrp="1"/>
          </p:cNvSpPr>
          <p:nvPr/>
        </p:nvSpPr>
        <p:spPr>
          <a:xfrm xmlns:a="http://schemas.openxmlformats.org/drawingml/2006/main">
            <a:off x="11277600" y="352425"/>
            <a:ext cx="457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5C6675"/>
                </a:solidFill>
                <a:latin typeface="Helvetica Neue"/>
                <a:ea typeface="Helvetica Neue"/>
                <a:cs typeface="Helvetica Neue"/>
              </a:defRPr>
            </a:pPr>
            <a:r>
              <a:rPr sz="1050" b="1">
                <a:solidFill>
                  <a:srgbClr val="5C6675"/>
                </a:solidFill>
                <a:latin typeface="Helvetica Neue"/>
                <a:ea typeface="Helvetica Neue"/>
                <a:cs typeface="Helvetica Neue"/>
              </a:rPr>
              <a:t>16</a:t>
            </a:r>
          </a:p>
        </p:txBody>
      </p:sp>
      <p:sp>
        <p:nvSpPr>
          <p:cNvPr id="22" name="">
            <a:extLst xmlns:a="http://schemas.openxmlformats.org/drawingml/2006/main">
              <a:ext uri="{FF2B5EF4-FFF2-40B4-BE49-F238E27FC236}">
                <a16:creationId xmlns:a16="http://schemas.microsoft.com/office/drawing/2014/main" id="{30E0379E-F777-4197-8BF4-09834637F609}"/>
              </a:ext>
            </a:extLst>
          </p:cNvPr>
          <p:cNvSpPr>
            <a:spLocks xmlns:a="http://schemas.openxmlformats.org/drawingml/2006/main" noGrp="1"/>
          </p:cNvSpPr>
          <p:nvPr/>
        </p:nvSpPr>
        <p:spPr>
          <a:xfrm xmlns:a="http://schemas.openxmlformats.org/drawingml/2006/main">
            <a:off x="457200" y="1362075"/>
            <a:ext cx="112776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0F802FE2-73B0-4191-B45E-121AF297156D}"/>
              </a:ext>
            </a:extLst>
          </p:cNvPr>
          <p:cNvSpPr>
            <a:spLocks xmlns:a="http://schemas.openxmlformats.org/drawingml/2006/main" noGrp="1"/>
          </p:cNvSpPr>
          <p:nvPr/>
        </p:nvSpPr>
        <p:spPr>
          <a:xfrm xmlns:a="http://schemas.openxmlformats.org/drawingml/2006/main">
            <a:off x="457200" y="6524625"/>
            <a:ext cx="590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825">
                <a:solidFill>
                  <a:srgbClr val="5C6675"/>
                </a:solidFill>
                <a:latin typeface="Helvetica Neue"/>
                <a:ea typeface="Helvetica Neue"/>
                <a:cs typeface="Helvetica Neue"/>
              </a:defRPr>
            </a:pPr>
            <a:r>
              <a:rPr sz="825">
                <a:solidFill>
                  <a:srgbClr val="5C6675"/>
                </a:solidFill>
                <a:latin typeface="Helvetica Neue"/>
                <a:ea typeface="Helvetica Neue"/>
                <a:cs typeface="Helvetica Neue"/>
              </a:rPr>
              <a:t>FINALIZATION RESULT: PASS · 2026-08-08</a:t>
            </a:r>
          </a:p>
        </p:txBody>
      </p:sp>
      <p:sp>
        <p:nvSpPr>
          <p:cNvPr id="24" name="">
            <a:extLst xmlns:a="http://schemas.openxmlformats.org/drawingml/2006/main">
              <a:ext uri="{FF2B5EF4-FFF2-40B4-BE49-F238E27FC236}">
                <a16:creationId xmlns:a16="http://schemas.microsoft.com/office/drawing/2014/main" id="{C8DE2380-2433-452E-9676-70063827BF92}"/>
              </a:ext>
            </a:extLst>
          </p:cNvPr>
          <p:cNvSpPr>
            <a:spLocks xmlns:a="http://schemas.openxmlformats.org/drawingml/2006/main" noGrp="1"/>
          </p:cNvSpPr>
          <p:nvPr/>
        </p:nvSpPr>
        <p:spPr>
          <a:xfrm xmlns:a="http://schemas.openxmlformats.org/drawingml/2006/main">
            <a:off x="11125200" y="6562725"/>
            <a:ext cx="609600" cy="47625"/>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25" name="">
            <a:extLst xmlns:a="http://schemas.openxmlformats.org/drawingml/2006/main">
              <a:ext uri="{FF2B5EF4-FFF2-40B4-BE49-F238E27FC236}">
                <a16:creationId xmlns:a16="http://schemas.microsoft.com/office/drawing/2014/main" id="{54E6384D-131B-4FDB-8433-EBFACD4E73D4}"/>
              </a:ext>
            </a:extLst>
          </p:cNvPr>
          <p:cNvSpPr>
            <a:spLocks xmlns:a="http://schemas.openxmlformats.org/drawingml/2006/main" noGrp="1"/>
          </p:cNvSpPr>
          <p:nvPr/>
        </p:nvSpPr>
        <p:spPr>
          <a:xfrm xmlns:a="http://schemas.openxmlformats.org/drawingml/2006/main">
            <a:off x="457200" y="1676400"/>
            <a:ext cx="6019800" cy="3695700"/>
          </a:xfrm>
          <a:prstGeom xmlns:a="http://schemas.openxmlformats.org/drawingml/2006/main" prst="roundRect">
            <a:avLst>
              <a:gd name="adj" fmla="val 3608"/>
            </a:avLst>
          </a:prstGeom>
          <a:solidFill xmlns:a="http://schemas.openxmlformats.org/drawingml/2006/main">
            <a:srgbClr val="FFFFFF"/>
          </a:solidFill>
          <a:ln xmlns:a="http://schemas.openxmlformats.org/drawingml/2006/main" w="9525">
            <a:solidFill>
              <a:srgbClr val="B8BCC4"/>
            </a:solidFill>
            <a:prstDash val="solid"/>
          </a:ln>
        </p:spPr>
      </p:sp>
      <p:pic>
        <p:nvPicPr>
          <p:cNvPr id="75" name=""/>
          <p:cNvPicPr>
            <a:picLocks xmlns:a="http://schemas.openxmlformats.org/drawingml/2006/main" noChangeAspect="1"/>
          </p:cNvPicPr>
          <p:nvPr/>
        </p:nvPicPr>
        <p:blipFill>
          <a:blip xmlns:r="http://schemas.openxmlformats.org/officeDocument/2006/relationships" xmlns:a="http://schemas.openxmlformats.org/drawingml/2006/main" r:embed="Raa85550c60eb4e27"/>
          <a:stretch xmlns:a="http://schemas.openxmlformats.org/drawingml/2006/main"/>
        </p:blipFill>
        <p:spPr>
          <a:xfrm xmlns:a="http://schemas.openxmlformats.org/drawingml/2006/main">
            <a:off x="1236445" y="1724025"/>
            <a:ext cx="4461309" cy="3600450"/>
          </a:xfrm>
          <a:prstGeom xmlns:a="http://schemas.openxmlformats.org/drawingml/2006/main" prst="roundRect">
            <a:avLst>
              <a:gd name="adj" fmla="val 3175"/>
            </a:avLst>
          </a:prstGeom>
        </p:spPr>
      </p:pic>
      <p:sp>
        <p:nvSpPr>
          <p:cNvPr id="27" name="">
            <a:extLst xmlns:a="http://schemas.openxmlformats.org/drawingml/2006/main">
              <a:ext uri="{FF2B5EF4-FFF2-40B4-BE49-F238E27FC236}">
                <a16:creationId xmlns:a16="http://schemas.microsoft.com/office/drawing/2014/main" id="{89BBE9ED-174A-4D22-B6AF-5154C4154F59}"/>
              </a:ext>
            </a:extLst>
          </p:cNvPr>
          <p:cNvSpPr>
            <a:spLocks xmlns:a="http://schemas.openxmlformats.org/drawingml/2006/main" noGrp="1"/>
          </p:cNvSpPr>
          <p:nvPr/>
        </p:nvSpPr>
        <p:spPr>
          <a:xfrm xmlns:a="http://schemas.openxmlformats.org/drawingml/2006/main">
            <a:off x="6896100" y="1676400"/>
            <a:ext cx="4838700" cy="3695700"/>
          </a:xfrm>
          <a:prstGeom xmlns:a="http://schemas.openxmlformats.org/drawingml/2006/main" prst="roundRect">
            <a:avLst>
              <a:gd name="adj" fmla="val 5155"/>
            </a:avLst>
          </a:prstGeom>
          <a:solidFill xmlns:a="http://schemas.openxmlformats.org/drawingml/2006/main">
            <a:srgbClr val="0B0E14"/>
          </a:solidFill>
          <a:ln xmlns:a="http://schemas.openxmlformats.org/drawingml/2006/main" w="9525">
            <a:solidFill>
              <a:srgbClr val="0B0E14"/>
            </a:solidFill>
            <a:prstDash val="solid"/>
          </a:ln>
        </p:spPr>
      </p:sp>
      <p:sp>
        <p:nvSpPr>
          <p:cNvPr id="28" name="">
            <a:extLst xmlns:a="http://schemas.openxmlformats.org/drawingml/2006/main">
              <a:ext uri="{FF2B5EF4-FFF2-40B4-BE49-F238E27FC236}">
                <a16:creationId xmlns:a16="http://schemas.microsoft.com/office/drawing/2014/main" id="{F0542D9F-FEE1-48EC-946F-49FCC3BFDFD5}"/>
              </a:ext>
            </a:extLst>
          </p:cNvPr>
          <p:cNvSpPr>
            <a:spLocks xmlns:a="http://schemas.openxmlformats.org/drawingml/2006/main" noGrp="1"/>
          </p:cNvSpPr>
          <p:nvPr/>
        </p:nvSpPr>
        <p:spPr>
          <a:xfrm xmlns:a="http://schemas.openxmlformats.org/drawingml/2006/main">
            <a:off x="7239000" y="2000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defRPr sz="1125" b="1">
                <a:solidFill>
                  <a:srgbClr val="6DCBF4"/>
                </a:solidFill>
                <a:latin typeface="Helvetica Neue"/>
                <a:ea typeface="Helvetica Neue"/>
                <a:cs typeface="Helvetica Neue"/>
              </a:defRPr>
            </a:pPr>
            <a:r>
              <a:rPr sz="1125" b="1">
                <a:solidFill>
                  <a:srgbClr val="6DCBF4"/>
                </a:solidFill>
                <a:latin typeface="Helvetica Neue"/>
                <a:ea typeface="Helvetica Neue"/>
                <a:cs typeface="Helvetica Neue"/>
              </a:rPr>
              <a:t>QUALITY GATES</a:t>
            </a:r>
          </a:p>
        </p:txBody>
      </p:sp>
      <p:sp>
        <p:nvSpPr>
          <p:cNvPr id="29" name="">
            <a:extLst xmlns:a="http://schemas.openxmlformats.org/drawingml/2006/main">
              <a:ext uri="{FF2B5EF4-FFF2-40B4-BE49-F238E27FC236}">
                <a16:creationId xmlns:a16="http://schemas.microsoft.com/office/drawing/2014/main" id="{BCC21571-A154-4AB1-845F-FDB6ACB0AC3B}"/>
              </a:ext>
            </a:extLst>
          </p:cNvPr>
          <p:cNvSpPr>
            <a:spLocks xmlns:a="http://schemas.openxmlformats.org/drawingml/2006/main" noGrp="1"/>
          </p:cNvSpPr>
          <p:nvPr/>
        </p:nvSpPr>
        <p:spPr>
          <a:xfrm xmlns:a="http://schemas.openxmlformats.org/drawingml/2006/main">
            <a:off x="7239000" y="24574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10 / 10</a:t>
            </a:r>
          </a:p>
        </p:txBody>
      </p:sp>
      <p:sp>
        <p:nvSpPr>
          <p:cNvPr id="30" name="">
            <a:extLst xmlns:a="http://schemas.openxmlformats.org/drawingml/2006/main">
              <a:ext uri="{FF2B5EF4-FFF2-40B4-BE49-F238E27FC236}">
                <a16:creationId xmlns:a16="http://schemas.microsoft.com/office/drawing/2014/main" id="{5F26474C-BE53-4F87-9F46-C64CB96BEDF0}"/>
              </a:ext>
            </a:extLst>
          </p:cNvPr>
          <p:cNvSpPr>
            <a:spLocks xmlns:a="http://schemas.openxmlformats.org/drawingml/2006/main" noGrp="1"/>
          </p:cNvSpPr>
          <p:nvPr/>
        </p:nvSpPr>
        <p:spPr>
          <a:xfrm xmlns:a="http://schemas.openxmlformats.org/drawingml/2006/main">
            <a:off x="8210550" y="245745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00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skills verified</a:t>
            </a:r>
          </a:p>
        </p:txBody>
      </p:sp>
      <p:sp>
        <p:nvSpPr>
          <p:cNvPr id="31" name="">
            <a:extLst xmlns:a="http://schemas.openxmlformats.org/drawingml/2006/main">
              <a:ext uri="{FF2B5EF4-FFF2-40B4-BE49-F238E27FC236}">
                <a16:creationId xmlns:a16="http://schemas.microsoft.com/office/drawing/2014/main" id="{32431DEF-4BBD-4F6F-BACE-F1ABB7B7B42A}"/>
              </a:ext>
            </a:extLst>
          </p:cNvPr>
          <p:cNvSpPr>
            <a:spLocks xmlns:a="http://schemas.openxmlformats.org/drawingml/2006/main" noGrp="1"/>
          </p:cNvSpPr>
          <p:nvPr/>
        </p:nvSpPr>
        <p:spPr>
          <a:xfrm xmlns:a="http://schemas.openxmlformats.org/drawingml/2006/main">
            <a:off x="7239000" y="2857500"/>
            <a:ext cx="4095750" cy="0"/>
          </a:xfrm>
          <a:prstGeom xmlns:a="http://schemas.openxmlformats.org/drawingml/2006/main" prst="line">
            <a:avLst/>
          </a:prstGeom>
          <a:noFill xmlns:a="http://schemas.openxmlformats.org/drawingml/2006/main"/>
          <a:ln xmlns:a="http://schemas.openxmlformats.org/drawingml/2006/main" w="9525">
            <a:solidFill>
              <a:srgbClr val="2D3542"/>
            </a:solidFill>
            <a:prstDash val="solid"/>
          </a:ln>
        </p:spPr>
      </p:sp>
      <p:sp>
        <p:nvSpPr>
          <p:cNvPr id="32" name="">
            <a:extLst xmlns:a="http://schemas.openxmlformats.org/drawingml/2006/main">
              <a:ext uri="{FF2B5EF4-FFF2-40B4-BE49-F238E27FC236}">
                <a16:creationId xmlns:a16="http://schemas.microsoft.com/office/drawing/2014/main" id="{A0019527-54AE-4575-86A3-C3BCF53C6540}"/>
              </a:ext>
            </a:extLst>
          </p:cNvPr>
          <p:cNvSpPr>
            <a:spLocks xmlns:a="http://schemas.openxmlformats.org/drawingml/2006/main" noGrp="1"/>
          </p:cNvSpPr>
          <p:nvPr/>
        </p:nvSpPr>
        <p:spPr>
          <a:xfrm xmlns:a="http://schemas.openxmlformats.org/drawingml/2006/main">
            <a:off x="7239000" y="293370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2</a:t>
            </a:r>
          </a:p>
        </p:txBody>
      </p:sp>
      <p:sp>
        <p:nvSpPr>
          <p:cNvPr id="33" name="">
            <a:extLst xmlns:a="http://schemas.openxmlformats.org/drawingml/2006/main">
              <a:ext uri="{FF2B5EF4-FFF2-40B4-BE49-F238E27FC236}">
                <a16:creationId xmlns:a16="http://schemas.microsoft.com/office/drawing/2014/main" id="{5871CFC4-C09F-498E-B7EF-122449F1F831}"/>
              </a:ext>
            </a:extLst>
          </p:cNvPr>
          <p:cNvSpPr>
            <a:spLocks xmlns:a="http://schemas.openxmlformats.org/drawingml/2006/main" noGrp="1"/>
          </p:cNvSpPr>
          <p:nvPr/>
        </p:nvSpPr>
        <p:spPr>
          <a:xfrm xmlns:a="http://schemas.openxmlformats.org/drawingml/2006/main">
            <a:off x="8210550" y="293370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00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authorized devices integrated</a:t>
            </a:r>
          </a:p>
        </p:txBody>
      </p:sp>
      <p:sp>
        <p:nvSpPr>
          <p:cNvPr id="34" name="">
            <a:extLst xmlns:a="http://schemas.openxmlformats.org/drawingml/2006/main">
              <a:ext uri="{FF2B5EF4-FFF2-40B4-BE49-F238E27FC236}">
                <a16:creationId xmlns:a16="http://schemas.microsoft.com/office/drawing/2014/main" id="{D5360B92-F5EF-4F62-AD7E-C4C2E097DCBA}"/>
              </a:ext>
            </a:extLst>
          </p:cNvPr>
          <p:cNvSpPr>
            <a:spLocks xmlns:a="http://schemas.openxmlformats.org/drawingml/2006/main" noGrp="1"/>
          </p:cNvSpPr>
          <p:nvPr/>
        </p:nvSpPr>
        <p:spPr>
          <a:xfrm xmlns:a="http://schemas.openxmlformats.org/drawingml/2006/main">
            <a:off x="7239000" y="3333750"/>
            <a:ext cx="4095750" cy="0"/>
          </a:xfrm>
          <a:prstGeom xmlns:a="http://schemas.openxmlformats.org/drawingml/2006/main" prst="line">
            <a:avLst/>
          </a:prstGeom>
          <a:noFill xmlns:a="http://schemas.openxmlformats.org/drawingml/2006/main"/>
          <a:ln xmlns:a="http://schemas.openxmlformats.org/drawingml/2006/main" w="9525">
            <a:solidFill>
              <a:srgbClr val="2D3542"/>
            </a:solidFill>
            <a:prstDash val="solid"/>
          </a:ln>
        </p:spPr>
      </p:sp>
      <p:sp>
        <p:nvSpPr>
          <p:cNvPr id="35" name="">
            <a:extLst xmlns:a="http://schemas.openxmlformats.org/drawingml/2006/main">
              <a:ext uri="{FF2B5EF4-FFF2-40B4-BE49-F238E27FC236}">
                <a16:creationId xmlns:a16="http://schemas.microsoft.com/office/drawing/2014/main" id="{06807C74-5AB3-4536-A268-9FBF25C657A4}"/>
              </a:ext>
            </a:extLst>
          </p:cNvPr>
          <p:cNvSpPr>
            <a:spLocks xmlns:a="http://schemas.openxmlformats.org/drawingml/2006/main" noGrp="1"/>
          </p:cNvSpPr>
          <p:nvPr/>
        </p:nvSpPr>
        <p:spPr>
          <a:xfrm xmlns:a="http://schemas.openxmlformats.org/drawingml/2006/main">
            <a:off x="7239000" y="34099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200" b="1">
                <a:solidFill>
                  <a:srgbClr val="6DCBF4"/>
                </a:solidFill>
                <a:latin typeface="Helvetica Neue"/>
                <a:ea typeface="Helvetica Neue"/>
                <a:cs typeface="Helvetica Neue"/>
              </a:defRPr>
            </a:pPr>
            <a:r>
              <a:rPr sz="1200" b="1">
                <a:solidFill>
                  <a:srgbClr val="6DCBF4"/>
                </a:solidFill>
                <a:latin typeface="Helvetica Neue"/>
                <a:ea typeface="Helvetica Neue"/>
                <a:cs typeface="Helvetica Neue"/>
              </a:rPr>
              <a:t>SHA-256</a:t>
            </a:r>
          </a:p>
        </p:txBody>
      </p:sp>
      <p:sp>
        <p:nvSpPr>
          <p:cNvPr id="36" name="">
            <a:extLst xmlns:a="http://schemas.openxmlformats.org/drawingml/2006/main">
              <a:ext uri="{FF2B5EF4-FFF2-40B4-BE49-F238E27FC236}">
                <a16:creationId xmlns:a16="http://schemas.microsoft.com/office/drawing/2014/main" id="{57C433BD-8B28-4D0F-924F-21084422F492}"/>
              </a:ext>
            </a:extLst>
          </p:cNvPr>
          <p:cNvSpPr>
            <a:spLocks xmlns:a="http://schemas.openxmlformats.org/drawingml/2006/main" noGrp="1"/>
          </p:cNvSpPr>
          <p:nvPr/>
        </p:nvSpPr>
        <p:spPr>
          <a:xfrm xmlns:a="http://schemas.openxmlformats.org/drawingml/2006/main">
            <a:off x="8210550" y="340995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nSpc>
                <a:spcPct val="100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manifests for transferred evidence</a:t>
            </a:r>
          </a:p>
        </p:txBody>
      </p:sp>
      <p:sp>
        <p:nvSpPr>
          <p:cNvPr id="37" name="">
            <a:extLst xmlns:a="http://schemas.openxmlformats.org/drawingml/2006/main">
              <a:ext uri="{FF2B5EF4-FFF2-40B4-BE49-F238E27FC236}">
                <a16:creationId xmlns:a16="http://schemas.microsoft.com/office/drawing/2014/main" id="{2BA2A5FD-1970-4374-A63F-79DD475985FE}"/>
              </a:ext>
            </a:extLst>
          </p:cNvPr>
          <p:cNvSpPr>
            <a:spLocks xmlns:a="http://schemas.openxmlformats.org/drawingml/2006/main" noGrp="1"/>
          </p:cNvSpPr>
          <p:nvPr/>
        </p:nvSpPr>
        <p:spPr>
          <a:xfrm xmlns:a="http://schemas.openxmlformats.org/drawingml/2006/main">
            <a:off x="7239000" y="3810000"/>
            <a:ext cx="4095750" cy="0"/>
          </a:xfrm>
          <a:prstGeom xmlns:a="http://schemas.openxmlformats.org/drawingml/2006/main" prst="line">
            <a:avLst/>
          </a:prstGeom>
          <a:noFill xmlns:a="http://schemas.openxmlformats.org/drawingml/2006/main"/>
          <a:ln xmlns:a="http://schemas.openxmlformats.org/drawingml/2006/main" w="9525">
            <a:solidFill>
              <a:srgbClr val="2D3542"/>
            </a:solidFill>
            <a:prstDash val="solid"/>
          </a:ln>
        </p:spPr>
      </p:sp>
      <p:sp>
        <p:nvSpPr>
          <p:cNvPr id="38" name="">
            <a:extLst xmlns:a="http://schemas.openxmlformats.org/drawingml/2006/main">
              <a:ext uri="{FF2B5EF4-FFF2-40B4-BE49-F238E27FC236}">
                <a16:creationId xmlns:a16="http://schemas.microsoft.com/office/drawing/2014/main" id="{8D6DA74C-E2B0-4C43-949E-DFBCF3064CFD}"/>
              </a:ext>
            </a:extLst>
          </p:cNvPr>
          <p:cNvSpPr>
            <a:spLocks xmlns:a="http://schemas.openxmlformats.org/drawingml/2006/main" noGrp="1"/>
          </p:cNvSpPr>
          <p:nvPr/>
        </p:nvSpPr>
        <p:spPr>
          <a:xfrm xmlns:a="http://schemas.openxmlformats.org/drawingml/2006/main">
            <a:off x="7239000" y="388620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PASS</a:t>
            </a:r>
          </a:p>
        </p:txBody>
      </p:sp>
      <p:sp>
        <p:nvSpPr>
          <p:cNvPr id="39" name="">
            <a:extLst xmlns:a="http://schemas.openxmlformats.org/drawingml/2006/main">
              <a:ext uri="{FF2B5EF4-FFF2-40B4-BE49-F238E27FC236}">
                <a16:creationId xmlns:a16="http://schemas.microsoft.com/office/drawing/2014/main" id="{178F503A-B703-40BC-9BA0-AB4EBC361CFE}"/>
              </a:ext>
            </a:extLst>
          </p:cNvPr>
          <p:cNvSpPr>
            <a:spLocks xmlns:a="http://schemas.openxmlformats.org/drawingml/2006/main" noGrp="1"/>
          </p:cNvSpPr>
          <p:nvPr/>
        </p:nvSpPr>
        <p:spPr>
          <a:xfrm xmlns:a="http://schemas.openxmlformats.org/drawingml/2006/main">
            <a:off x="8210550" y="388620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p xmlns:a="http://schemas.openxmlformats.org/drawingml/2006/main">
            <a:pPr>
              <a:lnSpc>
                <a:spcPct val="100000"/>
              </a:lnSpc>
              <a:buNone/>
              <a:defRPr sz="1200">
                <a:solidFill>
                  <a:srgbClr val="FFFFFF"/>
                </a:solidFill>
                <a:latin typeface="Helvetica Neue"/>
                <a:ea typeface="Helvetica Neue"/>
                <a:cs typeface="Helvetica Neue"/>
              </a:defRPr>
            </a:pPr>
            <a:r>
              <a:rPr sz="1200">
                <a:solidFill>
                  <a:srgbClr val="FFFFFF"/>
                </a:solidFill>
                <a:latin typeface="Helvetica Neue"/>
                <a:ea typeface="Helvetica Neue"/>
                <a:cs typeface="Helvetica Neue"/>
              </a:rPr>
              <a:t>safe case, rollback, recovery, memory, and finalization</a:t>
            </a:r>
          </a:p>
        </p:txBody>
      </p:sp>
      <p:sp>
        <p:nvSpPr>
          <p:cNvPr id="40" name="">
            <a:extLst xmlns:a="http://schemas.openxmlformats.org/drawingml/2006/main">
              <a:ext uri="{FF2B5EF4-FFF2-40B4-BE49-F238E27FC236}">
                <a16:creationId xmlns:a16="http://schemas.microsoft.com/office/drawing/2014/main" id="{1DA03F6F-F435-4EB8-9FCC-17BE4D8D3302}"/>
              </a:ext>
            </a:extLst>
          </p:cNvPr>
          <p:cNvSpPr>
            <a:spLocks xmlns:a="http://schemas.openxmlformats.org/drawingml/2006/main" noGrp="1"/>
          </p:cNvSpPr>
          <p:nvPr/>
        </p:nvSpPr>
        <p:spPr>
          <a:xfrm xmlns:a="http://schemas.openxmlformats.org/drawingml/2006/main">
            <a:off x="7239000" y="4286250"/>
            <a:ext cx="4095750" cy="0"/>
          </a:xfrm>
          <a:prstGeom xmlns:a="http://schemas.openxmlformats.org/drawingml/2006/main" prst="line">
            <a:avLst/>
          </a:prstGeom>
          <a:noFill xmlns:a="http://schemas.openxmlformats.org/drawingml/2006/main"/>
          <a:ln xmlns:a="http://schemas.openxmlformats.org/drawingml/2006/main" w="9525">
            <a:solidFill>
              <a:srgbClr val="2D3542"/>
            </a:solidFill>
            <a:prstDash val="solid"/>
          </a:ln>
        </p:spPr>
      </p:sp>
      <p:sp>
        <p:nvSpPr>
          <p:cNvPr id="41" name="">
            <a:extLst xmlns:a="http://schemas.openxmlformats.org/drawingml/2006/main">
              <a:ext uri="{FF2B5EF4-FFF2-40B4-BE49-F238E27FC236}">
                <a16:creationId xmlns:a16="http://schemas.microsoft.com/office/drawing/2014/main" id="{98ED4042-BA1C-4AD9-AA1A-D35BAAE79B79}"/>
              </a:ext>
            </a:extLst>
          </p:cNvPr>
          <p:cNvSpPr>
            <a:spLocks xmlns:a="http://schemas.openxmlformats.org/drawingml/2006/main" noGrp="1"/>
          </p:cNvSpPr>
          <p:nvPr/>
        </p:nvSpPr>
        <p:spPr>
          <a:xfrm xmlns:a="http://schemas.openxmlformats.org/drawingml/2006/main">
            <a:off x="7239000" y="4362450"/>
            <a:ext cx="876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ZERO</a:t>
            </a:r>
          </a:p>
        </p:txBody>
      </p:sp>
      <p:sp>
        <p:nvSpPr>
          <p:cNvPr id="42" name="">
            <a:extLst xmlns:a="http://schemas.openxmlformats.org/drawingml/2006/main">
              <a:ext uri="{FF2B5EF4-FFF2-40B4-BE49-F238E27FC236}">
                <a16:creationId xmlns:a16="http://schemas.microsoft.com/office/drawing/2014/main" id="{96F88283-A134-4803-9690-FDA5A0E09C9E}"/>
              </a:ext>
            </a:extLst>
          </p:cNvPr>
          <p:cNvSpPr>
            <a:spLocks xmlns:a="http://schemas.openxmlformats.org/drawingml/2006/main" noGrp="1"/>
          </p:cNvSpPr>
          <p:nvPr/>
        </p:nvSpPr>
        <p:spPr>
          <a:xfrm xmlns:a="http://schemas.openxmlformats.org/drawingml/2006/main">
            <a:off x="8210550" y="4362450"/>
            <a:ext cx="3124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447"/>
          </a:bodyPr>
          <a:lstStyle xmlns:a="http://schemas.openxmlformats.org/drawingml/2006/main"/>
          <a:p xmlns:a="http://schemas.openxmlformats.org/drawingml/2006/main">
            <a:pPr>
              <a:lnSpc>
                <a:spcPct val="100000"/>
              </a:lnSpc>
              <a:buNone/>
              <a:defRPr sz="1350">
                <a:solidFill>
                  <a:srgbClr val="FFFFFF"/>
                </a:solidFill>
                <a:latin typeface="Helvetica Neue"/>
                <a:ea typeface="Helvetica Neue"/>
                <a:cs typeface="Helvetica Neue"/>
              </a:defRPr>
            </a:pPr>
            <a:r>
              <a:rPr sz="1350">
                <a:solidFill>
                  <a:srgbClr val="FFFFFF"/>
                </a:solidFill>
                <a:latin typeface="Helvetica Neue"/>
                <a:ea typeface="Helvetica Neue"/>
                <a:cs typeface="Helvetica Neue"/>
              </a:rPr>
              <a:t>unauthorized targets or destructive payloads</a:t>
            </a:r>
          </a:p>
        </p:txBody>
      </p:sp>
      <p:sp>
        <p:nvSpPr>
          <p:cNvPr id="43" name="">
            <a:extLst xmlns:a="http://schemas.openxmlformats.org/drawingml/2006/main">
              <a:ext uri="{FF2B5EF4-FFF2-40B4-BE49-F238E27FC236}">
                <a16:creationId xmlns:a16="http://schemas.microsoft.com/office/drawing/2014/main" id="{D992874A-35F5-4771-8890-2E1878D01A31}"/>
              </a:ext>
            </a:extLst>
          </p:cNvPr>
          <p:cNvSpPr>
            <a:spLocks xmlns:a="http://schemas.openxmlformats.org/drawingml/2006/main" noGrp="1"/>
          </p:cNvSpPr>
          <p:nvPr/>
        </p:nvSpPr>
        <p:spPr>
          <a:xfrm xmlns:a="http://schemas.openxmlformats.org/drawingml/2006/main">
            <a:off x="685800" y="5600700"/>
            <a:ext cx="3314700" cy="381000"/>
          </a:xfrm>
          <a:prstGeom xmlns:a="http://schemas.openxmlformats.org/drawingml/2006/main" prst="roundRect">
            <a:avLst>
              <a:gd name="adj" fmla="val 40000"/>
            </a:avLst>
          </a:prstGeom>
          <a:solidFill xmlns:a="http://schemas.openxmlformats.org/drawingml/2006/main">
            <a:srgbClr val="E8EDF2"/>
          </a:solidFill>
          <a:ln xmlns:a="http://schemas.openxmlformats.org/drawingml/2006/main" w="9525">
            <a:solidFill>
              <a:srgbClr val="E8EDF2"/>
            </a:solidFill>
            <a:prstDash val="solid"/>
          </a:ln>
        </p:spPr>
      </p:sp>
      <p:sp>
        <p:nvSpPr>
          <p:cNvPr id="44" name="">
            <a:extLst xmlns:a="http://schemas.openxmlformats.org/drawingml/2006/main">
              <a:ext uri="{FF2B5EF4-FFF2-40B4-BE49-F238E27FC236}">
                <a16:creationId xmlns:a16="http://schemas.microsoft.com/office/drawing/2014/main" id="{69A475B8-F0D2-41E5-9C61-CF53D4A7B741}"/>
              </a:ext>
            </a:extLst>
          </p:cNvPr>
          <p:cNvSpPr>
            <a:spLocks xmlns:a="http://schemas.openxmlformats.org/drawingml/2006/main" noGrp="1"/>
          </p:cNvSpPr>
          <p:nvPr/>
        </p:nvSpPr>
        <p:spPr>
          <a:xfrm xmlns:a="http://schemas.openxmlformats.org/drawingml/2006/main">
            <a:off x="685800" y="56007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EVIDENCE_MANIFEST_*.sha256</a:t>
            </a:r>
          </a:p>
        </p:txBody>
      </p:sp>
      <p:sp>
        <p:nvSpPr>
          <p:cNvPr id="45" name="">
            <a:extLst xmlns:a="http://schemas.openxmlformats.org/drawingml/2006/main">
              <a:ext uri="{FF2B5EF4-FFF2-40B4-BE49-F238E27FC236}">
                <a16:creationId xmlns:a16="http://schemas.microsoft.com/office/drawing/2014/main" id="{41F6292F-79FC-4D71-93F5-08890202B170}"/>
              </a:ext>
            </a:extLst>
          </p:cNvPr>
          <p:cNvSpPr>
            <a:spLocks xmlns:a="http://schemas.openxmlformats.org/drawingml/2006/main" noGrp="1"/>
          </p:cNvSpPr>
          <p:nvPr/>
        </p:nvSpPr>
        <p:spPr>
          <a:xfrm xmlns:a="http://schemas.openxmlformats.org/drawingml/2006/main">
            <a:off x="4438650" y="5600700"/>
            <a:ext cx="3314700" cy="381000"/>
          </a:xfrm>
          <a:prstGeom xmlns:a="http://schemas.openxmlformats.org/drawingml/2006/main" prst="roundRect">
            <a:avLst>
              <a:gd name="adj" fmla="val 40000"/>
            </a:avLst>
          </a:prstGeom>
          <a:solidFill xmlns:a="http://schemas.openxmlformats.org/drawingml/2006/main">
            <a:srgbClr val="E8EDF2"/>
          </a:solidFill>
          <a:ln xmlns:a="http://schemas.openxmlformats.org/drawingml/2006/main" w="9525">
            <a:solidFill>
              <a:srgbClr val="E8EDF2"/>
            </a:solidFill>
            <a:prstDash val="solid"/>
          </a:ln>
        </p:spPr>
      </p:sp>
      <p:sp>
        <p:nvSpPr>
          <p:cNvPr id="46" name="">
            <a:extLst xmlns:a="http://schemas.openxmlformats.org/drawingml/2006/main">
              <a:ext uri="{FF2B5EF4-FFF2-40B4-BE49-F238E27FC236}">
                <a16:creationId xmlns:a16="http://schemas.microsoft.com/office/drawing/2014/main" id="{46057321-50C2-4BFD-BDD2-BCCF95D4B1E6}"/>
              </a:ext>
            </a:extLst>
          </p:cNvPr>
          <p:cNvSpPr>
            <a:spLocks xmlns:a="http://schemas.openxmlformats.org/drawingml/2006/main" noGrp="1"/>
          </p:cNvSpPr>
          <p:nvPr/>
        </p:nvSpPr>
        <p:spPr>
          <a:xfrm xmlns:a="http://schemas.openxmlformats.org/drawingml/2006/main">
            <a:off x="4438650" y="56007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83B66"/>
                </a:solidFill>
                <a:latin typeface="Helvetica Neue"/>
                <a:ea typeface="Helvetica Neue"/>
                <a:cs typeface="Helvetica Neue"/>
              </a:defRPr>
            </a:pPr>
            <a:r>
              <a:rPr sz="1125" b="1">
                <a:solidFill>
                  <a:srgbClr val="183B66"/>
                </a:solidFill>
                <a:latin typeface="Helvetica Neue"/>
                <a:ea typeface="Helvetica Neue"/>
                <a:cs typeface="Helvetica Neue"/>
              </a:rPr>
              <a:t>FINAL_TECHNICAL_SUMMARY_*.md</a:t>
            </a:r>
          </a:p>
        </p:txBody>
      </p:sp>
      <p:sp>
        <p:nvSpPr>
          <p:cNvPr id="47" name="">
            <a:extLst xmlns:a="http://schemas.openxmlformats.org/drawingml/2006/main">
              <a:ext uri="{FF2B5EF4-FFF2-40B4-BE49-F238E27FC236}">
                <a16:creationId xmlns:a16="http://schemas.microsoft.com/office/drawing/2014/main" id="{2D2906B2-1585-44CD-B7A1-FDBA18A3F72E}"/>
              </a:ext>
            </a:extLst>
          </p:cNvPr>
          <p:cNvSpPr>
            <a:spLocks xmlns:a="http://schemas.openxmlformats.org/drawingml/2006/main" noGrp="1"/>
          </p:cNvSpPr>
          <p:nvPr/>
        </p:nvSpPr>
        <p:spPr>
          <a:xfrm xmlns:a="http://schemas.openxmlformats.org/drawingml/2006/main">
            <a:off x="8191500" y="5600700"/>
            <a:ext cx="3314700" cy="381000"/>
          </a:xfrm>
          <a:prstGeom xmlns:a="http://schemas.openxmlformats.org/drawingml/2006/main" prst="roundRect">
            <a:avLst>
              <a:gd name="adj" fmla="val 40000"/>
            </a:avLst>
          </a:prstGeom>
          <a:solidFill xmlns:a="http://schemas.openxmlformats.org/drawingml/2006/main">
            <a:srgbClr val="DDF5EB"/>
          </a:solidFill>
          <a:ln xmlns:a="http://schemas.openxmlformats.org/drawingml/2006/main" w="9525">
            <a:solidFill>
              <a:srgbClr val="DDF5EB"/>
            </a:solidFill>
            <a:prstDash val="solid"/>
          </a:ln>
        </p:spPr>
      </p:sp>
      <p:sp>
        <p:nvSpPr>
          <p:cNvPr id="48" name="">
            <a:extLst xmlns:a="http://schemas.openxmlformats.org/drawingml/2006/main">
              <a:ext uri="{FF2B5EF4-FFF2-40B4-BE49-F238E27FC236}">
                <a16:creationId xmlns:a16="http://schemas.microsoft.com/office/drawing/2014/main" id="{C19539E0-914F-4D8A-9150-1BF728D9EE55}"/>
              </a:ext>
            </a:extLst>
          </p:cNvPr>
          <p:cNvSpPr>
            <a:spLocks xmlns:a="http://schemas.openxmlformats.org/drawingml/2006/main" noGrp="1"/>
          </p:cNvSpPr>
          <p:nvPr/>
        </p:nvSpPr>
        <p:spPr>
          <a:xfrm xmlns:a="http://schemas.openxmlformats.org/drawingml/2006/main">
            <a:off x="8191500" y="56007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125" b="1">
                <a:solidFill>
                  <a:srgbClr val="167C5A"/>
                </a:solidFill>
                <a:latin typeface="Helvetica Neue"/>
                <a:ea typeface="Helvetica Neue"/>
                <a:cs typeface="Helvetica Neue"/>
              </a:defRPr>
            </a:pPr>
            <a:r>
              <a:rPr sz="1125" b="1">
                <a:solidFill>
                  <a:srgbClr val="167C5A"/>
                </a:solidFill>
                <a:latin typeface="Helvetica Neue"/>
                <a:ea typeface="Helvetica Neue"/>
                <a:cs typeface="Helvetica Neue"/>
              </a:rPr>
              <a:t>SUBMISSION_EVIDENCE_*.zip</a:t>
            </a:r>
          </a:p>
        </p:txBody>
      </p:sp>
      <p:sp>
        <p:nvSpPr>
          <p:cNvPr id="49" name="">
            <a:extLst xmlns:a="http://schemas.openxmlformats.org/drawingml/2006/main">
              <a:ext uri="{FF2B5EF4-FFF2-40B4-BE49-F238E27FC236}">
                <a16:creationId xmlns:a16="http://schemas.microsoft.com/office/drawing/2014/main" id="{C6F835A7-57C5-4D67-9148-2F6A31E40937}"/>
              </a:ext>
            </a:extLst>
          </p:cNvPr>
          <p:cNvSpPr>
            <a:spLocks xmlns:a="http://schemas.openxmlformats.org/drawingml/2006/main" noGrp="1"/>
          </p:cNvSpPr>
          <p:nvPr/>
        </p:nvSpPr>
        <p:spPr>
          <a:xfrm xmlns:a="http://schemas.openxmlformats.org/drawingml/2006/main">
            <a:off x="1752600" y="6153150"/>
            <a:ext cx="868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183B66"/>
                </a:solidFill>
                <a:latin typeface="Helvetica Neue"/>
                <a:ea typeface="Helvetica Neue"/>
                <a:cs typeface="Helvetica Neue"/>
              </a:defRPr>
            </a:pPr>
            <a:r>
              <a:rPr sz="1425" b="1">
                <a:solidFill>
                  <a:srgbClr val="183B66"/>
                </a:solidFill>
                <a:latin typeface="Helvetica Neue"/>
                <a:ea typeface="Helvetica Neue"/>
                <a:cs typeface="Helvetica Neue"/>
              </a:rPr>
              <a:t>The project demonstrates a defensible, ethical, and reproducible incident response lifecycle.</a:t>
            </a:r>
          </a:p>
        </p:txBody>
      </p:sp>
    </p:spTree>
    <p:extLst>
      <p:ext uri="{BB962C8B-B14F-4D97-AF65-F5344CB8AC3E}">
        <p14:creationId xmlns:p14="http://schemas.microsoft.com/office/powerpoint/2010/main" val="1468962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2026-08-08T21:57:11.2130000Z</dcterms:created>
  <dcterms:modified xsi:type="dcterms:W3CDTF">2026-08-08T21:57:11.2130000Z</dcterms:modified>
</coreProperties>
</file>